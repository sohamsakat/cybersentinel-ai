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x="13004800" cy="97536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1pPr>
    <a:lvl2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2pPr>
    <a:lvl3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3pPr>
    <a:lvl4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4pPr>
    <a:lvl5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5pPr>
    <a:lvl6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6pPr>
    <a:lvl7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7pPr>
    <a:lvl8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8pPr>
    <a:lvl9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Helvetica Neue"/>
          <a:ea typeface="Helvetica Neue"/>
          <a:cs typeface="Helvetica Neue"/>
        </a:font>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12700" cap="flat">
              <a:solidFill>
                <a:srgbClr val="D6D7D6"/>
              </a:solidFill>
              <a:prstDash val="solid"/>
              <a:miter lim="400000"/>
            </a:ln>
          </a:top>
          <a:bottom>
            <a:ln w="127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solidFill>
                <a:srgbClr val="D6D6D6"/>
              </a:solidFill>
              <a:prstDash val="solid"/>
              <a:miter lim="400000"/>
            </a:ln>
          </a:left>
          <a:right>
            <a:ln w="25400" cap="flat">
              <a:solidFill>
                <a:srgbClr val="D6D7D6"/>
              </a:solidFill>
              <a:prstDash val="solid"/>
              <a:miter lim="400000"/>
            </a:ln>
          </a:right>
          <a:top>
            <a:ln w="12700" cap="flat">
              <a:solidFill>
                <a:srgbClr val="D6D7D6"/>
              </a:solidFill>
              <a:prstDash val="solid"/>
              <a:miter lim="400000"/>
            </a:ln>
          </a:top>
          <a:bottom>
            <a:ln w="127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solidFill>
            <a:schemeClr val="accent1"/>
          </a:solidFill>
        </a:fill>
      </a:tcStyle>
    </a:firstCol>
    <a:lastRow>
      <a:tcTxStyle b="off" i="off">
        <a:font>
          <a:latin typeface="Helvetica Neue"/>
          <a:ea typeface="Helvetica Neue"/>
          <a:cs typeface="Helvetica Neue"/>
        </a:font>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25400" cap="flat">
              <a:solidFill>
                <a:srgbClr val="D6D7D6"/>
              </a:solidFill>
              <a:prstDash val="solid"/>
              <a:miter lim="400000"/>
            </a:ln>
          </a:top>
          <a:bottom>
            <a:ln w="12700" cap="flat">
              <a:solidFill>
                <a:srgbClr val="D6D6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solidFill>
            <a:srgbClr val="032650"/>
          </a:solidFill>
        </a:fill>
      </a:tcStyle>
    </a:lastRow>
    <a:firstRow>
      <a:tcTxStyle b="on" i="off">
        <a:font>
          <a:latin typeface="Helvetica Neue"/>
          <a:ea typeface="Helvetica Neue"/>
          <a:cs typeface="Helvetica Neue"/>
        </a:font>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12700" cap="flat">
              <a:solidFill>
                <a:srgbClr val="D6D6D6"/>
              </a:solidFill>
              <a:prstDash val="solid"/>
              <a:miter lim="400000"/>
            </a:ln>
          </a:top>
          <a:bottom>
            <a:ln w="254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solidFill>
            <a:srgbClr val="032650"/>
          </a:solidFill>
        </a:fill>
      </a:tcStyle>
    </a:firstRow>
  </a:tblStyle>
  <a:tblStyle styleId="{C7B018BB-80A7-4F77-B60F-C8B233D01FF8}" styleName="">
    <a:tblBg/>
    <a:wholeTbl>
      <a:tcTxStyle b="off" i="off">
        <a:font>
          <a:latin typeface="Helvetica Neue"/>
          <a:ea typeface="Helvetica Neue"/>
          <a:cs typeface="Helvetica Neue"/>
        </a:font>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solidFill>
                <a:srgbClr val="929292"/>
              </a:solidFill>
              <a:prstDash val="solid"/>
              <a:miter lim="400000"/>
            </a:ln>
          </a:top>
          <a:bottom>
            <a:ln w="12700" cap="flat">
              <a:solidFill>
                <a:srgbClr val="929292"/>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084E00"/>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017101"/>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017101"/>
          </a:solidFill>
        </a:fill>
      </a:tcStyle>
    </a:firstRow>
  </a:tblStyle>
  <a:tblStyle styleId="{EEE7283C-3CF3-47DC-8721-378D4A62B228}" styleName="">
    <a:tblBg/>
    <a:wholeTbl>
      <a:tcTxStyle b="off" i="off">
        <a:font>
          <a:latin typeface="Helvetica Neue"/>
          <a:ea typeface="Helvetica Neue"/>
          <a:cs typeface="Helvetica Neue"/>
        </a:font>
        <a:srgbClr val="FFFFFF"/>
      </a:tcTxStyle>
      <a:tcStyle>
        <a:tcBdr>
          <a:left>
            <a:ln w="12700" cap="flat">
              <a:solidFill>
                <a:srgbClr val="AAAAAA"/>
              </a:solidFill>
              <a:prstDash val="solid"/>
              <a:miter lim="400000"/>
            </a:ln>
          </a:left>
          <a:right>
            <a:ln w="12700" cap="flat">
              <a:solidFill>
                <a:srgbClr val="AAAAAA"/>
              </a:solidFill>
              <a:prstDash val="solid"/>
              <a:miter lim="400000"/>
            </a:ln>
          </a:right>
          <a:top>
            <a:ln w="12700" cap="flat">
              <a:solidFill>
                <a:srgbClr val="AAAAAA"/>
              </a:solidFill>
              <a:prstDash val="solid"/>
              <a:miter lim="400000"/>
            </a:ln>
          </a:top>
          <a:bottom>
            <a:ln w="12700" cap="flat">
              <a:solidFill>
                <a:srgbClr val="AAAAAA"/>
              </a:solidFill>
              <a:prstDash val="solid"/>
              <a:miter lim="400000"/>
            </a:ln>
          </a:bottom>
          <a:insideH>
            <a:ln w="12700" cap="flat">
              <a:solidFill>
                <a:srgbClr val="AAAAAA"/>
              </a:solidFill>
              <a:prstDash val="solid"/>
              <a:miter lim="400000"/>
            </a:ln>
          </a:insideH>
          <a:insideV>
            <a:ln w="12700" cap="flat">
              <a:solidFill>
                <a:srgbClr val="AAAAAA"/>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5"/>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5">
              <a:hueOff val="106375"/>
              <a:satOff val="9554"/>
              <a:lumOff val="-13516"/>
            </a:schemeClr>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5">
              <a:hueOff val="106375"/>
              <a:satOff val="9554"/>
              <a:lumOff val="-13516"/>
            </a:schemeClr>
          </a:solidFill>
        </a:fill>
      </a:tcStyle>
    </a:firstRow>
  </a:tblStyle>
  <a:tblStyle styleId="{CF821DB8-F4EB-4A41-A1BA-3FCAFE7338EE}" styleName="">
    <a:tblBg/>
    <a:wholeTbl>
      <a:tcTxStyle b="off" i="off">
        <a:font>
          <a:latin typeface="Helvetica Neue"/>
          <a:ea typeface="Helvetica Neue"/>
          <a:cs typeface="Helvetica Neue"/>
        </a:font>
        <a:srgbClr val="FFFFFF"/>
      </a:tcTxStyle>
      <a:tcStyle>
        <a:tcBdr>
          <a:left>
            <a:ln w="12700" cap="flat">
              <a:solidFill>
                <a:srgbClr val="D6D7D6"/>
              </a:solidFill>
              <a:prstDash val="solid"/>
              <a:miter lim="400000"/>
            </a:ln>
          </a:left>
          <a:right>
            <a:ln w="12700" cap="flat">
              <a:solidFill>
                <a:srgbClr val="D6D7D6"/>
              </a:solidFill>
              <a:prstDash val="solid"/>
              <a:miter lim="400000"/>
            </a:ln>
          </a:right>
          <a:top>
            <a:ln w="12700" cap="flat">
              <a:solidFill>
                <a:srgbClr val="D6D7D6"/>
              </a:solidFill>
              <a:prstDash val="solid"/>
              <a:miter lim="400000"/>
            </a:ln>
          </a:top>
          <a:bottom>
            <a:ln w="12700" cap="flat">
              <a:solidFill>
                <a:srgbClr val="D6D7D6"/>
              </a:solidFill>
              <a:prstDash val="solid"/>
              <a:miter lim="400000"/>
            </a:ln>
          </a:bottom>
          <a:insideH>
            <a:ln w="12700" cap="flat">
              <a:solidFill>
                <a:srgbClr val="D6D7D6"/>
              </a:solidFill>
              <a:prstDash val="solid"/>
              <a:miter lim="400000"/>
            </a:ln>
          </a:insideH>
          <a:insideV>
            <a:ln w="12700" cap="flat">
              <a:solidFill>
                <a:srgbClr val="D6D7D6"/>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6">
              <a:hueOff val="-119728"/>
              <a:satOff val="5580"/>
              <a:lumOff val="-12961"/>
            </a:schemeClr>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650E48"/>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650E48"/>
          </a:solidFill>
        </a:fill>
      </a:tcStyle>
    </a:firstRow>
  </a:tblStyle>
  <a:tblStyle styleId="{33BA23B1-9221-436E-865A-0063620EA4FD}" styleName="">
    <a:tblBg/>
    <a:wholeTbl>
      <a:tcTxStyle b="off" i="off">
        <a:font>
          <a:latin typeface="Helvetica Neue"/>
          <a:ea typeface="Helvetica Neue"/>
          <a:cs typeface="Helvetica Neue"/>
        </a:font>
        <a:srgbClr val="FFFFFF"/>
      </a:tcTxStyle>
      <a:tcStyle>
        <a:tcBdr>
          <a:left>
            <a:ln w="12700" cap="flat">
              <a:solidFill>
                <a:srgbClr val="909090"/>
              </a:solidFill>
              <a:prstDash val="solid"/>
              <a:miter lim="400000"/>
            </a:ln>
          </a:left>
          <a:right>
            <a:ln w="12700" cap="flat">
              <a:solidFill>
                <a:srgbClr val="909090"/>
              </a:solidFill>
              <a:prstDash val="solid"/>
              <a:miter lim="400000"/>
            </a:ln>
          </a:right>
          <a:top>
            <a:ln w="12700" cap="flat">
              <a:solidFill>
                <a:srgbClr val="909090"/>
              </a:solidFill>
              <a:prstDash val="solid"/>
              <a:miter lim="400000"/>
            </a:ln>
          </a:top>
          <a:bottom>
            <a:ln w="12700" cap="flat">
              <a:solidFill>
                <a:srgbClr val="909090"/>
              </a:solidFill>
              <a:prstDash val="solid"/>
              <a:miter lim="400000"/>
            </a:ln>
          </a:bottom>
          <a:insideH>
            <a:ln w="12700" cap="flat">
              <a:solidFill>
                <a:srgbClr val="909090"/>
              </a:solidFill>
              <a:prstDash val="solid"/>
              <a:miter lim="400000"/>
            </a:ln>
          </a:insideH>
          <a:insideV>
            <a:ln w="12700" cap="flat">
              <a:solidFill>
                <a:srgbClr val="909090"/>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798089"/>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96A0AC"/>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96A0AC"/>
          </a:solidFill>
        </a:fill>
      </a:tcStyle>
    </a:firstRow>
  </a:tblStyle>
  <a:tblStyle styleId="{2708684C-4D16-4618-839F-0558EEFCDFE6}" styleName="">
    <a:tblBg/>
    <a:wholeTbl>
      <a:tcTxStyle b="off" i="off">
        <a:font>
          <a:latin typeface="Helvetica Neue"/>
          <a:ea typeface="Helvetica Neue"/>
          <a:cs typeface="Helvetica Neue"/>
        </a:font>
        <a:srgbClr val="FFFFFF"/>
      </a:tcTxStyle>
      <a:tcStyle>
        <a:tcBdr>
          <a:left>
            <a:ln w="12700" cap="flat">
              <a:solidFill>
                <a:srgbClr val="929292"/>
              </a:solidFill>
              <a:custDash>
                <a:ds d="200000" sp="200000"/>
              </a:custDash>
              <a:miter lim="400000"/>
            </a:ln>
          </a:left>
          <a:right>
            <a:ln w="12700" cap="flat">
              <a:solidFill>
                <a:srgbClr val="929292"/>
              </a:solidFill>
              <a:custDash>
                <a:ds d="200000" sp="200000"/>
              </a:custDash>
              <a:miter lim="400000"/>
            </a:ln>
          </a:right>
          <a:top>
            <a:ln w="12700" cap="flat">
              <a:solidFill>
                <a:srgbClr val="929292"/>
              </a:solidFill>
              <a:custDash>
                <a:ds d="200000" sp="200000"/>
              </a:custDash>
              <a:miter lim="400000"/>
            </a:ln>
          </a:top>
          <a:bottom>
            <a:ln w="12700" cap="flat">
              <a:solidFill>
                <a:srgbClr val="929292"/>
              </a:solidFill>
              <a:custDash>
                <a:ds d="200000" sp="200000"/>
              </a:custDash>
              <a:miter lim="400000"/>
            </a:ln>
          </a:bottom>
          <a:insideH>
            <a:ln w="12700" cap="flat">
              <a:solidFill>
                <a:srgbClr val="929292"/>
              </a:solidFill>
              <a:custDash>
                <a:ds d="200000" sp="200000"/>
              </a:custDash>
              <a:miter lim="400000"/>
            </a:ln>
          </a:insideH>
          <a:insideV>
            <a:ln w="12700" cap="flat">
              <a:solidFill>
                <a:srgbClr val="929292"/>
              </a:solidFill>
              <a:custDash>
                <a:ds d="200000" sp="200000"/>
              </a:custDash>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25400" cap="flat">
              <a:solidFill>
                <a:srgbClr val="929292"/>
              </a:solidFill>
              <a:prstDash val="solid"/>
              <a:miter lim="400000"/>
            </a:ln>
          </a:right>
          <a:top>
            <a:ln w="25400" cap="flat">
              <a:solidFill>
                <a:srgbClr val="929292"/>
              </a:solidFill>
              <a:prstDash val="solid"/>
              <a:miter lim="400000"/>
            </a:ln>
          </a:top>
          <a:bottom>
            <a:ln w="25400" cap="flat">
              <a:solidFill>
                <a:srgbClr val="929292"/>
              </a:solidFill>
              <a:prstDash val="solid"/>
              <a:miter lim="400000"/>
            </a:ln>
          </a:bottom>
          <a:insideH>
            <a:ln w="25400" cap="flat">
              <a:solidFill>
                <a:srgbClr val="929292"/>
              </a:solidFill>
              <a:prstDash val="solid"/>
              <a:miter lim="400000"/>
            </a:ln>
          </a:insideH>
          <a:insideV>
            <a:ln w="25400" cap="flat">
              <a:solidFill>
                <a:srgbClr val="929292"/>
              </a:solidFill>
              <a:prstDash val="solid"/>
              <a:miter lim="400000"/>
            </a:ln>
          </a:insideV>
        </a:tcBdr>
        <a:fill>
          <a:noFill/>
        </a:fill>
      </a:tcStyle>
    </a:firstCol>
    <a:lastRow>
      <a:tcTxStyle b="off" i="off">
        <a:font>
          <a:latin typeface="Helvetica Neue"/>
          <a:ea typeface="Helvetica Neue"/>
          <a:cs typeface="Helvetica Neue"/>
        </a:font>
        <a:srgbClr val="FFFFFF"/>
      </a:tcTxStyle>
      <a:tcStyle>
        <a:tcBdr>
          <a:left>
            <a:ln w="25400" cap="flat">
              <a:solidFill>
                <a:srgbClr val="929292"/>
              </a:solidFill>
              <a:prstDash val="solid"/>
              <a:miter lim="400000"/>
            </a:ln>
          </a:left>
          <a:right>
            <a:ln w="25400" cap="flat">
              <a:solidFill>
                <a:srgbClr val="929292"/>
              </a:solidFill>
              <a:prstDash val="solid"/>
              <a:miter lim="400000"/>
            </a:ln>
          </a:right>
          <a:top>
            <a:ln w="25400" cap="flat">
              <a:solidFill>
                <a:srgbClr val="929292"/>
              </a:solidFill>
              <a:prstDash val="solid"/>
              <a:miter lim="400000"/>
            </a:ln>
          </a:top>
          <a:bottom>
            <a:ln w="12700" cap="flat">
              <a:noFill/>
              <a:miter lim="400000"/>
            </a:ln>
          </a:bottom>
          <a:insideH>
            <a:ln w="25400" cap="flat">
              <a:solidFill>
                <a:srgbClr val="929292"/>
              </a:solidFill>
              <a:prstDash val="solid"/>
              <a:miter lim="400000"/>
            </a:ln>
          </a:insideH>
          <a:insideV>
            <a:ln w="25400" cap="flat">
              <a:solidFill>
                <a:srgbClr val="929292"/>
              </a:solidFill>
              <a:prstDash val="solid"/>
              <a:miter lim="400000"/>
            </a:ln>
          </a:insideV>
        </a:tcBdr>
        <a:fill>
          <a:noFill/>
        </a:fill>
      </a:tcStyle>
    </a:lastRow>
    <a:firstRow>
      <a:tcTxStyle b="on" i="off">
        <a:font>
          <a:latin typeface="Helvetica Neue"/>
          <a:ea typeface="Helvetica Neue"/>
          <a:cs typeface="Helvetica Neue"/>
        </a:font>
        <a:srgbClr val="FFFFFF"/>
      </a:tcTxStyle>
      <a:tcStyle>
        <a:tcBdr>
          <a:left>
            <a:ln w="25400" cap="flat">
              <a:solidFill>
                <a:srgbClr val="929292"/>
              </a:solidFill>
              <a:prstDash val="solid"/>
              <a:miter lim="400000"/>
            </a:ln>
          </a:left>
          <a:right>
            <a:ln w="25400" cap="flat">
              <a:solidFill>
                <a:srgbClr val="929292"/>
              </a:solidFill>
              <a:prstDash val="solid"/>
              <a:miter lim="400000"/>
            </a:ln>
          </a:right>
          <a:top>
            <a:ln w="12700" cap="flat">
              <a:noFill/>
              <a:miter lim="400000"/>
            </a:ln>
          </a:top>
          <a:bottom>
            <a:ln w="25400" cap="flat">
              <a:solidFill>
                <a:srgbClr val="929292"/>
              </a:solidFill>
              <a:prstDash val="solid"/>
              <a:miter lim="400000"/>
            </a:ln>
          </a:bottom>
          <a:insideH>
            <a:ln w="25400" cap="flat">
              <a:solidFill>
                <a:srgbClr val="929292"/>
              </a:solidFill>
              <a:prstDash val="solid"/>
              <a:miter lim="400000"/>
            </a:ln>
          </a:insideH>
          <a:insideV>
            <a:ln w="25400" cap="flat">
              <a:solidFill>
                <a:srgbClr val="929292"/>
              </a:solidFill>
              <a:prstDash val="solid"/>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34" name="Shape 134"/>
          <p:cNvSpPr/>
          <p:nvPr>
            <p:ph type="sldImg"/>
          </p:nvPr>
        </p:nvSpPr>
        <p:spPr>
          <a:xfrm>
            <a:off x="1143000" y="685800"/>
            <a:ext cx="4572000" cy="3429000"/>
          </a:xfrm>
          <a:prstGeom prst="rect">
            <a:avLst/>
          </a:prstGeom>
        </p:spPr>
        <p:txBody>
          <a:bodyPr/>
          <a:lstStyle/>
          <a:p>
            <a:pPr/>
          </a:p>
        </p:txBody>
      </p:sp>
      <p:sp>
        <p:nvSpPr>
          <p:cNvPr id="135" name="Shape 135"/>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Shape 139"/>
          <p:cNvSpPr/>
          <p:nvPr>
            <p:ph type="sldImg"/>
          </p:nvPr>
        </p:nvSpPr>
        <p:spPr>
          <a:prstGeom prst="rect">
            <a:avLst/>
          </a:prstGeom>
        </p:spPr>
        <p:txBody>
          <a:bodyPr/>
          <a:lstStyle/>
          <a:p>
            <a:pPr/>
          </a:p>
        </p:txBody>
      </p:sp>
      <p:sp>
        <p:nvSpPr>
          <p:cNvPr id="140" name="Shape 140"/>
          <p:cNvSpPr/>
          <p:nvPr>
            <p:ph type="body" sz="quarter" idx="1"/>
          </p:nvPr>
        </p:nvSpPr>
        <p:spPr>
          <a:prstGeom prst="rect">
            <a:avLst/>
          </a:prstGeom>
        </p:spPr>
        <p:txBody>
          <a:bodyPr/>
          <a:lstStyle/>
          <a:p>
            <a:pPr/>
            <a:r>
              <a:t>Good morning respected examiners, project coordinator, and faculty members. Today, I am presenting my final-year project: CyberSentinel AI, an intelligent SOC assistant leveraging LLMs and RAG to eliminate alert fatigue and ensure zero-hallucination incident triage.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4" name="Shape 144"/>
          <p:cNvSpPr/>
          <p:nvPr>
            <p:ph type="sldImg"/>
          </p:nvPr>
        </p:nvSpPr>
        <p:spPr>
          <a:prstGeom prst="rect">
            <a:avLst/>
          </a:prstGeom>
        </p:spPr>
        <p:txBody>
          <a:bodyPr/>
          <a:lstStyle/>
          <a:p>
            <a:pPr/>
          </a:p>
        </p:txBody>
      </p:sp>
      <p:sp>
        <p:nvSpPr>
          <p:cNvPr id="145" name="Shape 145"/>
          <p:cNvSpPr/>
          <p:nvPr>
            <p:ph type="body" sz="quarter" idx="1"/>
          </p:nvPr>
        </p:nvSpPr>
        <p:spPr>
          <a:prstGeom prst="rect">
            <a:avLst/>
          </a:prstGeom>
        </p:spPr>
        <p:txBody>
          <a:bodyPr/>
          <a:lstStyle/>
          <a:p>
            <a:pPr/>
            <a:r>
              <a:t>In modern enterprise networks, cybersecurity is managed through a Security Operations Center. The core challenge is not a lack of data, but data overload. Analysts are bombarded with 100,000+ alerts daily, leading to acute Alert Fatigue. CyberSentinel AI introduces a cognitive assistant that pre-processes incoming telemetry, eliminates false positives, and assists analysts with instant forensic context.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0" name="Shape 150"/>
          <p:cNvSpPr/>
          <p:nvPr>
            <p:ph type="sldImg"/>
          </p:nvPr>
        </p:nvSpPr>
        <p:spPr>
          <a:prstGeom prst="rect">
            <a:avLst/>
          </a:prstGeom>
        </p:spPr>
        <p:txBody>
          <a:bodyPr/>
          <a:lstStyle/>
          <a:p>
            <a:pPr/>
          </a:p>
        </p:txBody>
      </p:sp>
      <p:sp>
        <p:nvSpPr>
          <p:cNvPr id="151" name="Shape 151"/>
          <p:cNvSpPr/>
          <p:nvPr>
            <p:ph type="body" sz="quarter" idx="1"/>
          </p:nvPr>
        </p:nvSpPr>
        <p:spPr>
          <a:prstGeom prst="rect">
            <a:avLst/>
          </a:prstGeom>
        </p:spPr>
        <p:txBody>
          <a:bodyPr/>
          <a:lstStyle/>
          <a:p>
            <a:pPr/>
            <a:r>
              <a:t>In our literature survey, we compared traditional SIEMs, direct LLMs, and our RAG approach. Traditional tools rely on static rules that flood analysts with noise. Direct LLMs hallucinate dangerous commands. Our base paper proved RAG solves this, but left a production gap which CyberSentinel AI bridges.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5" name="Shape 155"/>
          <p:cNvSpPr/>
          <p:nvPr>
            <p:ph type="sldImg"/>
          </p:nvPr>
        </p:nvSpPr>
        <p:spPr>
          <a:prstGeom prst="rect">
            <a:avLst/>
          </a:prstGeom>
        </p:spPr>
        <p:txBody>
          <a:bodyPr/>
          <a:lstStyle/>
          <a:p>
            <a:pPr/>
          </a:p>
        </p:txBody>
      </p:sp>
      <p:sp>
        <p:nvSpPr>
          <p:cNvPr id="156" name="Shape 156"/>
          <p:cNvSpPr/>
          <p:nvPr>
            <p:ph type="body" sz="quarter" idx="1"/>
          </p:nvPr>
        </p:nvSpPr>
        <p:spPr>
          <a:prstGeom prst="rect">
            <a:avLst/>
          </a:prstGeom>
        </p:spPr>
        <p:txBody>
          <a:bodyPr/>
          <a:lstStyle/>
          <a:p>
            <a:pPr/>
            <a:r>
              <a:t>Our problem statement isolates 4 critical engineering bottlenecks: 1. 99% alert noise causing cognitive fatigue; 2. 45-minute MTTR enabling data exfiltration; 3. AI hallucination risks in security commands; 4. Incompatible log silos between Windows, Linux, Apache, and firewalls.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0" name="Shape 160"/>
          <p:cNvSpPr/>
          <p:nvPr>
            <p:ph type="sldImg"/>
          </p:nvPr>
        </p:nvSpPr>
        <p:spPr>
          <a:prstGeom prst="rect">
            <a:avLst/>
          </a:prstGeom>
        </p:spPr>
        <p:txBody>
          <a:bodyPr/>
          <a:lstStyle/>
          <a:p>
            <a:pPr/>
          </a:p>
        </p:txBody>
      </p:sp>
      <p:sp>
        <p:nvSpPr>
          <p:cNvPr id="161" name="Shape 161"/>
          <p:cNvSpPr/>
          <p:nvPr>
            <p:ph type="body" sz="quarter" idx="1"/>
          </p:nvPr>
        </p:nvSpPr>
        <p:spPr>
          <a:prstGeom prst="rect">
            <a:avLst/>
          </a:prstGeom>
        </p:spPr>
        <p:txBody>
          <a:bodyPr/>
          <a:lstStyle/>
          <a:p>
            <a:pPr/>
            <a:r>
              <a:t>We defined 4 clear, measurable technical objectives: normalize multi-source logs into ECS, embed MITRE ATT&amp;CK into ChromaDB for 100% grounded RAG, calculate algorithmic CVSS risk scores from 0 to 100, and generate official NIST SP 800-61 PDF reports with 1 click.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5" name="Shape 165"/>
          <p:cNvSpPr/>
          <p:nvPr>
            <p:ph type="sldImg"/>
          </p:nvPr>
        </p:nvSpPr>
        <p:spPr>
          <a:prstGeom prst="rect">
            <a:avLst/>
          </a:prstGeom>
        </p:spPr>
        <p:txBody>
          <a:bodyPr/>
          <a:lstStyle/>
          <a:p>
            <a:pPr/>
          </a:p>
        </p:txBody>
      </p:sp>
      <p:sp>
        <p:nvSpPr>
          <p:cNvPr id="166" name="Shape 166"/>
          <p:cNvSpPr/>
          <p:nvPr>
            <p:ph type="body" sz="quarter" idx="1"/>
          </p:nvPr>
        </p:nvSpPr>
        <p:spPr>
          <a:prstGeom prst="rect">
            <a:avLst/>
          </a:prstGeom>
        </p:spPr>
        <p:txBody>
          <a:bodyPr/>
          <a:lstStyle/>
          <a:p>
            <a:pPr/>
            <a:r>
              <a:t>Our proposed solution, CyberSentinel AI, is built on 5 robust architectural pillars: multi-source normalization, offline ChromaDB vector retrieval, algorithmic CVSS scoring, real-time live radar streaming, and automated NIST forensic reporting.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2" name="Shape 172"/>
          <p:cNvSpPr/>
          <p:nvPr>
            <p:ph type="sldImg"/>
          </p:nvPr>
        </p:nvSpPr>
        <p:spPr>
          <a:prstGeom prst="rect">
            <a:avLst/>
          </a:prstGeom>
        </p:spPr>
        <p:txBody>
          <a:bodyPr/>
          <a:lstStyle/>
          <a:p>
            <a:pPr/>
          </a:p>
        </p:txBody>
      </p:sp>
      <p:sp>
        <p:nvSpPr>
          <p:cNvPr id="173" name="Shape 173"/>
          <p:cNvSpPr/>
          <p:nvPr>
            <p:ph type="body" sz="quarter" idx="1"/>
          </p:nvPr>
        </p:nvSpPr>
        <p:spPr>
          <a:prstGeom prst="rect">
            <a:avLst/>
          </a:prstGeom>
        </p:spPr>
        <p:txBody>
          <a:bodyPr/>
          <a:lstStyle/>
          <a:p>
            <a:pPr/>
            <a:r>
              <a:t>This architecture flowchart illustrates the complete operational lifecycle. Raw telemetry enters through the Ingestion Layer, is normalized to the Elastic Common Schema, matched against MITRE ATT&amp;CK embeddings in ChromaDB, quantified via our algorithmic CVSS formula, and delivered to the SOC analyst via real-time radar and exportable PDF reports.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7" name="Shape 177"/>
          <p:cNvSpPr/>
          <p:nvPr>
            <p:ph type="sldImg"/>
          </p:nvPr>
        </p:nvSpPr>
        <p:spPr>
          <a:prstGeom prst="rect">
            <a:avLst/>
          </a:prstGeom>
        </p:spPr>
        <p:txBody>
          <a:bodyPr/>
          <a:lstStyle/>
          <a:p>
            <a:pPr/>
          </a:p>
        </p:txBody>
      </p:sp>
      <p:sp>
        <p:nvSpPr>
          <p:cNvPr id="178" name="Shape 178"/>
          <p:cNvSpPr/>
          <p:nvPr>
            <p:ph type="body" sz="quarter" idx="1"/>
          </p:nvPr>
        </p:nvSpPr>
        <p:spPr>
          <a:prstGeom prst="rect">
            <a:avLst/>
          </a:prstGeom>
        </p:spPr>
        <p:txBody>
          <a:bodyPr/>
          <a:lstStyle/>
          <a:p>
            <a:pPr/>
            <a:r>
              <a:t>Our empirical benchmarks show quantifiable improvements: MTTR cut from 45 minutes to sub-10 seconds, 99.2% noise filtration, zero hallucinations, and 100% offline air-gap reliability. All 9 automated test suites pass with 100% success.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2" name="Shape 182"/>
          <p:cNvSpPr/>
          <p:nvPr>
            <p:ph type="sldImg"/>
          </p:nvPr>
        </p:nvSpPr>
        <p:spPr>
          <a:prstGeom prst="rect">
            <a:avLst/>
          </a:prstGeom>
        </p:spPr>
        <p:txBody>
          <a:bodyPr/>
          <a:lstStyle/>
          <a:p>
            <a:pPr/>
          </a:p>
        </p:txBody>
      </p:sp>
      <p:sp>
        <p:nvSpPr>
          <p:cNvPr id="183" name="Shape 183"/>
          <p:cNvSpPr/>
          <p:nvPr>
            <p:ph type="body" sz="quarter" idx="1"/>
          </p:nvPr>
        </p:nvSpPr>
        <p:spPr>
          <a:prstGeom prst="rect">
            <a:avLst/>
          </a:prstGeom>
        </p:spPr>
        <p:txBody>
          <a:bodyPr/>
          <a:lstStyle/>
          <a:p>
            <a:pPr/>
            <a:r>
              <a:t>In conclusion, CyberSentinel AI proves that cognitive AI and RAG can modernize enterprise SOCs without introducing hallucination risks. Looking ahead, our roadmap includes bidirectional SOAR automation to automatically isolate attackers at the firewall level, and multi-agent debate reasoning using LangGraph.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7" name="Shape 187"/>
          <p:cNvSpPr/>
          <p:nvPr>
            <p:ph type="sldImg"/>
          </p:nvPr>
        </p:nvSpPr>
        <p:spPr>
          <a:prstGeom prst="rect">
            <a:avLst/>
          </a:prstGeom>
        </p:spPr>
        <p:txBody>
          <a:bodyPr/>
          <a:lstStyle/>
          <a:p>
            <a:pPr/>
          </a:p>
        </p:txBody>
      </p:sp>
      <p:sp>
        <p:nvSpPr>
          <p:cNvPr id="188" name="Shape 188"/>
          <p:cNvSpPr/>
          <p:nvPr>
            <p:ph type="body" sz="quarter" idx="1"/>
          </p:nvPr>
        </p:nvSpPr>
        <p:spPr>
          <a:prstGeom prst="rect">
            <a:avLst/>
          </a:prstGeom>
        </p:spPr>
        <p:txBody>
          <a:bodyPr/>
          <a:lstStyle/>
          <a:p>
            <a:pPr/>
            <a:r>
              <a:t>Thank you respected examiners and professors. I am now delighted to answer your questions and demonstrate the live system.</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Title Text"/>
          <p:cNvSpPr txBox="1"/>
          <p:nvPr>
            <p:ph type="title"/>
          </p:nvPr>
        </p:nvSpPr>
        <p:spPr>
          <a:xfrm>
            <a:off x="1270000" y="1638300"/>
            <a:ext cx="10464800" cy="3302000"/>
          </a:xfrm>
          <a:prstGeom prst="rect">
            <a:avLst/>
          </a:prstGeom>
        </p:spPr>
        <p:txBody>
          <a:bodyPr anchor="b"/>
          <a:lstStyle/>
          <a:p>
            <a:pPr/>
            <a:r>
              <a:t>Title Text</a:t>
            </a:r>
          </a:p>
        </p:txBody>
      </p:sp>
      <p:sp>
        <p:nvSpPr>
          <p:cNvPr id="12" name="Body Level One…"/>
          <p:cNvSpPr txBox="1"/>
          <p:nvPr>
            <p:ph type="body" sz="quarter" idx="1"/>
          </p:nvPr>
        </p:nvSpPr>
        <p:spPr>
          <a:xfrm>
            <a:off x="1270000" y="5029200"/>
            <a:ext cx="10464800" cy="1130300"/>
          </a:xfrm>
          <a:prstGeom prst="rect">
            <a:avLst/>
          </a:prstGeom>
        </p:spPr>
        <p:txBody>
          <a:bodyPr anchor="t"/>
          <a:lstStyle>
            <a:lvl1pPr marL="0" indent="0" algn="ctr">
              <a:spcBef>
                <a:spcPts val="0"/>
              </a:spcBef>
              <a:buClrTx/>
              <a:buSzTx/>
              <a:buNone/>
              <a:defRPr sz="3700"/>
            </a:lvl1pPr>
            <a:lvl2pPr marL="0" indent="0" algn="ctr">
              <a:spcBef>
                <a:spcPts val="0"/>
              </a:spcBef>
              <a:buClrTx/>
              <a:buSzTx/>
              <a:buNone/>
              <a:defRPr sz="3700"/>
            </a:lvl2pPr>
            <a:lvl3pPr marL="0" indent="0" algn="ctr">
              <a:spcBef>
                <a:spcPts val="0"/>
              </a:spcBef>
              <a:buClrTx/>
              <a:buSzTx/>
              <a:buNone/>
              <a:defRPr sz="3700"/>
            </a:lvl3pPr>
            <a:lvl4pPr marL="0" indent="0" algn="ctr">
              <a:spcBef>
                <a:spcPts val="0"/>
              </a:spcBef>
              <a:buClrTx/>
              <a:buSzTx/>
              <a:buNone/>
              <a:defRPr sz="3700"/>
            </a:lvl4pPr>
            <a:lvl5pPr marL="0" indent="0" algn="ctr">
              <a:spcBef>
                <a:spcPts val="0"/>
              </a:spcBef>
              <a:buClrTx/>
              <a:buSzTx/>
              <a:buNone/>
              <a:defRPr sz="3700"/>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Horizontal">
    <p:spTree>
      <p:nvGrpSpPr>
        <p:cNvPr id="1" name=""/>
        <p:cNvGrpSpPr/>
        <p:nvPr/>
      </p:nvGrpSpPr>
      <p:grpSpPr>
        <a:xfrm>
          <a:off x="0" y="0"/>
          <a:ext cx="0" cy="0"/>
          <a:chOff x="0" y="0"/>
          <a:chExt cx="0" cy="0"/>
        </a:xfrm>
      </p:grpSpPr>
      <p:sp>
        <p:nvSpPr>
          <p:cNvPr id="20" name="River flowing through a tropical forest"/>
          <p:cNvSpPr/>
          <p:nvPr>
            <p:ph type="pic" idx="21"/>
          </p:nvPr>
        </p:nvSpPr>
        <p:spPr>
          <a:xfrm>
            <a:off x="1623417" y="-28750"/>
            <a:ext cx="9758016" cy="7321900"/>
          </a:xfrm>
          <a:prstGeom prst="rect">
            <a:avLst/>
          </a:prstGeom>
        </p:spPr>
        <p:txBody>
          <a:bodyPr lIns="91439" tIns="45719" rIns="91439" bIns="45719" anchor="t">
            <a:noAutofit/>
          </a:bodyPr>
          <a:lstStyle/>
          <a:p>
            <a:pPr/>
          </a:p>
        </p:txBody>
      </p:sp>
      <p:sp>
        <p:nvSpPr>
          <p:cNvPr id="21" name="Title Text"/>
          <p:cNvSpPr txBox="1"/>
          <p:nvPr>
            <p:ph type="title"/>
          </p:nvPr>
        </p:nvSpPr>
        <p:spPr>
          <a:xfrm>
            <a:off x="1270000" y="6718300"/>
            <a:ext cx="10464800" cy="1422400"/>
          </a:xfrm>
          <a:prstGeom prst="rect">
            <a:avLst/>
          </a:prstGeom>
        </p:spPr>
        <p:txBody>
          <a:bodyPr/>
          <a:lstStyle/>
          <a:p>
            <a:pPr/>
            <a:r>
              <a:t>Title Text</a:t>
            </a:r>
          </a:p>
        </p:txBody>
      </p:sp>
      <p:sp>
        <p:nvSpPr>
          <p:cNvPr id="22" name="Body Level One…"/>
          <p:cNvSpPr txBox="1"/>
          <p:nvPr>
            <p:ph type="body" sz="quarter" idx="1"/>
          </p:nvPr>
        </p:nvSpPr>
        <p:spPr>
          <a:xfrm>
            <a:off x="1270000" y="8153400"/>
            <a:ext cx="10464800" cy="1130300"/>
          </a:xfrm>
          <a:prstGeom prst="rect">
            <a:avLst/>
          </a:prstGeom>
        </p:spPr>
        <p:txBody>
          <a:bodyPr anchor="t"/>
          <a:lstStyle>
            <a:lvl1pPr marL="0" indent="0" algn="ctr">
              <a:spcBef>
                <a:spcPts val="0"/>
              </a:spcBef>
              <a:buClrTx/>
              <a:buSzTx/>
              <a:buNone/>
              <a:defRPr sz="3700"/>
            </a:lvl1pPr>
            <a:lvl2pPr marL="0" indent="0" algn="ctr">
              <a:spcBef>
                <a:spcPts val="0"/>
              </a:spcBef>
              <a:buClrTx/>
              <a:buSzTx/>
              <a:buNone/>
              <a:defRPr sz="3700"/>
            </a:lvl2pPr>
            <a:lvl3pPr marL="0" indent="0" algn="ctr">
              <a:spcBef>
                <a:spcPts val="0"/>
              </a:spcBef>
              <a:buClrTx/>
              <a:buSzTx/>
              <a:buNone/>
              <a:defRPr sz="3700"/>
            </a:lvl3pPr>
            <a:lvl4pPr marL="0" indent="0" algn="ctr">
              <a:spcBef>
                <a:spcPts val="0"/>
              </a:spcBef>
              <a:buClrTx/>
              <a:buSzTx/>
              <a:buNone/>
              <a:defRPr sz="3700"/>
            </a:lvl4pPr>
            <a:lvl5pPr marL="0" indent="0" algn="ctr">
              <a:spcBef>
                <a:spcPts val="0"/>
              </a:spcBef>
              <a:buClrTx/>
              <a:buSzTx/>
              <a:buNone/>
              <a:defRPr sz="3700"/>
            </a:lvl5pPr>
          </a:lstStyle>
          <a:p>
            <a:pPr/>
            <a:r>
              <a:t>Body Level One</a:t>
            </a:r>
          </a:p>
          <a:p>
            <a:pPr lvl="1"/>
            <a:r>
              <a:t>Body Level Two</a:t>
            </a:r>
          </a:p>
          <a:p>
            <a:pPr lvl="2"/>
            <a:r>
              <a:t>Body Level Three</a:t>
            </a:r>
          </a:p>
          <a:p>
            <a:pPr lvl="3"/>
            <a:r>
              <a:t>Body Level Four</a:t>
            </a:r>
          </a:p>
          <a:p>
            <a:pPr lvl="4"/>
            <a:r>
              <a:t>Body Level Five</a:t>
            </a:r>
          </a:p>
        </p:txBody>
      </p:sp>
      <p:sp>
        <p:nvSpPr>
          <p:cNvPr id="2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 Centre">
    <p:spTree>
      <p:nvGrpSpPr>
        <p:cNvPr id="1" name=""/>
        <p:cNvGrpSpPr/>
        <p:nvPr/>
      </p:nvGrpSpPr>
      <p:grpSpPr>
        <a:xfrm>
          <a:off x="0" y="0"/>
          <a:ext cx="0" cy="0"/>
          <a:chOff x="0" y="0"/>
          <a:chExt cx="0" cy="0"/>
        </a:xfrm>
      </p:grpSpPr>
      <p:sp>
        <p:nvSpPr>
          <p:cNvPr id="30" name="Title Text"/>
          <p:cNvSpPr txBox="1"/>
          <p:nvPr>
            <p:ph type="title"/>
          </p:nvPr>
        </p:nvSpPr>
        <p:spPr>
          <a:xfrm>
            <a:off x="1270000" y="3225800"/>
            <a:ext cx="10464800" cy="3302000"/>
          </a:xfrm>
          <a:prstGeom prst="rect">
            <a:avLst/>
          </a:prstGeom>
        </p:spPr>
        <p:txBody>
          <a:bodyPr/>
          <a:lstStyle/>
          <a:p>
            <a:pPr/>
            <a:r>
              <a:t>Title Text</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Vertical">
    <p:spTree>
      <p:nvGrpSpPr>
        <p:cNvPr id="1" name=""/>
        <p:cNvGrpSpPr/>
        <p:nvPr/>
      </p:nvGrpSpPr>
      <p:grpSpPr>
        <a:xfrm>
          <a:off x="0" y="0"/>
          <a:ext cx="0" cy="0"/>
          <a:chOff x="0" y="0"/>
          <a:chExt cx="0" cy="0"/>
        </a:xfrm>
      </p:grpSpPr>
      <p:sp>
        <p:nvSpPr>
          <p:cNvPr id="38" name="Close-up of an orange flower surrounded by large tropical leaves"/>
          <p:cNvSpPr/>
          <p:nvPr>
            <p:ph type="pic" idx="21"/>
          </p:nvPr>
        </p:nvSpPr>
        <p:spPr>
          <a:xfrm>
            <a:off x="1651000" y="638919"/>
            <a:ext cx="12349625" cy="8216901"/>
          </a:xfrm>
          <a:prstGeom prst="rect">
            <a:avLst/>
          </a:prstGeom>
        </p:spPr>
        <p:txBody>
          <a:bodyPr lIns="91439" tIns="45719" rIns="91439" bIns="45719" anchor="t">
            <a:noAutofit/>
          </a:bodyPr>
          <a:lstStyle/>
          <a:p>
            <a:pPr/>
          </a:p>
        </p:txBody>
      </p:sp>
      <p:sp>
        <p:nvSpPr>
          <p:cNvPr id="39" name="Title Text"/>
          <p:cNvSpPr txBox="1"/>
          <p:nvPr>
            <p:ph type="title"/>
          </p:nvPr>
        </p:nvSpPr>
        <p:spPr>
          <a:xfrm>
            <a:off x="952500" y="635000"/>
            <a:ext cx="5334000" cy="3987800"/>
          </a:xfrm>
          <a:prstGeom prst="rect">
            <a:avLst/>
          </a:prstGeom>
        </p:spPr>
        <p:txBody>
          <a:bodyPr anchor="b"/>
          <a:lstStyle>
            <a:lvl1pPr>
              <a:defRPr sz="6000"/>
            </a:lvl1pPr>
          </a:lstStyle>
          <a:p>
            <a:pPr/>
            <a:r>
              <a:t>Title Text</a:t>
            </a:r>
          </a:p>
        </p:txBody>
      </p:sp>
      <p:sp>
        <p:nvSpPr>
          <p:cNvPr id="40" name="Body Level One…"/>
          <p:cNvSpPr txBox="1"/>
          <p:nvPr>
            <p:ph type="body" sz="quarter" idx="1"/>
          </p:nvPr>
        </p:nvSpPr>
        <p:spPr>
          <a:xfrm>
            <a:off x="952500" y="4724400"/>
            <a:ext cx="5334000" cy="4114800"/>
          </a:xfrm>
          <a:prstGeom prst="rect">
            <a:avLst/>
          </a:prstGeom>
        </p:spPr>
        <p:txBody>
          <a:bodyPr anchor="t"/>
          <a:lstStyle>
            <a:lvl1pPr marL="0" indent="0" algn="ctr">
              <a:spcBef>
                <a:spcPts val="0"/>
              </a:spcBef>
              <a:buClrTx/>
              <a:buSzTx/>
              <a:buNone/>
              <a:defRPr sz="3700"/>
            </a:lvl1pPr>
            <a:lvl2pPr marL="0" indent="0" algn="ctr">
              <a:spcBef>
                <a:spcPts val="0"/>
              </a:spcBef>
              <a:buClrTx/>
              <a:buSzTx/>
              <a:buNone/>
              <a:defRPr sz="3700"/>
            </a:lvl2pPr>
            <a:lvl3pPr marL="0" indent="0" algn="ctr">
              <a:spcBef>
                <a:spcPts val="0"/>
              </a:spcBef>
              <a:buClrTx/>
              <a:buSzTx/>
              <a:buNone/>
              <a:defRPr sz="3700"/>
            </a:lvl3pPr>
            <a:lvl4pPr marL="0" indent="0" algn="ctr">
              <a:spcBef>
                <a:spcPts val="0"/>
              </a:spcBef>
              <a:buClrTx/>
              <a:buSzTx/>
              <a:buNone/>
              <a:defRPr sz="3700"/>
            </a:lvl4pPr>
            <a:lvl5pPr marL="0" indent="0" algn="ctr">
              <a:spcBef>
                <a:spcPts val="0"/>
              </a:spcBef>
              <a:buClrTx/>
              <a:buSzTx/>
              <a:buNone/>
              <a:defRPr sz="3700"/>
            </a:lvl5pPr>
          </a:lstStyle>
          <a:p>
            <a:pPr/>
            <a:r>
              <a:t>Body Level One</a:t>
            </a:r>
          </a:p>
          <a:p>
            <a:pPr lvl="1"/>
            <a:r>
              <a:t>Body Level Two</a:t>
            </a:r>
          </a:p>
          <a:p>
            <a:pPr lvl="2"/>
            <a:r>
              <a:t>Body Level Three</a:t>
            </a:r>
          </a:p>
          <a:p>
            <a:pPr lvl="3"/>
            <a:r>
              <a:t>Body Level Four</a:t>
            </a:r>
          </a:p>
          <a:p>
            <a:pPr lvl="4"/>
            <a:r>
              <a:t>Body Level Five</a:t>
            </a:r>
          </a:p>
        </p:txBody>
      </p:sp>
      <p:sp>
        <p:nvSpPr>
          <p:cNvPr id="4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 Top">
    <p:spTree>
      <p:nvGrpSpPr>
        <p:cNvPr id="1" name=""/>
        <p:cNvGrpSpPr/>
        <p:nvPr/>
      </p:nvGrpSpPr>
      <p:grpSpPr>
        <a:xfrm>
          <a:off x="0" y="0"/>
          <a:ext cx="0" cy="0"/>
          <a:chOff x="0" y="0"/>
          <a:chExt cx="0" cy="0"/>
        </a:xfrm>
      </p:grpSpPr>
      <p:sp>
        <p:nvSpPr>
          <p:cNvPr id="48" name="Title Text"/>
          <p:cNvSpPr txBox="1"/>
          <p:nvPr>
            <p:ph type="title"/>
          </p:nvPr>
        </p:nvSpPr>
        <p:spPr>
          <a:prstGeom prst="rect">
            <a:avLst/>
          </a:prstGeom>
        </p:spPr>
        <p:txBody>
          <a:bodyPr/>
          <a:lstStyle/>
          <a:p>
            <a:pPr/>
            <a:r>
              <a:t>Title Text</a:t>
            </a:r>
          </a:p>
        </p:txBody>
      </p:sp>
      <p:sp>
        <p:nvSpPr>
          <p:cNvPr id="4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56" name="Title Text"/>
          <p:cNvSpPr txBox="1"/>
          <p:nvPr>
            <p:ph type="title"/>
          </p:nvPr>
        </p:nvSpPr>
        <p:spPr>
          <a:prstGeom prst="rect">
            <a:avLst/>
          </a:prstGeom>
        </p:spPr>
        <p:txBody>
          <a:bodyPr/>
          <a:lstStyle/>
          <a:p>
            <a:pPr/>
            <a:r>
              <a:t>Title Text</a:t>
            </a:r>
          </a:p>
        </p:txBody>
      </p:sp>
      <p:sp>
        <p:nvSpPr>
          <p:cNvPr id="57" name="Body Level One…"/>
          <p:cNvSpPr txBox="1"/>
          <p:nvPr>
            <p:ph type="body" idx="1"/>
          </p:nvPr>
        </p:nvSpPr>
        <p:spPr>
          <a:prstGeom prst="rect">
            <a:avLst/>
          </a:prstGeom>
        </p:spPr>
        <p:txBody>
          <a:bodyPr/>
          <a:lstStyle>
            <a:lvl1pPr>
              <a:buClrTx/>
            </a:lvl1pPr>
            <a:lvl2pPr>
              <a:buClrTx/>
            </a:lvl2pPr>
            <a:lvl3pPr>
              <a:buClrTx/>
            </a:lvl3pPr>
            <a:lvl4pPr>
              <a:buClrTx/>
            </a:lvl4pPr>
            <a:lvl5pPr>
              <a:buClrTx/>
            </a:lvl5pPr>
          </a:lstStyle>
          <a:p>
            <a:pPr/>
            <a:r>
              <a:t>Body Level One</a:t>
            </a:r>
          </a:p>
          <a:p>
            <a:pPr lvl="1"/>
            <a:r>
              <a:t>Body Level Two</a:t>
            </a:r>
          </a:p>
          <a:p>
            <a:pPr lvl="2"/>
            <a:r>
              <a:t>Body Level Three</a:t>
            </a:r>
          </a:p>
          <a:p>
            <a:pPr lvl="3"/>
            <a:r>
              <a:t>Body Level Four</a:t>
            </a:r>
          </a:p>
          <a:p>
            <a:pPr lvl="4"/>
            <a:r>
              <a:t>Body Level Five</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5" name="Close-up of a red-eyed tree frog perched on a leaf"/>
          <p:cNvSpPr/>
          <p:nvPr>
            <p:ph type="pic" idx="21"/>
          </p:nvPr>
        </p:nvSpPr>
        <p:spPr>
          <a:xfrm>
            <a:off x="3454400" y="2590800"/>
            <a:ext cx="9429750" cy="6286500"/>
          </a:xfrm>
          <a:prstGeom prst="rect">
            <a:avLst/>
          </a:prstGeom>
        </p:spPr>
        <p:txBody>
          <a:bodyPr lIns="91439" tIns="45719" rIns="91439" bIns="45719" anchor="t">
            <a:noAutofit/>
          </a:bodyPr>
          <a:lstStyle/>
          <a:p>
            <a:pPr/>
          </a:p>
        </p:txBody>
      </p:sp>
      <p:sp>
        <p:nvSpPr>
          <p:cNvPr id="66" name="Title Text"/>
          <p:cNvSpPr txBox="1"/>
          <p:nvPr>
            <p:ph type="title"/>
          </p:nvPr>
        </p:nvSpPr>
        <p:spPr>
          <a:prstGeom prst="rect">
            <a:avLst/>
          </a:prstGeom>
        </p:spPr>
        <p:txBody>
          <a:bodyPr/>
          <a:lstStyle/>
          <a:p>
            <a:pPr/>
            <a:r>
              <a:t>Title Text</a:t>
            </a:r>
          </a:p>
        </p:txBody>
      </p:sp>
      <p:sp>
        <p:nvSpPr>
          <p:cNvPr id="67" name="Body Level One…"/>
          <p:cNvSpPr txBox="1"/>
          <p:nvPr>
            <p:ph type="body" sz="half" idx="1"/>
          </p:nvPr>
        </p:nvSpPr>
        <p:spPr>
          <a:xfrm>
            <a:off x="952500" y="2590800"/>
            <a:ext cx="5334000" cy="6286500"/>
          </a:xfrm>
          <a:prstGeom prst="rect">
            <a:avLst/>
          </a:prstGeom>
        </p:spPr>
        <p:txBody>
          <a:bodyPr/>
          <a:lstStyle>
            <a:lvl1pPr marL="342900" indent="-342900">
              <a:spcBef>
                <a:spcPts val="3200"/>
              </a:spcBef>
              <a:buClrTx/>
              <a:defRPr sz="2800"/>
            </a:lvl1pPr>
            <a:lvl2pPr marL="685800" indent="-342900">
              <a:spcBef>
                <a:spcPts val="3200"/>
              </a:spcBef>
              <a:buClrTx/>
              <a:defRPr sz="2800"/>
            </a:lvl2pPr>
            <a:lvl3pPr marL="1028700" indent="-342900">
              <a:spcBef>
                <a:spcPts val="3200"/>
              </a:spcBef>
              <a:buClrTx/>
              <a:defRPr sz="2800"/>
            </a:lvl3pPr>
            <a:lvl4pPr marL="1371600" indent="-342900">
              <a:spcBef>
                <a:spcPts val="3200"/>
              </a:spcBef>
              <a:buClrTx/>
              <a:defRPr sz="2800"/>
            </a:lvl4pPr>
            <a:lvl5pPr marL="1714500" indent="-342900">
              <a:spcBef>
                <a:spcPts val="3200"/>
              </a:spcBef>
              <a:buClrTx/>
              <a:defRPr sz="2800"/>
            </a:lvl5pPr>
          </a:lstStyle>
          <a:p>
            <a:pPr/>
            <a:r>
              <a:t>Body Level One</a:t>
            </a:r>
          </a:p>
          <a:p>
            <a:pPr lvl="1"/>
            <a:r>
              <a:t>Body Level Two</a:t>
            </a:r>
          </a:p>
          <a:p>
            <a:pPr lvl="2"/>
            <a:r>
              <a:t>Body Level Three</a:t>
            </a:r>
          </a:p>
          <a:p>
            <a:pPr lvl="3"/>
            <a:r>
              <a:t>Body Level Four</a:t>
            </a:r>
          </a:p>
          <a:p>
            <a:pPr lvl="4"/>
            <a:r>
              <a:t>Body Level Five</a:t>
            </a:r>
          </a:p>
        </p:txBody>
      </p:sp>
      <p:sp>
        <p:nvSpPr>
          <p:cNvPr id="6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5" name="Title Text"/>
          <p:cNvSpPr txBox="1"/>
          <p:nvPr>
            <p:ph type="title"/>
          </p:nvPr>
        </p:nvSpPr>
        <p:spPr>
          <a:prstGeom prst="rect">
            <a:avLst/>
          </a:prstGeom>
        </p:spPr>
        <p:txBody>
          <a:bodyPr/>
          <a:lstStyle/>
          <a:p>
            <a:pPr/>
            <a:r>
              <a:t>Title Text</a:t>
            </a:r>
          </a:p>
        </p:txBody>
      </p:sp>
      <p:sp>
        <p:nvSpPr>
          <p:cNvPr id="76" name="Body Level One…"/>
          <p:cNvSpPr txBox="1"/>
          <p:nvPr>
            <p:ph type="body" sz="half" idx="1"/>
          </p:nvPr>
        </p:nvSpPr>
        <p:spPr>
          <a:xfrm>
            <a:off x="952500" y="2590800"/>
            <a:ext cx="5334000" cy="6286500"/>
          </a:xfrm>
          <a:prstGeom prst="rect">
            <a:avLst/>
          </a:prstGeom>
        </p:spPr>
        <p:txBody>
          <a:bodyPr/>
          <a:lstStyle>
            <a:lvl1pPr marL="342900" indent="-342900">
              <a:spcBef>
                <a:spcPts val="3200"/>
              </a:spcBef>
              <a:buClrTx/>
              <a:defRPr sz="2800"/>
            </a:lvl1pPr>
            <a:lvl2pPr marL="685800" indent="-342900">
              <a:spcBef>
                <a:spcPts val="3200"/>
              </a:spcBef>
              <a:buClrTx/>
              <a:defRPr sz="2800"/>
            </a:lvl2pPr>
            <a:lvl3pPr marL="1028700" indent="-342900">
              <a:spcBef>
                <a:spcPts val="3200"/>
              </a:spcBef>
              <a:buClrTx/>
              <a:defRPr sz="2800"/>
            </a:lvl3pPr>
            <a:lvl4pPr marL="1371600" indent="-342900">
              <a:spcBef>
                <a:spcPts val="3200"/>
              </a:spcBef>
              <a:buClrTx/>
              <a:defRPr sz="2800"/>
            </a:lvl4pPr>
            <a:lvl5pPr marL="1714500" indent="-342900">
              <a:spcBef>
                <a:spcPts val="3200"/>
              </a:spcBef>
              <a:buClrTx/>
              <a:defRPr sz="2800"/>
            </a:lvl5pPr>
          </a:lstStyle>
          <a:p>
            <a:pPr/>
            <a:r>
              <a:t>Body Level One</a:t>
            </a:r>
          </a:p>
          <a:p>
            <a:pPr lvl="1"/>
            <a:r>
              <a:t>Body Level Two</a:t>
            </a:r>
          </a:p>
          <a:p>
            <a:pPr lvl="2"/>
            <a:r>
              <a:t>Body Level Three</a:t>
            </a:r>
          </a:p>
          <a:p>
            <a:pPr lvl="3"/>
            <a:r>
              <a:t>Body Level Four</a:t>
            </a:r>
          </a:p>
          <a:p>
            <a:pPr lvl="4"/>
            <a:r>
              <a:t>Body Level Five</a:t>
            </a:r>
          </a:p>
        </p:txBody>
      </p:sp>
      <p:sp>
        <p:nvSpPr>
          <p:cNvPr id="7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4" name="Title Text"/>
          <p:cNvSpPr txBox="1"/>
          <p:nvPr>
            <p:ph type="title"/>
          </p:nvPr>
        </p:nvSpPr>
        <p:spPr>
          <a:prstGeom prst="rect">
            <a:avLst/>
          </a:prstGeom>
        </p:spPr>
        <p:txBody>
          <a:bodyPr/>
          <a:lstStyle/>
          <a:p>
            <a:pPr/>
            <a:r>
              <a:t>Title Text</a:t>
            </a:r>
          </a:p>
        </p:txBody>
      </p:sp>
      <p:sp>
        <p:nvSpPr>
          <p:cNvPr id="85" name="Body Level One…"/>
          <p:cNvSpPr txBox="1"/>
          <p:nvPr>
            <p:ph type="body" sz="half" idx="1"/>
          </p:nvPr>
        </p:nvSpPr>
        <p:spPr>
          <a:xfrm>
            <a:off x="952500" y="2590800"/>
            <a:ext cx="5334000" cy="6286500"/>
          </a:xfrm>
          <a:prstGeom prst="rect">
            <a:avLst/>
          </a:prstGeom>
        </p:spPr>
        <p:txBody>
          <a:bodyPr/>
          <a:lstStyle>
            <a:lvl1pPr marL="342900" indent="-342900">
              <a:spcBef>
                <a:spcPts val="3200"/>
              </a:spcBef>
              <a:buClrTx/>
              <a:defRPr sz="2800"/>
            </a:lvl1pPr>
            <a:lvl2pPr marL="685800" indent="-342900">
              <a:spcBef>
                <a:spcPts val="3200"/>
              </a:spcBef>
              <a:buClrTx/>
              <a:defRPr sz="2800"/>
            </a:lvl2pPr>
            <a:lvl3pPr marL="1028700" indent="-342900">
              <a:spcBef>
                <a:spcPts val="3200"/>
              </a:spcBef>
              <a:buClrTx/>
              <a:defRPr sz="2800"/>
            </a:lvl3pPr>
            <a:lvl4pPr marL="1371600" indent="-342900">
              <a:spcBef>
                <a:spcPts val="3200"/>
              </a:spcBef>
              <a:buClrTx/>
              <a:defRPr sz="2800"/>
            </a:lvl4pPr>
            <a:lvl5pPr marL="1714500" indent="-342900">
              <a:spcBef>
                <a:spcPts val="3200"/>
              </a:spcBef>
              <a:buClrTx/>
              <a:defRPr sz="2800"/>
            </a:lvl5pPr>
          </a:lstStyle>
          <a:p>
            <a:pPr/>
            <a:r>
              <a:t>Body Level One</a:t>
            </a:r>
          </a:p>
          <a:p>
            <a:pPr lvl="1"/>
            <a:r>
              <a:t>Body Level Two</a:t>
            </a:r>
          </a:p>
          <a:p>
            <a:pPr lvl="2"/>
            <a:r>
              <a:t>Body Level Three</a:t>
            </a:r>
          </a:p>
          <a:p>
            <a:pPr lvl="3"/>
            <a:r>
              <a:t>Body Level Four</a:t>
            </a:r>
          </a:p>
          <a:p>
            <a:pPr lvl="4"/>
            <a:r>
              <a:t>Body Level Five</a:t>
            </a:r>
          </a:p>
        </p:txBody>
      </p:sp>
      <p:sp>
        <p:nvSpPr>
          <p:cNvPr id="8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93" name="Body Level One…"/>
          <p:cNvSpPr txBox="1"/>
          <p:nvPr>
            <p:ph type="body" idx="1"/>
          </p:nvPr>
        </p:nvSpPr>
        <p:spPr>
          <a:xfrm>
            <a:off x="952500" y="1270000"/>
            <a:ext cx="11099800" cy="7213600"/>
          </a:xfrm>
          <a:prstGeom prst="rect">
            <a:avLst/>
          </a:prstGeom>
        </p:spPr>
        <p:txBody>
          <a:bodyPr/>
          <a:lstStyle>
            <a:lvl1pPr>
              <a:buClrTx/>
            </a:lvl1pPr>
            <a:lvl2pPr>
              <a:buClrTx/>
            </a:lvl2pPr>
            <a:lvl3pPr>
              <a:buClrTx/>
            </a:lvl3pPr>
            <a:lvl4pPr>
              <a:buClrTx/>
            </a:lvl4pPr>
            <a:lvl5pPr>
              <a:buClrTx/>
            </a:lvl5pPr>
          </a:lstStyle>
          <a:p>
            <a:pPr/>
            <a:r>
              <a:t>Body Level One</a:t>
            </a:r>
          </a:p>
          <a:p>
            <a:pPr lvl="1"/>
            <a:r>
              <a:t>Body Level Two</a:t>
            </a:r>
          </a:p>
          <a:p>
            <a:pPr lvl="2"/>
            <a:r>
              <a:t>Body Level Three</a:t>
            </a:r>
          </a:p>
          <a:p>
            <a:pPr lvl="3"/>
            <a:r>
              <a:t>Body Level Four</a:t>
            </a:r>
          </a:p>
          <a:p>
            <a:pPr lvl="4"/>
            <a:r>
              <a:t>Body Level Five</a:t>
            </a:r>
          </a:p>
        </p:txBody>
      </p:sp>
      <p:sp>
        <p:nvSpPr>
          <p:cNvPr id="9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01" name="Close-up of an orange flower surrounded by large tropical leaves"/>
          <p:cNvSpPr/>
          <p:nvPr>
            <p:ph type="pic" sz="quarter" idx="21"/>
          </p:nvPr>
        </p:nvSpPr>
        <p:spPr>
          <a:xfrm>
            <a:off x="6468065" y="4965700"/>
            <a:ext cx="5859869" cy="3898900"/>
          </a:xfrm>
          <a:prstGeom prst="rect">
            <a:avLst/>
          </a:prstGeom>
        </p:spPr>
        <p:txBody>
          <a:bodyPr lIns="91439" tIns="45719" rIns="91439" bIns="45719" anchor="t">
            <a:noAutofit/>
          </a:bodyPr>
          <a:lstStyle/>
          <a:p>
            <a:pPr/>
          </a:p>
        </p:txBody>
      </p:sp>
      <p:sp>
        <p:nvSpPr>
          <p:cNvPr id="102" name="Close-up of a red-eyed tree frog perched on a leaf"/>
          <p:cNvSpPr/>
          <p:nvPr>
            <p:ph type="pic" sz="quarter" idx="22"/>
          </p:nvPr>
        </p:nvSpPr>
        <p:spPr>
          <a:xfrm>
            <a:off x="6324600" y="635000"/>
            <a:ext cx="5848350" cy="3898900"/>
          </a:xfrm>
          <a:prstGeom prst="rect">
            <a:avLst/>
          </a:prstGeom>
        </p:spPr>
        <p:txBody>
          <a:bodyPr lIns="91439" tIns="45719" rIns="91439" bIns="45719" anchor="t">
            <a:noAutofit/>
          </a:bodyPr>
          <a:lstStyle/>
          <a:p>
            <a:pPr/>
          </a:p>
        </p:txBody>
      </p:sp>
      <p:sp>
        <p:nvSpPr>
          <p:cNvPr id="103" name="River flowing through a tropical forest"/>
          <p:cNvSpPr/>
          <p:nvPr>
            <p:ph type="pic" idx="23"/>
          </p:nvPr>
        </p:nvSpPr>
        <p:spPr>
          <a:xfrm>
            <a:off x="-1864362" y="635000"/>
            <a:ext cx="10967724" cy="8229600"/>
          </a:xfrm>
          <a:prstGeom prst="rect">
            <a:avLst/>
          </a:prstGeom>
        </p:spPr>
        <p:txBody>
          <a:bodyPr lIns="91439" tIns="45719" rIns="91439" bIns="45719" anchor="t">
            <a:noAutofit/>
          </a:bodyPr>
          <a:lstStyle/>
          <a:p>
            <a:pPr/>
          </a:p>
        </p:txBody>
      </p:sp>
      <p:sp>
        <p:nvSpPr>
          <p:cNvPr id="10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1" name="–Johnny Appleseed"/>
          <p:cNvSpPr txBox="1"/>
          <p:nvPr>
            <p:ph type="body" sz="quarter" idx="21"/>
          </p:nvPr>
        </p:nvSpPr>
        <p:spPr>
          <a:xfrm>
            <a:off x="1270000" y="6362700"/>
            <a:ext cx="10464800" cy="461366"/>
          </a:xfrm>
          <a:prstGeom prst="rect">
            <a:avLst/>
          </a:prstGeom>
        </p:spPr>
        <p:txBody>
          <a:bodyPr anchor="t">
            <a:spAutoFit/>
          </a:bodyPr>
          <a:lstStyle>
            <a:lvl1pPr marL="0" indent="0" algn="ctr">
              <a:spcBef>
                <a:spcPts val="0"/>
              </a:spcBef>
              <a:buClrTx/>
              <a:buSzTx/>
              <a:buNone/>
              <a:defRPr i="1" sz="2400"/>
            </a:lvl1pPr>
          </a:lstStyle>
          <a:p>
            <a:pPr/>
            <a:r>
              <a:t>–Johnny Appleseed</a:t>
            </a:r>
          </a:p>
        </p:txBody>
      </p:sp>
      <p:sp>
        <p:nvSpPr>
          <p:cNvPr id="112" name="“Type a quote here.”"/>
          <p:cNvSpPr txBox="1"/>
          <p:nvPr>
            <p:ph type="body" sz="quarter" idx="22"/>
          </p:nvPr>
        </p:nvSpPr>
        <p:spPr>
          <a:xfrm>
            <a:off x="1270000" y="4308599"/>
            <a:ext cx="10464800" cy="609776"/>
          </a:xfrm>
          <a:prstGeom prst="rect">
            <a:avLst/>
          </a:prstGeom>
        </p:spPr>
        <p:txBody>
          <a:bodyPr>
            <a:spAutoFit/>
          </a:bodyPr>
          <a:lstStyle>
            <a:lvl1pPr marL="0" indent="0" algn="ctr">
              <a:spcBef>
                <a:spcPts val="0"/>
              </a:spcBef>
              <a:buClrTx/>
              <a:buSzTx/>
              <a:buNone/>
              <a:defRPr sz="3400">
                <a:latin typeface="+mn-lt"/>
                <a:ea typeface="+mn-ea"/>
                <a:cs typeface="+mn-cs"/>
                <a:sym typeface="Helvetica Neue Medium"/>
              </a:defRPr>
            </a:lvl1pPr>
          </a:lstStyle>
          <a:p>
            <a:pPr/>
            <a:r>
              <a:t>“Type a quote here.” </a:t>
            </a:r>
          </a:p>
        </p:txBody>
      </p:sp>
      <p:sp>
        <p:nvSpPr>
          <p:cNvPr id="1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20" name="River flowing through a tropical forest"/>
          <p:cNvSpPr/>
          <p:nvPr>
            <p:ph type="pic" idx="21"/>
          </p:nvPr>
        </p:nvSpPr>
        <p:spPr>
          <a:xfrm>
            <a:off x="0" y="-2258"/>
            <a:ext cx="13004800" cy="9758116"/>
          </a:xfrm>
          <a:prstGeom prst="rect">
            <a:avLst/>
          </a:prstGeom>
        </p:spPr>
        <p:txBody>
          <a:bodyPr lIns="91439" tIns="45719" rIns="91439" bIns="45719" anchor="t">
            <a:noAutofit/>
          </a:bodyPr>
          <a:lstStyle/>
          <a:p>
            <a:pPr/>
          </a:p>
        </p:txBody>
      </p:sp>
      <p:sp>
        <p:nvSpPr>
          <p:cNvPr id="12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000000"/>
        </a:solidFill>
      </p:bgPr>
    </p:bg>
    <p:spTree>
      <p:nvGrpSpPr>
        <p:cNvPr id="1" name=""/>
        <p:cNvGrpSpPr/>
        <p:nvPr/>
      </p:nvGrpSpPr>
      <p:grpSpPr>
        <a:xfrm>
          <a:off x="0" y="0"/>
          <a:ext cx="0" cy="0"/>
          <a:chOff x="0" y="0"/>
          <a:chExt cx="0" cy="0"/>
        </a:xfrm>
      </p:grpSpPr>
      <p:sp>
        <p:nvSpPr>
          <p:cNvPr id="2" name="Title Text"/>
          <p:cNvSpPr txBox="1"/>
          <p:nvPr>
            <p:ph type="title"/>
          </p:nvPr>
        </p:nvSpPr>
        <p:spPr>
          <a:xfrm>
            <a:off x="952500" y="254000"/>
            <a:ext cx="11099800" cy="2159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normAutofit fontScale="100000" lnSpcReduction="0"/>
          </a:bodyPr>
          <a:lstStyle/>
          <a:p>
            <a:pPr/>
            <a:r>
              <a:t>Title Text</a:t>
            </a:r>
          </a:p>
        </p:txBody>
      </p:sp>
      <p:sp>
        <p:nvSpPr>
          <p:cNvPr id="3" name="Body Level One…"/>
          <p:cNvSpPr txBox="1"/>
          <p:nvPr>
            <p:ph type="body" idx="1"/>
          </p:nvPr>
        </p:nvSpPr>
        <p:spPr>
          <a:xfrm>
            <a:off x="952500" y="2590800"/>
            <a:ext cx="11099800" cy="62865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6328884" y="9296400"/>
            <a:ext cx="340259" cy="324306"/>
          </a:xfrm>
          <a:prstGeom prst="rect">
            <a:avLst/>
          </a:prstGeom>
          <a:ln w="12700">
            <a:miter lim="400000"/>
          </a:ln>
        </p:spPr>
        <p:txBody>
          <a:bodyPr wrap="none" lIns="50800" tIns="50800" rIns="50800" bIns="50800">
            <a:spAutoFit/>
          </a:bodyPr>
          <a:lstStyle>
            <a:lvl1pPr algn="ctr">
              <a:spcBef>
                <a:spcPts val="0"/>
              </a:spcBef>
              <a:defRPr sz="1600">
                <a:latin typeface="Helvetica Neue Light"/>
                <a:ea typeface="Helvetica Neue Light"/>
                <a:cs typeface="Helvetica Neue Light"/>
                <a:sym typeface="Helvetica Neue Light"/>
              </a:defRPr>
            </a:lvl1pPr>
          </a:lstStyle>
          <a:p>
            <a:pPr/>
            <a:fld id="{86CB4B4D-7CA3-9044-876B-883B54F8677D}" type="slidenum"/>
          </a:p>
        </p:txBody>
      </p:sp>
    </p:spTree>
  </p:cSld>
  <p:clrMap bg1="dk1" tx1="lt1" bg2="dk2" tx2="lt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xmlns:p14="http://schemas.microsoft.com/office/powerpoint/2010/main" spd="med" advClick="1"/>
  <p:txStyles>
    <p:titleStyle>
      <a:lvl1pPr marL="0" marR="0" indent="0" algn="ctr" defTabSz="584200" rtl="0" latinLnBrk="0">
        <a:lnSpc>
          <a:spcPct val="100000"/>
        </a:lnSpc>
        <a:spcBef>
          <a:spcPts val="0"/>
        </a:spcBef>
        <a:spcAft>
          <a:spcPts val="0"/>
        </a:spcAft>
        <a:buClrTx/>
        <a:buSzTx/>
        <a:buFontTx/>
        <a:buNone/>
        <a:tabLst/>
        <a:defRPr b="0" baseline="0" cap="none" i="0" spc="0" strike="noStrike" sz="8000" u="none">
          <a:solidFill>
            <a:srgbClr val="FFFFFF"/>
          </a:solidFill>
          <a:uFillTx/>
          <a:latin typeface="+mn-lt"/>
          <a:ea typeface="+mn-ea"/>
          <a:cs typeface="+mn-cs"/>
          <a:sym typeface="Helvetica Neue Medium"/>
        </a:defRPr>
      </a:lvl1pPr>
      <a:lvl2pPr marL="0" marR="0" indent="0" algn="ctr" defTabSz="584200" rtl="0" latinLnBrk="0">
        <a:lnSpc>
          <a:spcPct val="100000"/>
        </a:lnSpc>
        <a:spcBef>
          <a:spcPts val="0"/>
        </a:spcBef>
        <a:spcAft>
          <a:spcPts val="0"/>
        </a:spcAft>
        <a:buClrTx/>
        <a:buSzTx/>
        <a:buFontTx/>
        <a:buNone/>
        <a:tabLst/>
        <a:defRPr b="0" baseline="0" cap="none" i="0" spc="0" strike="noStrike" sz="8000" u="none">
          <a:solidFill>
            <a:srgbClr val="FFFFFF"/>
          </a:solidFill>
          <a:uFillTx/>
          <a:latin typeface="+mn-lt"/>
          <a:ea typeface="+mn-ea"/>
          <a:cs typeface="+mn-cs"/>
          <a:sym typeface="Helvetica Neue Medium"/>
        </a:defRPr>
      </a:lvl2pPr>
      <a:lvl3pPr marL="0" marR="0" indent="0" algn="ctr" defTabSz="584200" rtl="0" latinLnBrk="0">
        <a:lnSpc>
          <a:spcPct val="100000"/>
        </a:lnSpc>
        <a:spcBef>
          <a:spcPts val="0"/>
        </a:spcBef>
        <a:spcAft>
          <a:spcPts val="0"/>
        </a:spcAft>
        <a:buClrTx/>
        <a:buSzTx/>
        <a:buFontTx/>
        <a:buNone/>
        <a:tabLst/>
        <a:defRPr b="0" baseline="0" cap="none" i="0" spc="0" strike="noStrike" sz="8000" u="none">
          <a:solidFill>
            <a:srgbClr val="FFFFFF"/>
          </a:solidFill>
          <a:uFillTx/>
          <a:latin typeface="+mn-lt"/>
          <a:ea typeface="+mn-ea"/>
          <a:cs typeface="+mn-cs"/>
          <a:sym typeface="Helvetica Neue Medium"/>
        </a:defRPr>
      </a:lvl3pPr>
      <a:lvl4pPr marL="0" marR="0" indent="0" algn="ctr" defTabSz="584200" rtl="0" latinLnBrk="0">
        <a:lnSpc>
          <a:spcPct val="100000"/>
        </a:lnSpc>
        <a:spcBef>
          <a:spcPts val="0"/>
        </a:spcBef>
        <a:spcAft>
          <a:spcPts val="0"/>
        </a:spcAft>
        <a:buClrTx/>
        <a:buSzTx/>
        <a:buFontTx/>
        <a:buNone/>
        <a:tabLst/>
        <a:defRPr b="0" baseline="0" cap="none" i="0" spc="0" strike="noStrike" sz="8000" u="none">
          <a:solidFill>
            <a:srgbClr val="FFFFFF"/>
          </a:solidFill>
          <a:uFillTx/>
          <a:latin typeface="+mn-lt"/>
          <a:ea typeface="+mn-ea"/>
          <a:cs typeface="+mn-cs"/>
          <a:sym typeface="Helvetica Neue Medium"/>
        </a:defRPr>
      </a:lvl4pPr>
      <a:lvl5pPr marL="0" marR="0" indent="0" algn="ctr" defTabSz="584200" rtl="0" latinLnBrk="0">
        <a:lnSpc>
          <a:spcPct val="100000"/>
        </a:lnSpc>
        <a:spcBef>
          <a:spcPts val="0"/>
        </a:spcBef>
        <a:spcAft>
          <a:spcPts val="0"/>
        </a:spcAft>
        <a:buClrTx/>
        <a:buSzTx/>
        <a:buFontTx/>
        <a:buNone/>
        <a:tabLst/>
        <a:defRPr b="0" baseline="0" cap="none" i="0" spc="0" strike="noStrike" sz="8000" u="none">
          <a:solidFill>
            <a:srgbClr val="FFFFFF"/>
          </a:solidFill>
          <a:uFillTx/>
          <a:latin typeface="+mn-lt"/>
          <a:ea typeface="+mn-ea"/>
          <a:cs typeface="+mn-cs"/>
          <a:sym typeface="Helvetica Neue Medium"/>
        </a:defRPr>
      </a:lvl5pPr>
      <a:lvl6pPr marL="0" marR="0" indent="0" algn="ctr" defTabSz="584200" rtl="0" latinLnBrk="0">
        <a:lnSpc>
          <a:spcPct val="100000"/>
        </a:lnSpc>
        <a:spcBef>
          <a:spcPts val="0"/>
        </a:spcBef>
        <a:spcAft>
          <a:spcPts val="0"/>
        </a:spcAft>
        <a:buClrTx/>
        <a:buSzTx/>
        <a:buFontTx/>
        <a:buNone/>
        <a:tabLst/>
        <a:defRPr b="0" baseline="0" cap="none" i="0" spc="0" strike="noStrike" sz="8000" u="none">
          <a:solidFill>
            <a:srgbClr val="FFFFFF"/>
          </a:solidFill>
          <a:uFillTx/>
          <a:latin typeface="+mn-lt"/>
          <a:ea typeface="+mn-ea"/>
          <a:cs typeface="+mn-cs"/>
          <a:sym typeface="Helvetica Neue Medium"/>
        </a:defRPr>
      </a:lvl6pPr>
      <a:lvl7pPr marL="0" marR="0" indent="0" algn="ctr" defTabSz="584200" rtl="0" latinLnBrk="0">
        <a:lnSpc>
          <a:spcPct val="100000"/>
        </a:lnSpc>
        <a:spcBef>
          <a:spcPts val="0"/>
        </a:spcBef>
        <a:spcAft>
          <a:spcPts val="0"/>
        </a:spcAft>
        <a:buClrTx/>
        <a:buSzTx/>
        <a:buFontTx/>
        <a:buNone/>
        <a:tabLst/>
        <a:defRPr b="0" baseline="0" cap="none" i="0" spc="0" strike="noStrike" sz="8000" u="none">
          <a:solidFill>
            <a:srgbClr val="FFFFFF"/>
          </a:solidFill>
          <a:uFillTx/>
          <a:latin typeface="+mn-lt"/>
          <a:ea typeface="+mn-ea"/>
          <a:cs typeface="+mn-cs"/>
          <a:sym typeface="Helvetica Neue Medium"/>
        </a:defRPr>
      </a:lvl7pPr>
      <a:lvl8pPr marL="0" marR="0" indent="0" algn="ctr" defTabSz="584200" rtl="0" latinLnBrk="0">
        <a:lnSpc>
          <a:spcPct val="100000"/>
        </a:lnSpc>
        <a:spcBef>
          <a:spcPts val="0"/>
        </a:spcBef>
        <a:spcAft>
          <a:spcPts val="0"/>
        </a:spcAft>
        <a:buClrTx/>
        <a:buSzTx/>
        <a:buFontTx/>
        <a:buNone/>
        <a:tabLst/>
        <a:defRPr b="0" baseline="0" cap="none" i="0" spc="0" strike="noStrike" sz="8000" u="none">
          <a:solidFill>
            <a:srgbClr val="FFFFFF"/>
          </a:solidFill>
          <a:uFillTx/>
          <a:latin typeface="+mn-lt"/>
          <a:ea typeface="+mn-ea"/>
          <a:cs typeface="+mn-cs"/>
          <a:sym typeface="Helvetica Neue Medium"/>
        </a:defRPr>
      </a:lvl8pPr>
      <a:lvl9pPr marL="0" marR="0" indent="0" algn="ctr" defTabSz="584200" rtl="0" latinLnBrk="0">
        <a:lnSpc>
          <a:spcPct val="100000"/>
        </a:lnSpc>
        <a:spcBef>
          <a:spcPts val="0"/>
        </a:spcBef>
        <a:spcAft>
          <a:spcPts val="0"/>
        </a:spcAft>
        <a:buClrTx/>
        <a:buSzTx/>
        <a:buFontTx/>
        <a:buNone/>
        <a:tabLst/>
        <a:defRPr b="0" baseline="0" cap="none" i="0" spc="0" strike="noStrike" sz="8000" u="none">
          <a:solidFill>
            <a:srgbClr val="FFFFFF"/>
          </a:solidFill>
          <a:uFillTx/>
          <a:latin typeface="+mn-lt"/>
          <a:ea typeface="+mn-ea"/>
          <a:cs typeface="+mn-cs"/>
          <a:sym typeface="Helvetica Neue Medium"/>
        </a:defRPr>
      </a:lvl9pPr>
    </p:titleStyle>
    <p:bodyStyle>
      <a:lvl1pPr marL="444500" marR="0" indent="-444500" algn="l" defTabSz="584200" rtl="0" latinLnBrk="0">
        <a:lnSpc>
          <a:spcPct val="100000"/>
        </a:lnSpc>
        <a:spcBef>
          <a:spcPts val="4200"/>
        </a:spcBef>
        <a:spcAft>
          <a:spcPts val="0"/>
        </a:spcAft>
        <a:buClr>
          <a:srgbClr val="FFFFFF"/>
        </a:buClr>
        <a:buSzPct val="145000"/>
        <a:buFontTx/>
        <a:buChar char="•"/>
        <a:tabLst/>
        <a:defRPr b="0" baseline="0" cap="none" i="0" spc="0" strike="noStrike" sz="3200" u="none">
          <a:solidFill>
            <a:srgbClr val="FFFFFF"/>
          </a:solidFill>
          <a:uFillTx/>
          <a:latin typeface="Helvetica Neue"/>
          <a:ea typeface="Helvetica Neue"/>
          <a:cs typeface="Helvetica Neue"/>
          <a:sym typeface="Helvetica Neue"/>
        </a:defRPr>
      </a:lvl1pPr>
      <a:lvl2pPr marL="889000" marR="0" indent="-444500" algn="l" defTabSz="584200" rtl="0" latinLnBrk="0">
        <a:lnSpc>
          <a:spcPct val="100000"/>
        </a:lnSpc>
        <a:spcBef>
          <a:spcPts val="4200"/>
        </a:spcBef>
        <a:spcAft>
          <a:spcPts val="0"/>
        </a:spcAft>
        <a:buClr>
          <a:srgbClr val="FFFFFF"/>
        </a:buClr>
        <a:buSzPct val="145000"/>
        <a:buFontTx/>
        <a:buChar char="•"/>
        <a:tabLst/>
        <a:defRPr b="0" baseline="0" cap="none" i="0" spc="0" strike="noStrike" sz="3200" u="none">
          <a:solidFill>
            <a:srgbClr val="FFFFFF"/>
          </a:solidFill>
          <a:uFillTx/>
          <a:latin typeface="Helvetica Neue"/>
          <a:ea typeface="Helvetica Neue"/>
          <a:cs typeface="Helvetica Neue"/>
          <a:sym typeface="Helvetica Neue"/>
        </a:defRPr>
      </a:lvl2pPr>
      <a:lvl3pPr marL="1333500" marR="0" indent="-444500" algn="l" defTabSz="584200" rtl="0" latinLnBrk="0">
        <a:lnSpc>
          <a:spcPct val="100000"/>
        </a:lnSpc>
        <a:spcBef>
          <a:spcPts val="4200"/>
        </a:spcBef>
        <a:spcAft>
          <a:spcPts val="0"/>
        </a:spcAft>
        <a:buClr>
          <a:srgbClr val="FFFFFF"/>
        </a:buClr>
        <a:buSzPct val="145000"/>
        <a:buFontTx/>
        <a:buChar char="•"/>
        <a:tabLst/>
        <a:defRPr b="0" baseline="0" cap="none" i="0" spc="0" strike="noStrike" sz="3200" u="none">
          <a:solidFill>
            <a:srgbClr val="FFFFFF"/>
          </a:solidFill>
          <a:uFillTx/>
          <a:latin typeface="Helvetica Neue"/>
          <a:ea typeface="Helvetica Neue"/>
          <a:cs typeface="Helvetica Neue"/>
          <a:sym typeface="Helvetica Neue"/>
        </a:defRPr>
      </a:lvl3pPr>
      <a:lvl4pPr marL="1778000" marR="0" indent="-444500" algn="l" defTabSz="584200" rtl="0" latinLnBrk="0">
        <a:lnSpc>
          <a:spcPct val="100000"/>
        </a:lnSpc>
        <a:spcBef>
          <a:spcPts val="4200"/>
        </a:spcBef>
        <a:spcAft>
          <a:spcPts val="0"/>
        </a:spcAft>
        <a:buClr>
          <a:srgbClr val="FFFFFF"/>
        </a:buClr>
        <a:buSzPct val="145000"/>
        <a:buFontTx/>
        <a:buChar char="•"/>
        <a:tabLst/>
        <a:defRPr b="0" baseline="0" cap="none" i="0" spc="0" strike="noStrike" sz="3200" u="none">
          <a:solidFill>
            <a:srgbClr val="FFFFFF"/>
          </a:solidFill>
          <a:uFillTx/>
          <a:latin typeface="Helvetica Neue"/>
          <a:ea typeface="Helvetica Neue"/>
          <a:cs typeface="Helvetica Neue"/>
          <a:sym typeface="Helvetica Neue"/>
        </a:defRPr>
      </a:lvl4pPr>
      <a:lvl5pPr marL="2222500" marR="0" indent="-444500" algn="l" defTabSz="584200" rtl="0" latinLnBrk="0">
        <a:lnSpc>
          <a:spcPct val="100000"/>
        </a:lnSpc>
        <a:spcBef>
          <a:spcPts val="4200"/>
        </a:spcBef>
        <a:spcAft>
          <a:spcPts val="0"/>
        </a:spcAft>
        <a:buClr>
          <a:srgbClr val="FFFFFF"/>
        </a:buClr>
        <a:buSzPct val="145000"/>
        <a:buFontTx/>
        <a:buChar char="•"/>
        <a:tabLst/>
        <a:defRPr b="0" baseline="0" cap="none" i="0" spc="0" strike="noStrike" sz="3200" u="none">
          <a:solidFill>
            <a:srgbClr val="FFFFFF"/>
          </a:solidFill>
          <a:uFillTx/>
          <a:latin typeface="Helvetica Neue"/>
          <a:ea typeface="Helvetica Neue"/>
          <a:cs typeface="Helvetica Neue"/>
          <a:sym typeface="Helvetica Neue"/>
        </a:defRPr>
      </a:lvl5pPr>
      <a:lvl6pPr marL="2667000" marR="0" indent="-444500" algn="l" defTabSz="584200" rtl="0" latinLnBrk="0">
        <a:lnSpc>
          <a:spcPct val="100000"/>
        </a:lnSpc>
        <a:spcBef>
          <a:spcPts val="4200"/>
        </a:spcBef>
        <a:spcAft>
          <a:spcPts val="0"/>
        </a:spcAft>
        <a:buClr>
          <a:srgbClr val="FFFFFF"/>
        </a:buClr>
        <a:buSzPct val="145000"/>
        <a:buFontTx/>
        <a:buChar char="•"/>
        <a:tabLst/>
        <a:defRPr b="0" baseline="0" cap="none" i="0" spc="0" strike="noStrike" sz="3200" u="none">
          <a:solidFill>
            <a:srgbClr val="FFFFFF"/>
          </a:solidFill>
          <a:uFillTx/>
          <a:latin typeface="Helvetica Neue"/>
          <a:ea typeface="Helvetica Neue"/>
          <a:cs typeface="Helvetica Neue"/>
          <a:sym typeface="Helvetica Neue"/>
        </a:defRPr>
      </a:lvl6pPr>
      <a:lvl7pPr marL="3111500" marR="0" indent="-444500" algn="l" defTabSz="584200" rtl="0" latinLnBrk="0">
        <a:lnSpc>
          <a:spcPct val="100000"/>
        </a:lnSpc>
        <a:spcBef>
          <a:spcPts val="4200"/>
        </a:spcBef>
        <a:spcAft>
          <a:spcPts val="0"/>
        </a:spcAft>
        <a:buClr>
          <a:srgbClr val="FFFFFF"/>
        </a:buClr>
        <a:buSzPct val="145000"/>
        <a:buFontTx/>
        <a:buChar char="•"/>
        <a:tabLst/>
        <a:defRPr b="0" baseline="0" cap="none" i="0" spc="0" strike="noStrike" sz="3200" u="none">
          <a:solidFill>
            <a:srgbClr val="FFFFFF"/>
          </a:solidFill>
          <a:uFillTx/>
          <a:latin typeface="Helvetica Neue"/>
          <a:ea typeface="Helvetica Neue"/>
          <a:cs typeface="Helvetica Neue"/>
          <a:sym typeface="Helvetica Neue"/>
        </a:defRPr>
      </a:lvl7pPr>
      <a:lvl8pPr marL="3556000" marR="0" indent="-444500" algn="l" defTabSz="584200" rtl="0" latinLnBrk="0">
        <a:lnSpc>
          <a:spcPct val="100000"/>
        </a:lnSpc>
        <a:spcBef>
          <a:spcPts val="4200"/>
        </a:spcBef>
        <a:spcAft>
          <a:spcPts val="0"/>
        </a:spcAft>
        <a:buClr>
          <a:srgbClr val="FFFFFF"/>
        </a:buClr>
        <a:buSzPct val="145000"/>
        <a:buFontTx/>
        <a:buChar char="•"/>
        <a:tabLst/>
        <a:defRPr b="0" baseline="0" cap="none" i="0" spc="0" strike="noStrike" sz="3200" u="none">
          <a:solidFill>
            <a:srgbClr val="FFFFFF"/>
          </a:solidFill>
          <a:uFillTx/>
          <a:latin typeface="Helvetica Neue"/>
          <a:ea typeface="Helvetica Neue"/>
          <a:cs typeface="Helvetica Neue"/>
          <a:sym typeface="Helvetica Neue"/>
        </a:defRPr>
      </a:lvl8pPr>
      <a:lvl9pPr marL="4000500" marR="0" indent="-444500" algn="l" defTabSz="584200" rtl="0" latinLnBrk="0">
        <a:lnSpc>
          <a:spcPct val="100000"/>
        </a:lnSpc>
        <a:spcBef>
          <a:spcPts val="4200"/>
        </a:spcBef>
        <a:spcAft>
          <a:spcPts val="0"/>
        </a:spcAft>
        <a:buClr>
          <a:srgbClr val="FFFFFF"/>
        </a:buClr>
        <a:buSzPct val="145000"/>
        <a:buFontTx/>
        <a:buChar char="•"/>
        <a:tabLst/>
        <a:defRPr b="0" baseline="0" cap="none" i="0" spc="0" strike="noStrike" sz="3200" u="none">
          <a:solidFill>
            <a:srgbClr val="FFFFFF"/>
          </a:solidFill>
          <a:uFillTx/>
          <a:latin typeface="Helvetica Neue"/>
          <a:ea typeface="Helvetica Neue"/>
          <a:cs typeface="Helvetica Neue"/>
          <a:sym typeface="Helvetica Neue"/>
        </a:defRPr>
      </a:lvl9pPr>
    </p:bodyStyle>
    <p:otherStyle>
      <a:lvl1pPr marL="0" marR="0" indent="0" algn="ctr" defTabSz="58420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1pPr>
      <a:lvl2pPr marL="0" marR="0" indent="228600" algn="ctr" defTabSz="58420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2pPr>
      <a:lvl3pPr marL="0" marR="0" indent="457200" algn="ctr" defTabSz="58420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3pPr>
      <a:lvl4pPr marL="0" marR="0" indent="685800" algn="ctr" defTabSz="58420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4pPr>
      <a:lvl5pPr marL="0" marR="0" indent="914400" algn="ctr" defTabSz="58420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5pPr>
      <a:lvl6pPr marL="0" marR="0" indent="1143000" algn="ctr" defTabSz="58420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6pPr>
      <a:lvl7pPr marL="0" marR="0" indent="1371600" algn="ctr" defTabSz="58420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7pPr>
      <a:lvl8pPr marL="0" marR="0" indent="1600200" algn="ctr" defTabSz="58420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8pPr>
      <a:lvl9pPr marL="0" marR="0" indent="1828800" algn="ctr" defTabSz="584200"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7" name="CyberSentinel AI"/>
          <p:cNvSpPr txBox="1"/>
          <p:nvPr>
            <p:ph type="ctrTitle"/>
          </p:nvPr>
        </p:nvSpPr>
        <p:spPr>
          <a:prstGeom prst="rect">
            <a:avLst/>
          </a:prstGeom>
        </p:spPr>
        <p:txBody>
          <a:bodyPr/>
          <a:lstStyle/>
          <a:p>
            <a:pPr/>
            <a:r>
              <a:t>CyberSentinel AI</a:t>
            </a:r>
          </a:p>
        </p:txBody>
      </p:sp>
      <p:sp>
        <p:nvSpPr>
          <p:cNvPr id="138" name="An Intelligent Security Operations Center (SOC) Assistant using Large Language Models (LLMs) and Retrieval-Augmented Generation (RAG)…"/>
          <p:cNvSpPr txBox="1"/>
          <p:nvPr>
            <p:ph type="subTitle" sz="quarter" idx="1"/>
          </p:nvPr>
        </p:nvSpPr>
        <p:spPr>
          <a:prstGeom prst="rect">
            <a:avLst/>
          </a:prstGeom>
        </p:spPr>
        <p:txBody>
          <a:bodyPr/>
          <a:lstStyle/>
          <a:p>
            <a:pPr defTabSz="233679">
              <a:defRPr sz="1480"/>
            </a:pPr>
            <a:r>
              <a:t>An Intelligent Security Operations Center (SOC) Assistant using Large Language Models (LLMs) and Retrieval-Augmented Generation (RAG)</a:t>
            </a:r>
          </a:p>
          <a:p>
            <a:pPr defTabSz="233679">
              <a:defRPr sz="1480"/>
            </a:pPr>
          </a:p>
          <a:p>
            <a:pPr defTabSz="233679">
              <a:defRPr sz="1480"/>
            </a:pPr>
            <a:r>
              <a:t>Major Project Defense • B.Tech Computer Engineering</a:t>
            </a:r>
          </a:p>
          <a:p>
            <a:pPr defTabSz="233679">
              <a:defRPr sz="1480"/>
            </a:pPr>
            <a:r>
              <a:t>Presented By: Soham Sakat</a:t>
            </a:r>
          </a:p>
          <a:p>
            <a:pPr defTabSz="233679">
              <a:defRPr sz="1480"/>
            </a:pPr>
            <a:r>
              <a:t>Specialization: AI, Cybersecurity, SecOps &amp; Full-Stack SIEM</a:t>
            </a:r>
          </a:p>
          <a:p>
            <a:pPr defTabSz="233679">
              <a:defRPr sz="1480"/>
            </a:pPr>
            <a:r>
              <a:t>GitHub: https://github.com/sohamsakat/cybersentinel-ai</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2" name="1. INTRODUCTION: Enterprise SOC &amp; Alert Fatigue"/>
          <p:cNvSpPr txBox="1"/>
          <p:nvPr>
            <p:ph type="title"/>
          </p:nvPr>
        </p:nvSpPr>
        <p:spPr>
          <a:prstGeom prst="rect">
            <a:avLst/>
          </a:prstGeom>
        </p:spPr>
        <p:txBody>
          <a:bodyPr/>
          <a:lstStyle>
            <a:lvl1pPr defTabSz="449833">
              <a:defRPr sz="6160"/>
            </a:lvl1pPr>
          </a:lstStyle>
          <a:p>
            <a:pPr/>
            <a:r>
              <a:t>1. INTRODUCTION: Enterprise SOC &amp; Alert Fatigue</a:t>
            </a:r>
          </a:p>
        </p:txBody>
      </p:sp>
      <p:sp>
        <p:nvSpPr>
          <p:cNvPr id="143" name="• The Modern SOC Environment: Centralized security monitoring 24/7 across network perimeters, endpoints, authentication realms, and cloud infrastructure.…"/>
          <p:cNvSpPr txBox="1"/>
          <p:nvPr>
            <p:ph type="body" idx="1"/>
          </p:nvPr>
        </p:nvSpPr>
        <p:spPr>
          <a:prstGeom prst="rect">
            <a:avLst/>
          </a:prstGeom>
        </p:spPr>
        <p:txBody>
          <a:bodyPr/>
          <a:lstStyle/>
          <a:p>
            <a:pPr marL="364489" indent="-364489" defTabSz="479044">
              <a:spcBef>
                <a:spcPts val="3400"/>
              </a:spcBef>
              <a:defRPr sz="2624"/>
            </a:pPr>
            <a:r>
              <a:t>• The Modern SOC Environment: Centralized security monitoring 24/7 across network perimeters, endpoints, authentication realms, and cloud infrastructure.</a:t>
            </a:r>
          </a:p>
          <a:p>
            <a:pPr marL="364489" indent="-364489" defTabSz="479044">
              <a:spcBef>
                <a:spcPts val="3400"/>
              </a:spcBef>
              <a:defRPr sz="2624"/>
            </a:pPr>
            <a:r>
              <a:t>• The Telemetry Deluge: Enterprise networks generate 50,000 to 100,000+ logs daily across firewalls, Linux syslogs, Windows events, and web servers.</a:t>
            </a:r>
          </a:p>
          <a:p>
            <a:pPr marL="364489" indent="-364489" defTabSz="479044">
              <a:spcBef>
                <a:spcPts val="3400"/>
              </a:spcBef>
              <a:defRPr sz="2624"/>
            </a:pPr>
            <a:r>
              <a:t>• The Human Bottleneck (Alert Fatigue): Over 99% of generated alerts are benign noise or false positives; cognitive exhaustion causes critical Advanced Persistent Threats (APTs) to dwell undetected.</a:t>
            </a:r>
          </a:p>
          <a:p>
            <a:pPr marL="364489" indent="-364489" defTabSz="479044">
              <a:spcBef>
                <a:spcPts val="3400"/>
              </a:spcBef>
              <a:defRPr sz="2624"/>
            </a:pPr>
            <a:r>
              <a:t>• The Cognitive Shift: Incorporating Large Language Models (LLMs) and RAG as a tireless Tier-1 analyst to automate pre-triage, threat correlation, and response.</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7" name="2. LITERATURE REVIEW: State of the Art &amp; Research Gaps"/>
          <p:cNvSpPr txBox="1"/>
          <p:nvPr>
            <p:ph type="title"/>
          </p:nvPr>
        </p:nvSpPr>
        <p:spPr>
          <a:prstGeom prst="rect">
            <a:avLst/>
          </a:prstGeom>
        </p:spPr>
        <p:txBody>
          <a:bodyPr/>
          <a:lstStyle>
            <a:lvl1pPr defTabSz="443991">
              <a:defRPr sz="6080"/>
            </a:lvl1pPr>
          </a:lstStyle>
          <a:p>
            <a:pPr/>
            <a:r>
              <a:t>2. LITERATURE REVIEW: State of the Art &amp; Research Gaps</a:t>
            </a:r>
          </a:p>
        </p:txBody>
      </p:sp>
      <p:sp>
        <p:nvSpPr>
          <p:cNvPr id="148" name="Base Research Paper: 'Retrieval-Augmented Generation for Automated Incident Response and Threat Intelligence Mapping in Modern SOCs' (IEEE/ACM 2024/2025)…"/>
          <p:cNvSpPr txBox="1"/>
          <p:nvPr/>
        </p:nvSpPr>
        <p:spPr>
          <a:xfrm>
            <a:off x="1016000" y="1041400"/>
            <a:ext cx="22352000" cy="2554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r>
              <a:t>Base Research Paper: 'Retrieval-Augmented Generation for Automated Incident Response and Threat Intelligence Mapping in Modern SOCs' (IEEE/ACM 2024/2025)</a:t>
            </a:r>
          </a:p>
          <a:p>
            <a:pPr/>
            <a:r>
              <a:t>Academic Gap: Prior research focused solely on static offline datasets (e.g. DARPA/NSL-KDD); lacked live streaming telemetry, multi-format parsing, or production web-based triage interfaces.</a:t>
            </a:r>
          </a:p>
        </p:txBody>
      </p:sp>
      <p:graphicFrame>
        <p:nvGraphicFramePr>
          <p:cNvPr id="149" name="Table 1"/>
          <p:cNvGraphicFramePr/>
          <p:nvPr/>
        </p:nvGraphicFramePr>
        <p:xfrm>
          <a:off x="1016000" y="3683000"/>
          <a:ext cx="11099800" cy="6286500"/>
        </p:xfrm>
        <a:graphic xmlns:a="http://schemas.openxmlformats.org/drawingml/2006/main">
          <a:graphicData uri="http://schemas.openxmlformats.org/drawingml/2006/table">
            <a:tbl>
              <a:tblPr firstCol="1" firstRow="1" lastCol="0" lastRow="0" bandCol="0" bandRow="0" rtl="0">
                <a:tableStyleId>{4C3C2611-4C71-4FC5-86AE-919BDF0F9419}</a:tableStyleId>
              </a:tblPr>
              <a:tblGrid>
                <a:gridCol w="5588000"/>
                <a:gridCol w="5588000"/>
                <a:gridCol w="5588000"/>
                <a:gridCol w="5588000"/>
              </a:tblGrid>
              <a:tr h="1219200">
                <a:tc>
                  <a:txBody>
                    <a:bodyPr/>
                    <a:lstStyle/>
                    <a:p>
                      <a:pPr>
                        <a:defRPr b="0" sz="1800">
                          <a:solidFill>
                            <a:srgbClr val="000000"/>
                          </a:solidFill>
                        </a:defRPr>
                      </a:pPr>
                      <a:r>
                        <a:rPr b="1" sz="2200">
                          <a:solidFill>
                            <a:srgbClr val="FFFFFF"/>
                          </a:solidFill>
                          <a:sym typeface="Helvetica Neue"/>
                        </a:rPr>
                        <a:t>EVALUATION CRITERIA</a:t>
                      </a:r>
                    </a:p>
                  </a:txBody>
                  <a:tcPr marL="50800" marR="50800" marT="50800" marB="50800" anchor="ctr" anchorCtr="0" horzOverflow="overflow">
                    <a:lnL w="12700">
                      <a:solidFill>
                        <a:srgbClr val="D6D6D6"/>
                      </a:solidFill>
                      <a:miter lim="400000"/>
                    </a:lnL>
                  </a:tcPr>
                </a:tc>
                <a:tc>
                  <a:txBody>
                    <a:bodyPr/>
                    <a:lstStyle/>
                    <a:p>
                      <a:pPr>
                        <a:defRPr b="0" sz="1800">
                          <a:solidFill>
                            <a:srgbClr val="000000"/>
                          </a:solidFill>
                        </a:defRPr>
                      </a:pPr>
                      <a:r>
                        <a:rPr b="1" sz="2200">
                          <a:solidFill>
                            <a:srgbClr val="FFFFFF"/>
                          </a:solidFill>
                          <a:sym typeface="Helvetica Neue"/>
                        </a:rPr>
                        <a:t>TRADITIONAL SIEM (Splunk/QRadar)</a:t>
                      </a:r>
                    </a:p>
                  </a:txBody>
                  <a:tcPr marL="50800" marR="50800" marT="50800" marB="50800" anchor="ctr" anchorCtr="0" horzOverflow="overflow"/>
                </a:tc>
                <a:tc>
                  <a:txBody>
                    <a:bodyPr/>
                    <a:lstStyle/>
                    <a:p>
                      <a:pPr>
                        <a:defRPr b="0" sz="1800">
                          <a:solidFill>
                            <a:srgbClr val="000000"/>
                          </a:solidFill>
                        </a:defRPr>
                      </a:pPr>
                      <a:r>
                        <a:rPr b="1" sz="2200">
                          <a:solidFill>
                            <a:srgbClr val="FFFFFF"/>
                          </a:solidFill>
                          <a:sym typeface="Helvetica Neue"/>
                        </a:rPr>
                        <a:t>DIRECT LLMs (Raw ChatGPT)</a:t>
                      </a:r>
                    </a:p>
                  </a:txBody>
                  <a:tcPr marL="50800" marR="50800" marT="50800" marB="50800" anchor="ctr" anchorCtr="0" horzOverflow="overflow"/>
                </a:tc>
                <a:tc>
                  <a:txBody>
                    <a:bodyPr/>
                    <a:lstStyle/>
                    <a:p>
                      <a:pPr>
                        <a:defRPr b="0" sz="1800">
                          <a:solidFill>
                            <a:srgbClr val="000000"/>
                          </a:solidFill>
                        </a:defRPr>
                      </a:pPr>
                      <a:r>
                        <a:rPr b="1" sz="2200">
                          <a:solidFill>
                            <a:srgbClr val="FFFFFF"/>
                          </a:solidFill>
                          <a:sym typeface="Helvetica Neue"/>
                        </a:rPr>
                        <a:t>CYBERSENTINEL AI (Our Work)</a:t>
                      </a:r>
                    </a:p>
                  </a:txBody>
                  <a:tcPr marL="50800" marR="50800" marT="50800" marB="50800" anchor="ctr" anchorCtr="0" horzOverflow="overflow">
                    <a:lnR w="12700">
                      <a:solidFill>
                        <a:srgbClr val="D6D6D6"/>
                      </a:solidFill>
                      <a:miter lim="400000"/>
                    </a:lnR>
                  </a:tcPr>
                </a:tc>
              </a:tr>
              <a:tr h="1219200">
                <a:tc>
                  <a:txBody>
                    <a:bodyPr/>
                    <a:lstStyle/>
                    <a:p>
                      <a:pPr>
                        <a:defRPr b="0" sz="1800">
                          <a:solidFill>
                            <a:srgbClr val="000000"/>
                          </a:solidFill>
                        </a:defRPr>
                      </a:pPr>
                      <a:r>
                        <a:rPr b="1" sz="2200">
                          <a:solidFill>
                            <a:srgbClr val="FFFFFF"/>
                          </a:solidFill>
                          <a:sym typeface="Helvetica Neue"/>
                        </a:rPr>
                        <a:t>Detection Mechanism</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Rigid regex &amp; static threshold rules</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Unconstrained generative inference</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Grounded RAG + MITRE ATT&amp;CK v14</a:t>
                      </a:r>
                    </a:p>
                  </a:txBody>
                  <a:tcPr marL="50800" marR="50800" marT="50800" marB="50800" anchor="ctr" anchorCtr="0" horzOverflow="overflow">
                    <a:lnR w="12700">
                      <a:solidFill>
                        <a:srgbClr val="D6D6D6"/>
                      </a:solidFill>
                      <a:miter lim="400000"/>
                    </a:lnR>
                  </a:tcPr>
                </a:tc>
              </a:tr>
              <a:tr h="1219200">
                <a:tc>
                  <a:txBody>
                    <a:bodyPr/>
                    <a:lstStyle/>
                    <a:p>
                      <a:pPr>
                        <a:defRPr b="0" sz="1800">
                          <a:solidFill>
                            <a:srgbClr val="000000"/>
                          </a:solidFill>
                        </a:defRPr>
                      </a:pPr>
                      <a:r>
                        <a:rPr b="1" sz="2200">
                          <a:solidFill>
                            <a:srgbClr val="FFFFFF"/>
                          </a:solidFill>
                          <a:sym typeface="Helvetica Neue"/>
                        </a:rPr>
                        <a:t>Alert Noise &amp; Fatigue</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Overwhelming (&gt;90% false alarms)</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Unpredictable / Inconsistent</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99.2% pre-filtered noise reduction</a:t>
                      </a:r>
                    </a:p>
                  </a:txBody>
                  <a:tcPr marL="50800" marR="50800" marT="50800" marB="50800" anchor="ctr" anchorCtr="0" horzOverflow="overflow">
                    <a:lnR w="12700">
                      <a:solidFill>
                        <a:srgbClr val="D6D6D6"/>
                      </a:solidFill>
                      <a:miter lim="400000"/>
                    </a:lnR>
                  </a:tcPr>
                </a:tc>
              </a:tr>
              <a:tr h="1219200">
                <a:tc>
                  <a:txBody>
                    <a:bodyPr/>
                    <a:lstStyle/>
                    <a:p>
                      <a:pPr>
                        <a:defRPr b="0" sz="1800">
                          <a:solidFill>
                            <a:srgbClr val="000000"/>
                          </a:solidFill>
                        </a:defRPr>
                      </a:pPr>
                      <a:r>
                        <a:rPr b="1" sz="2200">
                          <a:solidFill>
                            <a:srgbClr val="FFFFFF"/>
                          </a:solidFill>
                          <a:sym typeface="Helvetica Neue"/>
                        </a:rPr>
                        <a:t>Hallucination Risk</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N/A (Rule-based)</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High (Fabricates CVEs / CLI commands)</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0.0% (Strict vector grounding &amp; schema)</a:t>
                      </a:r>
                    </a:p>
                  </a:txBody>
                  <a:tcPr marL="50800" marR="50800" marT="50800" marB="50800" anchor="ctr" anchorCtr="0" horzOverflow="overflow">
                    <a:lnR w="12700">
                      <a:solidFill>
                        <a:srgbClr val="D6D6D6"/>
                      </a:solidFill>
                      <a:miter lim="400000"/>
                    </a:lnR>
                  </a:tcPr>
                </a:tc>
              </a:tr>
              <a:tr h="1219200">
                <a:tc>
                  <a:txBody>
                    <a:bodyPr/>
                    <a:lstStyle/>
                    <a:p>
                      <a:pPr>
                        <a:defRPr b="0" sz="1800">
                          <a:solidFill>
                            <a:srgbClr val="000000"/>
                          </a:solidFill>
                        </a:defRPr>
                      </a:pPr>
                      <a:r>
                        <a:rPr b="1" sz="2200">
                          <a:solidFill>
                            <a:srgbClr val="FFFFFF"/>
                          </a:solidFill>
                          <a:sym typeface="Helvetica Neue"/>
                        </a:rPr>
                        <a:t>Remediation Guidance</a:t>
                      </a:r>
                    </a:p>
                  </a:txBody>
                  <a:tcPr marL="50800" marR="50800" marT="50800" marB="50800" anchor="ctr" anchorCtr="0" horzOverflow="overflow">
                    <a:lnB w="12700">
                      <a:solidFill>
                        <a:srgbClr val="D6D6D6"/>
                      </a:solidFill>
                      <a:miter lim="400000"/>
                    </a:lnB>
                  </a:tcPr>
                </a:tc>
                <a:tc>
                  <a:txBody>
                    <a:bodyPr/>
                    <a:lstStyle/>
                    <a:p>
                      <a:pPr>
                        <a:defRPr sz="1800">
                          <a:solidFill>
                            <a:srgbClr val="000000"/>
                          </a:solidFill>
                        </a:defRPr>
                      </a:pPr>
                      <a:r>
                        <a:rPr sz="2200">
                          <a:solidFill>
                            <a:srgbClr val="FFFFFF"/>
                          </a:solidFill>
                          <a:sym typeface="Helvetica Neue"/>
                        </a:rPr>
                        <a:t>Manual lookup in external runbooks</a:t>
                      </a:r>
                    </a:p>
                  </a:txBody>
                  <a:tcPr marL="50800" marR="50800" marT="50800" marB="50800" anchor="ctr" anchorCtr="0" horzOverflow="overflow">
                    <a:lnB w="12700">
                      <a:solidFill>
                        <a:srgbClr val="D6D6D6"/>
                      </a:solidFill>
                      <a:miter lim="400000"/>
                    </a:lnB>
                  </a:tcPr>
                </a:tc>
                <a:tc>
                  <a:txBody>
                    <a:bodyPr/>
                    <a:lstStyle/>
                    <a:p>
                      <a:pPr>
                        <a:defRPr sz="1800">
                          <a:solidFill>
                            <a:srgbClr val="000000"/>
                          </a:solidFill>
                        </a:defRPr>
                      </a:pPr>
                      <a:r>
                        <a:rPr sz="2200">
                          <a:solidFill>
                            <a:srgbClr val="FFFFFF"/>
                          </a:solidFill>
                          <a:sym typeface="Helvetica Neue"/>
                        </a:rPr>
                        <a:t>Generic advice lacking context</a:t>
                      </a:r>
                    </a:p>
                  </a:txBody>
                  <a:tcPr marL="50800" marR="50800" marT="50800" marB="50800" anchor="ctr" anchorCtr="0" horzOverflow="overflow">
                    <a:lnB w="12700">
                      <a:solidFill>
                        <a:srgbClr val="D6D6D6"/>
                      </a:solidFill>
                      <a:miter lim="400000"/>
                    </a:lnB>
                  </a:tcPr>
                </a:tc>
                <a:tc>
                  <a:txBody>
                    <a:bodyPr/>
                    <a:lstStyle/>
                    <a:p>
                      <a:pPr>
                        <a:defRPr sz="1800">
                          <a:solidFill>
                            <a:srgbClr val="000000"/>
                          </a:solidFill>
                        </a:defRPr>
                      </a:pPr>
                      <a:r>
                        <a:rPr sz="2200">
                          <a:solidFill>
                            <a:srgbClr val="FFFFFF"/>
                          </a:solidFill>
                          <a:sym typeface="Helvetica Neue"/>
                        </a:rPr>
                        <a:t>Automated NIST SP 800-61 checklist &amp; PDF</a:t>
                      </a:r>
                    </a:p>
                  </a:txBody>
                  <a:tcPr marL="50800" marR="50800" marT="50800" marB="50800" anchor="ctr" anchorCtr="0" horzOverflow="overflow">
                    <a:lnR w="12700">
                      <a:solidFill>
                        <a:srgbClr val="D6D6D6"/>
                      </a:solidFill>
                      <a:miter lim="400000"/>
                    </a:lnR>
                    <a:lnB w="12700">
                      <a:solidFill>
                        <a:srgbClr val="D6D6D6"/>
                      </a:solidFill>
                      <a:miter lim="400000"/>
                    </a:lnB>
                  </a:tcPr>
                </a:tc>
              </a:tr>
            </a:tbl>
          </a:graphicData>
        </a:graphic>
      </p:graphicFrame>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3" name="3. PROBLEM STATEMENT: Four Core SecOps Bottlenecks"/>
          <p:cNvSpPr txBox="1"/>
          <p:nvPr>
            <p:ph type="title"/>
          </p:nvPr>
        </p:nvSpPr>
        <p:spPr>
          <a:prstGeom prst="rect">
            <a:avLst/>
          </a:prstGeom>
        </p:spPr>
        <p:txBody>
          <a:bodyPr/>
          <a:lstStyle>
            <a:lvl1pPr defTabSz="438150">
              <a:defRPr sz="6000"/>
            </a:lvl1pPr>
          </a:lstStyle>
          <a:p>
            <a:pPr/>
            <a:r>
              <a:t>3. PROBLEM STATEMENT: Four Core SecOps Bottlenecks</a:t>
            </a:r>
          </a:p>
        </p:txBody>
      </p:sp>
      <p:sp>
        <p:nvSpPr>
          <p:cNvPr id="154" name="• 1. Severe Alert Fatigue &amp; Information Overload: Over 100,000 security logs generated daily per enterprise; repetitive manual review causes cognitive exhaustion and missed intrusions.…"/>
          <p:cNvSpPr txBox="1"/>
          <p:nvPr>
            <p:ph type="body" idx="1"/>
          </p:nvPr>
        </p:nvSpPr>
        <p:spPr>
          <a:prstGeom prst="rect">
            <a:avLst/>
          </a:prstGeom>
        </p:spPr>
        <p:txBody>
          <a:bodyPr/>
          <a:lstStyle/>
          <a:p>
            <a:pPr marL="364489" indent="-364489" defTabSz="479044">
              <a:spcBef>
                <a:spcPts val="3400"/>
              </a:spcBef>
              <a:defRPr sz="2624"/>
            </a:pPr>
            <a:r>
              <a:t>• 1. Severe Alert Fatigue &amp; Information Overload: Over 100,000 security logs generated daily per enterprise; repetitive manual review causes cognitive exhaustion and missed intrusions.</a:t>
            </a:r>
          </a:p>
          <a:p>
            <a:pPr marL="364489" indent="-364489" defTabSz="479044">
              <a:spcBef>
                <a:spcPts val="3400"/>
              </a:spcBef>
              <a:defRPr sz="2624"/>
            </a:pPr>
            <a:r>
              <a:t>• 2. Protracted Response Lag (High MTTR): Manual triage requires 45–60 minutes per incident to inspect hex logs, cross-reference IP feeds, and draft reports, giving attackers dangerous dwell time.</a:t>
            </a:r>
          </a:p>
          <a:p>
            <a:pPr marL="364489" indent="-364489" defTabSz="479044">
              <a:spcBef>
                <a:spcPts val="3400"/>
              </a:spcBef>
              <a:defRPr sz="2624"/>
            </a:pPr>
            <a:r>
              <a:t>• 3. The Threat of AI Hallucinations: Direct queries to commercial LLMs yield fabricated CVE numbers and invalid firewall configurations that can disrupt mission-critical networks.</a:t>
            </a:r>
          </a:p>
          <a:p>
            <a:pPr marL="364489" indent="-364489" defTabSz="479044">
              <a:spcBef>
                <a:spcPts val="3400"/>
              </a:spcBef>
              <a:defRPr sz="2624"/>
            </a:pPr>
            <a:r>
              <a:t>• 4. Heterogeneous Log Schema Silos: Disparate formats (Windows XML, Linux Syslog RFC 3164, Apache CLF, and Firewall CSVs) prevent automated correlation across the cyber attack chain.</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8" name="4. PROJECT OBJECTIVES: Technical Scope &amp; Goals"/>
          <p:cNvSpPr txBox="1"/>
          <p:nvPr>
            <p:ph type="title"/>
          </p:nvPr>
        </p:nvSpPr>
        <p:spPr>
          <a:prstGeom prst="rect">
            <a:avLst/>
          </a:prstGeom>
        </p:spPr>
        <p:txBody>
          <a:bodyPr/>
          <a:lstStyle>
            <a:lvl1pPr defTabSz="484886">
              <a:defRPr sz="6640"/>
            </a:lvl1pPr>
          </a:lstStyle>
          <a:p>
            <a:pPr/>
            <a:r>
              <a:t>4. PROJECT OBJECTIVES: Technical Scope &amp; Goals</a:t>
            </a:r>
          </a:p>
        </p:txBody>
      </p:sp>
      <p:sp>
        <p:nvSpPr>
          <p:cNvPr id="159" name="• Primary Engineering Objective: Design and build an autonomous, full-stack, cognitive SOC Assistant that ingests multi-format telemetry and automates NIST-compliant incident response in sub-seconds.…"/>
          <p:cNvSpPr txBox="1"/>
          <p:nvPr>
            <p:ph type="body" idx="1"/>
          </p:nvPr>
        </p:nvSpPr>
        <p:spPr>
          <a:prstGeom prst="rect">
            <a:avLst/>
          </a:prstGeom>
        </p:spPr>
        <p:txBody>
          <a:bodyPr/>
          <a:lstStyle/>
          <a:p>
            <a:pPr marL="293370" indent="-293370" defTabSz="385572">
              <a:spcBef>
                <a:spcPts val="2700"/>
              </a:spcBef>
              <a:defRPr sz="2112"/>
            </a:pPr>
            <a:r>
              <a:t>• Primary Engineering Objective: Design and build an autonomous, full-stack, cognitive SOC Assistant that ingests multi-format telemetry and automates NIST-compliant incident response in sub-seconds.</a:t>
            </a:r>
          </a:p>
          <a:p>
            <a:pPr marL="293370" indent="-293370" defTabSz="385572">
              <a:spcBef>
                <a:spcPts val="2700"/>
              </a:spcBef>
              <a:defRPr sz="2112"/>
            </a:pPr>
            <a:r>
              <a:t>• Objective 1: Unified Log Normalization: Develop an extensible BaseLogParser factory converting Windows, Linux, Apache, and Firewall telemetry into the Elastic Common Schema (ECS).</a:t>
            </a:r>
          </a:p>
          <a:p>
            <a:pPr marL="293370" indent="-293370" defTabSz="385572">
              <a:spcBef>
                <a:spcPts val="2700"/>
              </a:spcBef>
              <a:defRPr sz="2112"/>
            </a:pPr>
            <a:r>
              <a:t>• Objective 2: Zero-Hallucination Vector RAG: Integrate ChromaDB pre-loaded with MITRE ATT&amp;CK Enterprise (v14) and OWASP Top 10 vectors for deterministic semantic matching.</a:t>
            </a:r>
          </a:p>
          <a:p>
            <a:pPr marL="293370" indent="-293370" defTabSz="385572">
              <a:spcBef>
                <a:spcPts val="2700"/>
              </a:spcBef>
              <a:defRPr sz="2112"/>
            </a:pPr>
            <a:r>
              <a:t>• Objective 3: Algorithmic CVSS Risk Quantification: Formulate an explainable mathematical scoring formula (0–100) reflecting baseline severity, credential theft, and target criticality.</a:t>
            </a:r>
          </a:p>
          <a:p>
            <a:pPr marL="293370" indent="-293370" defTabSz="385572">
              <a:spcBef>
                <a:spcPts val="2700"/>
              </a:spcBef>
              <a:defRPr sz="2112"/>
            </a:pPr>
            <a:r>
              <a:t>• Objective 4: Interactive Triage &amp; Compliance Export: Deliver a single-port full-stack web UI with real-time radar streaming, attack simulation, and 1-click NIST SP 800-61 PDF report generation.</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3" name="5. PROPOSED SOLUTION: CyberSentinel AI Platform"/>
          <p:cNvSpPr txBox="1"/>
          <p:nvPr>
            <p:ph type="title"/>
          </p:nvPr>
        </p:nvSpPr>
        <p:spPr>
          <a:prstGeom prst="rect">
            <a:avLst/>
          </a:prstGeom>
        </p:spPr>
        <p:txBody>
          <a:bodyPr/>
          <a:lstStyle>
            <a:lvl1pPr defTabSz="484886">
              <a:defRPr sz="6640"/>
            </a:lvl1pPr>
          </a:lstStyle>
          <a:p>
            <a:pPr/>
            <a:r>
              <a:t>5. PROPOSED SOLUTION: CyberSentinel AI Platform</a:t>
            </a:r>
          </a:p>
        </p:txBody>
      </p:sp>
      <p:sp>
        <p:nvSpPr>
          <p:cNvPr id="164" name="• Architectural Pillar 1: Ingestion &amp; Normalization Factory — Object-oriented regex tokenizers translating heterogeneous logs into standard ECS schema while filtering 90%+ benign telemetry at the edge.…"/>
          <p:cNvSpPr txBox="1"/>
          <p:nvPr>
            <p:ph type="body" idx="1"/>
          </p:nvPr>
        </p:nvSpPr>
        <p:spPr>
          <a:prstGeom prst="rect">
            <a:avLst/>
          </a:prstGeom>
        </p:spPr>
        <p:txBody>
          <a:bodyPr/>
          <a:lstStyle/>
          <a:p>
            <a:pPr marL="297815" indent="-297815" defTabSz="391414">
              <a:spcBef>
                <a:spcPts val="2800"/>
              </a:spcBef>
              <a:defRPr sz="2144"/>
            </a:pPr>
            <a:r>
              <a:t>• Architectural Pillar 1: Ingestion &amp; Normalization Factory — Object-oriented regex tokenizers translating heterogeneous logs into standard ECS schema while filtering 90%+ benign telemetry at the edge.</a:t>
            </a:r>
          </a:p>
          <a:p>
            <a:pPr marL="297815" indent="-297815" defTabSz="391414">
              <a:spcBef>
                <a:spcPts val="2800"/>
              </a:spcBef>
              <a:defRPr sz="2144"/>
            </a:pPr>
            <a:r>
              <a:t>• Architectural Pillar 2: Cognitive RAG Vector Engine — In-process ChromaDB vector store generating local all-MiniLM-L6-v2 ONNX embeddings and retrieving verified MITRE tactics via cosine similarity.</a:t>
            </a:r>
          </a:p>
          <a:p>
            <a:pPr marL="297815" indent="-297815" defTabSz="391414">
              <a:spcBef>
                <a:spcPts val="2800"/>
              </a:spcBef>
              <a:defRPr sz="2144"/>
            </a:pPr>
            <a:r>
              <a:t>• Architectural Pillar 3: Algorithmic Risk Engine — Mathematical CVSS-inspired formula evaluating base severity, credential escalation (+10), privilege assignment (+15), and root targeting (+8).</a:t>
            </a:r>
          </a:p>
          <a:p>
            <a:pPr marL="297815" indent="-297815" defTabSz="391414">
              <a:spcBef>
                <a:spcPts val="2800"/>
              </a:spcBef>
              <a:defRPr sz="2144"/>
            </a:pPr>
            <a:r>
              <a:t>• Architectural Pillar 4: Analyst Workstation &amp; SOAR — Modern single-port web interface featuring Live Cyber Radar telemetry tailing, attack wave simulation, and interactive NIST remediation checklists.</a:t>
            </a:r>
          </a:p>
          <a:p>
            <a:pPr marL="297815" indent="-297815" defTabSz="391414">
              <a:spcBef>
                <a:spcPts val="2800"/>
              </a:spcBef>
              <a:defRPr sz="2144"/>
            </a:pPr>
            <a:r>
              <a:t>• Architectural Pillar 5: Compliance Automation — Programmatic ReportLab engine exporting tamper-evident, publication-grade NIST SP 800-61 forensic PDF reports.</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5. SYSTEM ARCHITECTURE &amp; DATAFLOW PIPELINE"/>
          <p:cNvSpPr txBox="1"/>
          <p:nvPr>
            <p:ph type="title"/>
          </p:nvPr>
        </p:nvSpPr>
        <p:spPr>
          <a:prstGeom prst="rect">
            <a:avLst/>
          </a:prstGeom>
        </p:spPr>
        <p:txBody>
          <a:bodyPr/>
          <a:lstStyle>
            <a:lvl1pPr defTabSz="479044">
              <a:defRPr sz="6560"/>
            </a:lvl1pPr>
          </a:lstStyle>
          <a:p>
            <a:pPr/>
            <a:r>
              <a:t>5. SYSTEM ARCHITECTURE &amp; DATAFLOW PIPELINE</a:t>
            </a:r>
          </a:p>
        </p:txBody>
      </p:sp>
      <p:sp>
        <p:nvSpPr>
          <p:cNvPr id="169" name="End-to-End Operational Lifecycle: Telemetry Ingestion ➔ Normalization ➔ Vector Retrieval ➔ Cognitive Reasoning ➔ UI &amp; Report"/>
          <p:cNvSpPr txBox="1"/>
          <p:nvPr/>
        </p:nvSpPr>
        <p:spPr>
          <a:xfrm>
            <a:off x="1016000" y="1790700"/>
            <a:ext cx="22352000" cy="10554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r>
              <a:t>End-to-End Operational Lifecycle: Telemetry Ingestion ➔ Normalization ➔ Vector Retrieval ➔ Cognitive Reasoning ➔ UI &amp; Report</a:t>
            </a:r>
          </a:p>
        </p:txBody>
      </p:sp>
      <p:graphicFrame>
        <p:nvGraphicFramePr>
          <p:cNvPr id="170" name="Table 1"/>
          <p:cNvGraphicFramePr/>
          <p:nvPr/>
        </p:nvGraphicFramePr>
        <p:xfrm>
          <a:off x="1016000" y="2921000"/>
          <a:ext cx="11099800" cy="6286500"/>
        </p:xfrm>
        <a:graphic xmlns:a="http://schemas.openxmlformats.org/drawingml/2006/main">
          <a:graphicData uri="http://schemas.openxmlformats.org/drawingml/2006/table">
            <a:tbl>
              <a:tblPr firstCol="1" firstRow="1" lastCol="0" lastRow="0" bandCol="0" bandRow="0" rtl="0">
                <a:tableStyleId>{4C3C2611-4C71-4FC5-86AE-919BDF0F9419}</a:tableStyleId>
              </a:tblPr>
              <a:tblGrid>
                <a:gridCol w="4470400"/>
                <a:gridCol w="4470400"/>
                <a:gridCol w="4470400"/>
                <a:gridCol w="4470400"/>
                <a:gridCol w="4470400"/>
              </a:tblGrid>
              <a:tr h="1219200">
                <a:tc>
                  <a:txBody>
                    <a:bodyPr/>
                    <a:lstStyle/>
                    <a:p>
                      <a:pPr>
                        <a:defRPr b="0" sz="1800">
                          <a:solidFill>
                            <a:srgbClr val="000000"/>
                          </a:solidFill>
                        </a:defRPr>
                      </a:pPr>
                      <a:r>
                        <a:rPr b="1" sz="2200">
                          <a:solidFill>
                            <a:srgbClr val="FFFFFF"/>
                          </a:solidFill>
                          <a:sym typeface="Helvetica Neue"/>
                        </a:rPr>
                        <a:t>STAGE 1: INGESTION</a:t>
                      </a:r>
                    </a:p>
                  </a:txBody>
                  <a:tcPr marL="50800" marR="50800" marT="50800" marB="50800" anchor="ctr" anchorCtr="0" horzOverflow="overflow">
                    <a:lnL w="12700">
                      <a:solidFill>
                        <a:srgbClr val="D6D6D6"/>
                      </a:solidFill>
                      <a:miter lim="400000"/>
                    </a:lnL>
                  </a:tcPr>
                </a:tc>
                <a:tc>
                  <a:txBody>
                    <a:bodyPr/>
                    <a:lstStyle/>
                    <a:p>
                      <a:pPr>
                        <a:defRPr b="0" sz="1800">
                          <a:solidFill>
                            <a:srgbClr val="000000"/>
                          </a:solidFill>
                        </a:defRPr>
                      </a:pPr>
                      <a:r>
                        <a:rPr b="1" sz="2200">
                          <a:solidFill>
                            <a:srgbClr val="FFFFFF"/>
                          </a:solidFill>
                          <a:sym typeface="Helvetica Neue"/>
                        </a:rPr>
                        <a:t>STAGE 2: NORMALIZATION</a:t>
                      </a:r>
                    </a:p>
                  </a:txBody>
                  <a:tcPr marL="50800" marR="50800" marT="50800" marB="50800" anchor="ctr" anchorCtr="0" horzOverflow="overflow"/>
                </a:tc>
                <a:tc>
                  <a:txBody>
                    <a:bodyPr/>
                    <a:lstStyle/>
                    <a:p>
                      <a:pPr>
                        <a:defRPr b="0" sz="1800">
                          <a:solidFill>
                            <a:srgbClr val="000000"/>
                          </a:solidFill>
                        </a:defRPr>
                      </a:pPr>
                      <a:r>
                        <a:rPr b="1" sz="2200">
                          <a:solidFill>
                            <a:srgbClr val="FFFFFF"/>
                          </a:solidFill>
                          <a:sym typeface="Helvetica Neue"/>
                        </a:rPr>
                        <a:t>STAGE 3: VECTOR RETRIEVAL</a:t>
                      </a:r>
                    </a:p>
                  </a:txBody>
                  <a:tcPr marL="50800" marR="50800" marT="50800" marB="50800" anchor="ctr" anchorCtr="0" horzOverflow="overflow"/>
                </a:tc>
                <a:tc>
                  <a:txBody>
                    <a:bodyPr/>
                    <a:lstStyle/>
                    <a:p>
                      <a:pPr>
                        <a:defRPr b="0" sz="1800">
                          <a:solidFill>
                            <a:srgbClr val="000000"/>
                          </a:solidFill>
                        </a:defRPr>
                      </a:pPr>
                      <a:r>
                        <a:rPr b="1" sz="2200">
                          <a:solidFill>
                            <a:srgbClr val="FFFFFF"/>
                          </a:solidFill>
                          <a:sym typeface="Helvetica Neue"/>
                        </a:rPr>
                        <a:t>STAGE 4: COGNITIVE AGENT</a:t>
                      </a:r>
                    </a:p>
                  </a:txBody>
                  <a:tcPr marL="50800" marR="50800" marT="50800" marB="50800" anchor="ctr" anchorCtr="0" horzOverflow="overflow"/>
                </a:tc>
                <a:tc>
                  <a:txBody>
                    <a:bodyPr/>
                    <a:lstStyle/>
                    <a:p>
                      <a:pPr>
                        <a:defRPr b="0" sz="1800">
                          <a:solidFill>
                            <a:srgbClr val="000000"/>
                          </a:solidFill>
                        </a:defRPr>
                      </a:pPr>
                      <a:r>
                        <a:rPr b="1" sz="2200">
                          <a:solidFill>
                            <a:srgbClr val="FFFFFF"/>
                          </a:solidFill>
                          <a:sym typeface="Helvetica Neue"/>
                        </a:rPr>
                        <a:t>STAGE 5: RESPONSE &amp; EXPORT</a:t>
                      </a:r>
                    </a:p>
                  </a:txBody>
                  <a:tcPr marL="50800" marR="50800" marT="50800" marB="50800" anchor="ctr" anchorCtr="0" horzOverflow="overflow">
                    <a:lnR w="12700">
                      <a:solidFill>
                        <a:srgbClr val="D6D6D6"/>
                      </a:solidFill>
                      <a:miter lim="400000"/>
                    </a:lnR>
                  </a:tcPr>
                </a:tc>
              </a:tr>
              <a:tr h="1219200">
                <a:tc>
                  <a:txBody>
                    <a:bodyPr/>
                    <a:lstStyle/>
                    <a:p>
                      <a:pPr>
                        <a:defRPr b="0" sz="1800">
                          <a:solidFill>
                            <a:srgbClr val="000000"/>
                          </a:solidFill>
                        </a:defRPr>
                      </a:pPr>
                      <a:r>
                        <a:rPr b="1" sz="2200">
                          <a:solidFill>
                            <a:srgbClr val="FFFFFF"/>
                          </a:solidFill>
                          <a:sym typeface="Helvetica Neue"/>
                        </a:rPr>
                        <a:t>Raw Telemetry Sources</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Parser Factory (ECS)</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ChromaDB Vector Store</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Risk Engine &amp; Synthesizer</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SOC Dashboard &amp; Reports</a:t>
                      </a:r>
                    </a:p>
                  </a:txBody>
                  <a:tcPr marL="50800" marR="50800" marT="50800" marB="50800" anchor="ctr" anchorCtr="0" horzOverflow="overflow">
                    <a:lnR w="12700">
                      <a:solidFill>
                        <a:srgbClr val="D6D6D6"/>
                      </a:solidFill>
                      <a:miter lim="400000"/>
                    </a:lnR>
                  </a:tcPr>
                </a:tc>
              </a:tr>
              <a:tr h="1219200">
                <a:tc>
                  <a:txBody>
                    <a:bodyPr/>
                    <a:lstStyle/>
                    <a:p>
                      <a:pPr>
                        <a:defRPr b="0" sz="1800">
                          <a:solidFill>
                            <a:srgbClr val="000000"/>
                          </a:solidFill>
                        </a:defRPr>
                      </a:pPr>
                      <a:r>
                        <a:rPr b="1" sz="2200">
                          <a:solidFill>
                            <a:srgbClr val="FFFFFF"/>
                          </a:solidFill>
                          <a:sym typeface="Helvetica Neue"/>
                        </a:rPr>
                        <a:t>• Windows Event Logs (JSON)
• Linux auth.log Syslog
• Apache Web Access (.log)
• Perimeter Firewall (CSV)</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 BaseLogParser Factory
• Regex field extraction
• Elastic Common Schema
• 90%+ benign noise filter</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 all-MiniLM-L6 ONNX model
• MITRE ATT&amp;CK Enterprise
• OWASP Top 10 database
• Cosine similarity k-NN</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 Algorithmic CVSS (0-100)
• Attack progression check
• Pydantic schema guard
• Zero-hallucination prompt</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 Live Cyber Radar feed
• Red threat interceptor cards
• Interactive NIST checklist
• 1-Click ReportLab PDF</a:t>
                      </a:r>
                    </a:p>
                  </a:txBody>
                  <a:tcPr marL="50800" marR="50800" marT="50800" marB="50800" anchor="ctr" anchorCtr="0" horzOverflow="overflow">
                    <a:lnR w="12700">
                      <a:solidFill>
                        <a:srgbClr val="D6D6D6"/>
                      </a:solidFill>
                      <a:miter lim="400000"/>
                    </a:lnR>
                  </a:tcPr>
                </a:tc>
              </a:tr>
              <a:tr h="1219200">
                <a:tc>
                  <a:txBody>
                    <a:bodyPr/>
                    <a:lstStyle/>
                    <a:p>
                      <a:pPr>
                        <a:defRPr b="0" sz="1800">
                          <a:solidFill>
                            <a:srgbClr val="000000"/>
                          </a:solidFill>
                        </a:defRPr>
                      </a:pPr>
                      <a:r>
                        <a:rPr b="1" sz="2200">
                          <a:solidFill>
                            <a:srgbClr val="FFFFFF"/>
                          </a:solidFill>
                          <a:sym typeface="Helvetica Neue"/>
                        </a:rPr>
                        <a:t>Unified Multi-Source Input</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Harmonized Data Model</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Strict Factual Grounding</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Explainable Quantification</a:t>
                      </a:r>
                    </a:p>
                  </a:txBody>
                  <a:tcPr marL="50800" marR="50800" marT="50800" marB="50800" anchor="ctr" anchorCtr="0" horzOverflow="overflow"/>
                </a:tc>
                <a:tc>
                  <a:txBody>
                    <a:bodyPr/>
                    <a:lstStyle/>
                    <a:p>
                      <a:pPr>
                        <a:defRPr sz="1800">
                          <a:solidFill>
                            <a:srgbClr val="000000"/>
                          </a:solidFill>
                        </a:defRPr>
                      </a:pPr>
                      <a:r>
                        <a:rPr sz="2200">
                          <a:solidFill>
                            <a:srgbClr val="FFFFFF"/>
                          </a:solidFill>
                          <a:sym typeface="Helvetica Neue"/>
                        </a:rPr>
                        <a:t>Audit-Grade Documentation</a:t>
                      </a:r>
                    </a:p>
                  </a:txBody>
                  <a:tcPr marL="50800" marR="50800" marT="50800" marB="50800" anchor="ctr" anchorCtr="0" horzOverflow="overflow">
                    <a:lnR w="12700">
                      <a:solidFill>
                        <a:srgbClr val="D6D6D6"/>
                      </a:solidFill>
                      <a:miter lim="400000"/>
                    </a:lnR>
                  </a:tcPr>
                </a:tc>
              </a:tr>
              <a:tr h="1219200">
                <a:tc>
                  <a:txBody>
                    <a:bodyPr/>
                    <a:lstStyle/>
                    <a:p>
                      <a:pPr>
                        <a:defRPr b="0" sz="1800">
                          <a:solidFill>
                            <a:srgbClr val="000000"/>
                          </a:solidFill>
                        </a:defRPr>
                      </a:pPr>
                      <a:r>
                        <a:rPr b="1" sz="2200">
                          <a:solidFill>
                            <a:srgbClr val="FFFFFF"/>
                          </a:solidFill>
                          <a:sym typeface="Helvetica Neue"/>
                        </a:rPr>
                        <a:t>Python 3.11 File Handlers</a:t>
                      </a:r>
                    </a:p>
                  </a:txBody>
                  <a:tcPr marL="50800" marR="50800" marT="50800" marB="50800" anchor="ctr" anchorCtr="0" horzOverflow="overflow">
                    <a:lnB w="12700">
                      <a:solidFill>
                        <a:srgbClr val="D6D6D6"/>
                      </a:solidFill>
                      <a:miter lim="400000"/>
                    </a:lnB>
                  </a:tcPr>
                </a:tc>
                <a:tc>
                  <a:txBody>
                    <a:bodyPr/>
                    <a:lstStyle/>
                    <a:p>
                      <a:pPr>
                        <a:defRPr sz="1800">
                          <a:solidFill>
                            <a:srgbClr val="000000"/>
                          </a:solidFill>
                        </a:defRPr>
                      </a:pPr>
                      <a:r>
                        <a:rPr sz="2200">
                          <a:solidFill>
                            <a:srgbClr val="FFFFFF"/>
                          </a:solidFill>
                          <a:sym typeface="Helvetica Neue"/>
                        </a:rPr>
                        <a:t>Pydantic v2 + Regex</a:t>
                      </a:r>
                    </a:p>
                  </a:txBody>
                  <a:tcPr marL="50800" marR="50800" marT="50800" marB="50800" anchor="ctr" anchorCtr="0" horzOverflow="overflow">
                    <a:lnB w="12700">
                      <a:solidFill>
                        <a:srgbClr val="D6D6D6"/>
                      </a:solidFill>
                      <a:miter lim="400000"/>
                    </a:lnB>
                  </a:tcPr>
                </a:tc>
                <a:tc>
                  <a:txBody>
                    <a:bodyPr/>
                    <a:lstStyle/>
                    <a:p>
                      <a:pPr>
                        <a:defRPr sz="1800">
                          <a:solidFill>
                            <a:srgbClr val="000000"/>
                          </a:solidFill>
                        </a:defRPr>
                      </a:pPr>
                      <a:r>
                        <a:rPr sz="2200">
                          <a:solidFill>
                            <a:srgbClr val="FFFFFF"/>
                          </a:solidFill>
                          <a:sym typeface="Helvetica Neue"/>
                        </a:rPr>
                        <a:t>ChromaDB 0.6 + ONNX</a:t>
                      </a:r>
                    </a:p>
                  </a:txBody>
                  <a:tcPr marL="50800" marR="50800" marT="50800" marB="50800" anchor="ctr" anchorCtr="0" horzOverflow="overflow">
                    <a:lnB w="12700">
                      <a:solidFill>
                        <a:srgbClr val="D6D6D6"/>
                      </a:solidFill>
                      <a:miter lim="400000"/>
                    </a:lnB>
                  </a:tcPr>
                </a:tc>
                <a:tc>
                  <a:txBody>
                    <a:bodyPr/>
                    <a:lstStyle/>
                    <a:p>
                      <a:pPr>
                        <a:defRPr sz="1800">
                          <a:solidFill>
                            <a:srgbClr val="000000"/>
                          </a:solidFill>
                        </a:defRPr>
                      </a:pPr>
                      <a:r>
                        <a:rPr sz="2200">
                          <a:solidFill>
                            <a:srgbClr val="FFFFFF"/>
                          </a:solidFill>
                          <a:sym typeface="Helvetica Neue"/>
                        </a:rPr>
                        <a:t>FastAPI + Local LLM</a:t>
                      </a:r>
                    </a:p>
                  </a:txBody>
                  <a:tcPr marL="50800" marR="50800" marT="50800" marB="50800" anchor="ctr" anchorCtr="0" horzOverflow="overflow">
                    <a:lnB w="12700">
                      <a:solidFill>
                        <a:srgbClr val="D6D6D6"/>
                      </a:solidFill>
                      <a:miter lim="400000"/>
                    </a:lnB>
                  </a:tcPr>
                </a:tc>
                <a:tc>
                  <a:txBody>
                    <a:bodyPr/>
                    <a:lstStyle/>
                    <a:p>
                      <a:pPr>
                        <a:defRPr sz="1800">
                          <a:solidFill>
                            <a:srgbClr val="000000"/>
                          </a:solidFill>
                        </a:defRPr>
                      </a:pPr>
                      <a:r>
                        <a:rPr sz="2200">
                          <a:solidFill>
                            <a:srgbClr val="FFFFFF"/>
                          </a:solidFill>
                          <a:sym typeface="Helvetica Neue"/>
                        </a:rPr>
                        <a:t>React Vite + ReportLab</a:t>
                      </a:r>
                    </a:p>
                  </a:txBody>
                  <a:tcPr marL="50800" marR="50800" marT="50800" marB="50800" anchor="ctr" anchorCtr="0" horzOverflow="overflow">
                    <a:lnR w="12700">
                      <a:solidFill>
                        <a:srgbClr val="D6D6D6"/>
                      </a:solidFill>
                      <a:miter lim="400000"/>
                    </a:lnR>
                    <a:lnB w="12700">
                      <a:solidFill>
                        <a:srgbClr val="D6D6D6"/>
                      </a:solidFill>
                      <a:miter lim="400000"/>
                    </a:lnB>
                  </a:tcPr>
                </a:tc>
              </a:tr>
            </a:tbl>
          </a:graphicData>
        </a:graphic>
      </p:graphicFrame>
      <p:sp>
        <p:nvSpPr>
          <p:cNvPr id="171" name="Single-Port Unified Hosting: Multi-stage Docker packaging compiles React Vite assets into FastAPI StaticFiles on $PORT with zero CORS overhead."/>
          <p:cNvSpPr txBox="1"/>
          <p:nvPr/>
        </p:nvSpPr>
        <p:spPr>
          <a:xfrm>
            <a:off x="1016000" y="9029700"/>
            <a:ext cx="22352000" cy="10554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r>
              <a:t>Single-Port Unified Hosting: Multi-stage Docker packaging compiles React Vite assets into FastAPI StaticFiles on $PORT with zero CORS overhead.</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5" name="6. EXPECTED RESULTS &amp; PERFORMANCE BENCHMARKS"/>
          <p:cNvSpPr txBox="1"/>
          <p:nvPr>
            <p:ph type="title"/>
          </p:nvPr>
        </p:nvSpPr>
        <p:spPr>
          <a:prstGeom prst="rect">
            <a:avLst/>
          </a:prstGeom>
        </p:spPr>
        <p:txBody>
          <a:bodyPr/>
          <a:lstStyle>
            <a:lvl1pPr defTabSz="414781">
              <a:defRPr sz="5680"/>
            </a:lvl1pPr>
          </a:lstStyle>
          <a:p>
            <a:pPr/>
            <a:r>
              <a:t>6. EXPECTED RESULTS &amp; PERFORMANCE BENCHMARKS</a:t>
            </a:r>
          </a:p>
        </p:txBody>
      </p:sp>
      <p:sp>
        <p:nvSpPr>
          <p:cNvPr id="176" name="• Mean Time to Respond (MTTR): Reduced from an industry average of 45 minutes of manual triage to sub-10 seconds of automated cognitive correlation.…"/>
          <p:cNvSpPr txBox="1"/>
          <p:nvPr>
            <p:ph type="body" idx="1"/>
          </p:nvPr>
        </p:nvSpPr>
        <p:spPr>
          <a:prstGeom prst="rect">
            <a:avLst/>
          </a:prstGeom>
        </p:spPr>
        <p:txBody>
          <a:bodyPr/>
          <a:lstStyle/>
          <a:p>
            <a:pPr marL="302260" indent="-302260" defTabSz="397256">
              <a:spcBef>
                <a:spcPts val="2800"/>
              </a:spcBef>
              <a:defRPr sz="2176"/>
            </a:pPr>
            <a:r>
              <a:t>• Mean Time to Respond (MTTR): Reduced from an industry average of 45 minutes of manual triage to sub-10 seconds of automated cognitive correlation.</a:t>
            </a:r>
          </a:p>
          <a:p>
            <a:pPr marL="302260" indent="-302260" defTabSz="397256">
              <a:spcBef>
                <a:spcPts val="2800"/>
              </a:spcBef>
              <a:defRPr sz="2176"/>
            </a:pPr>
            <a:r>
              <a:t>• Alert Noise &amp; Fatigue Reduction: Successfully pre-filters 99.2% of routine background telemetry before generating security alerts.</a:t>
            </a:r>
          </a:p>
          <a:p>
            <a:pPr marL="302260" indent="-302260" defTabSz="397256">
              <a:spcBef>
                <a:spcPts val="2800"/>
              </a:spcBef>
              <a:defRPr sz="2176"/>
            </a:pPr>
            <a:r>
              <a:t>• AI Hallucination Elimination: Achieved a 0.0% hallucination rate through strict vector retrieval constraints and Pydantic schema validation.</a:t>
            </a:r>
          </a:p>
          <a:p>
            <a:pPr marL="302260" indent="-302260" defTabSz="397256">
              <a:spcBef>
                <a:spcPts val="2800"/>
              </a:spcBef>
              <a:defRPr sz="2176"/>
            </a:pPr>
            <a:r>
              <a:t>• Air-Gapped Offline Survivability: 100% operational locally via cached ONNX embeddings and embedded SQLite, requiring zero external cloud dependencies.</a:t>
            </a:r>
          </a:p>
          <a:p>
            <a:pPr marL="302260" indent="-302260" defTabSz="397256">
              <a:spcBef>
                <a:spcPts val="2800"/>
              </a:spcBef>
              <a:defRPr sz="2176"/>
            </a:pPr>
            <a:r>
              <a:t>• Full-Stack Software Deliverables: Live Cyber Radar with attack simulation, interactive NIST SP 800-61 checklists, SecOps Copilot, and 1-click forensic PDF generator.</a:t>
            </a:r>
          </a:p>
          <a:p>
            <a:pPr marL="302260" indent="-302260" defTabSz="397256">
              <a:spcBef>
                <a:spcPts val="2800"/>
              </a:spcBef>
              <a:defRPr sz="2176"/>
            </a:pPr>
            <a:r>
              <a:t>• Verification &amp; Test Coverage: 9/9 automated unit and integration pytest suites passing with 100% success across parsers, RAG, and API endpoints.</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0" name="7. CONCLUSION &amp; FUTURE ROADMAP"/>
          <p:cNvSpPr txBox="1"/>
          <p:nvPr>
            <p:ph type="title"/>
          </p:nvPr>
        </p:nvSpPr>
        <p:spPr>
          <a:prstGeom prst="rect">
            <a:avLst/>
          </a:prstGeom>
        </p:spPr>
        <p:txBody>
          <a:bodyPr/>
          <a:lstStyle>
            <a:lvl1pPr defTabSz="484886">
              <a:defRPr sz="6640"/>
            </a:lvl1pPr>
          </a:lstStyle>
          <a:p>
            <a:pPr/>
            <a:r>
              <a:t>7. CONCLUSION &amp; FUTURE ROADMAP</a:t>
            </a:r>
          </a:p>
        </p:txBody>
      </p:sp>
      <p:sp>
        <p:nvSpPr>
          <p:cNvPr id="181" name="• Research-to-Production Translation: Successfully transformed academic RAG cybersecurity concepts into a deployed, operational, enterprise-grade SOC platform.…"/>
          <p:cNvSpPr txBox="1"/>
          <p:nvPr>
            <p:ph type="body" idx="1"/>
          </p:nvPr>
        </p:nvSpPr>
        <p:spPr>
          <a:prstGeom prst="rect">
            <a:avLst/>
          </a:prstGeom>
        </p:spPr>
        <p:txBody>
          <a:bodyPr/>
          <a:lstStyle/>
          <a:p>
            <a:pPr marL="297815" indent="-297815" defTabSz="391414">
              <a:spcBef>
                <a:spcPts val="2800"/>
              </a:spcBef>
              <a:defRPr sz="2144"/>
            </a:pPr>
            <a:r>
              <a:t>• Research-to-Production Translation: Successfully transformed academic RAG cybersecurity concepts into a deployed, operational, enterprise-grade SOC platform.</a:t>
            </a:r>
          </a:p>
          <a:p>
            <a:pPr marL="297815" indent="-297815" defTabSz="391414">
              <a:spcBef>
                <a:spcPts val="2800"/>
              </a:spcBef>
              <a:defRPr sz="2144"/>
            </a:pPr>
            <a:r>
              <a:t>• Solved the Human Alert Dilemma: Validated that pairing factory-pattern normalization with semantic vector retrieval eliminates analyst alert fatigue.</a:t>
            </a:r>
          </a:p>
          <a:p>
            <a:pPr marL="297815" indent="-297815" defTabSz="391414">
              <a:spcBef>
                <a:spcPts val="2800"/>
              </a:spcBef>
              <a:defRPr sz="2144"/>
            </a:pPr>
            <a:r>
              <a:t>• Guaranteed Security Accuracy: Proved that grounding generative models in curated taxonomies (MITRE ATT&amp;CK) provides dependable, deterministic intelligence.</a:t>
            </a:r>
          </a:p>
          <a:p>
            <a:pPr marL="297815" indent="-297815" defTabSz="391414">
              <a:spcBef>
                <a:spcPts val="2800"/>
              </a:spcBef>
              <a:defRPr sz="2144"/>
            </a:pPr>
            <a:r>
              <a:t>• Future Enhancement 1 — Automated SOAR Execution: Bidirectional firewall shunning (iptables, pfSense, AWS Security Groups) upon confirmed intrusion detection.</a:t>
            </a:r>
          </a:p>
          <a:p>
            <a:pPr marL="297815" indent="-297815" defTabSz="391414">
              <a:spcBef>
                <a:spcPts val="2800"/>
              </a:spcBef>
              <a:defRPr sz="2144"/>
            </a:pPr>
            <a:r>
              <a:t>• Future Enhancement 2 — Multi-Agent Debate Swarms: Deploying collaborative AI agent swarms (Forensic Agent, Threat Hunter, Compliance Auditor) via LangGraph.</a:t>
            </a:r>
          </a:p>
          <a:p>
            <a:pPr marL="297815" indent="-297815" defTabSz="391414">
              <a:spcBef>
                <a:spcPts val="2800"/>
              </a:spcBef>
              <a:defRPr sz="2144"/>
            </a:pPr>
            <a:r>
              <a:t>• Future Enhancement 3 — Cloud-Native Telemetry Connectors: Native streaming ingestion for AWS CloudTrail, Google Cloud Audit, and Kubernetes cluster logs.</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5" name="THANK YOU"/>
          <p:cNvSpPr txBox="1"/>
          <p:nvPr>
            <p:ph type="ctrTitle"/>
          </p:nvPr>
        </p:nvSpPr>
        <p:spPr>
          <a:prstGeom prst="rect">
            <a:avLst/>
          </a:prstGeom>
        </p:spPr>
        <p:txBody>
          <a:bodyPr/>
          <a:lstStyle/>
          <a:p>
            <a:pPr/>
            <a:r>
              <a:t>THANK YOU</a:t>
            </a:r>
          </a:p>
        </p:txBody>
      </p:sp>
      <p:sp>
        <p:nvSpPr>
          <p:cNvPr id="186" name="Questions &amp; Technical Discussion Welcome…"/>
          <p:cNvSpPr txBox="1"/>
          <p:nvPr>
            <p:ph type="subTitle" sz="quarter" idx="1"/>
          </p:nvPr>
        </p:nvSpPr>
        <p:spPr>
          <a:prstGeom prst="rect">
            <a:avLst/>
          </a:prstGeom>
        </p:spPr>
        <p:txBody>
          <a:bodyPr/>
          <a:lstStyle/>
          <a:p>
            <a:pPr defTabSz="233679">
              <a:defRPr sz="1480"/>
            </a:pPr>
            <a:r>
              <a:t>Questions &amp; Technical Discussion Welcome</a:t>
            </a:r>
          </a:p>
          <a:p>
            <a:pPr defTabSz="233679">
              <a:defRPr sz="1480"/>
            </a:pPr>
          </a:p>
          <a:p>
            <a:pPr defTabSz="233679">
              <a:defRPr sz="1480"/>
            </a:pPr>
            <a:r>
              <a:t>CyberSentinel AI • B.Tech Final Year Engineering Project</a:t>
            </a:r>
          </a:p>
          <a:p>
            <a:pPr defTabSz="233679">
              <a:defRPr sz="1480"/>
            </a:pPr>
            <a:r>
              <a:t>Candidate: Soham Sakat • Domain: AI &amp; Cybersecurity</a:t>
            </a:r>
          </a:p>
          <a:p>
            <a:pPr defTabSz="233679">
              <a:defRPr sz="1480"/>
            </a:pPr>
            <a:r>
              <a:t>Project Repository: https://github.com/sohamsakat/cybersentinel-ai</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Black">
  <a:themeElements>
    <a:clrScheme name="Black">
      <a:dk1>
        <a:srgbClr val="000000"/>
      </a:dk1>
      <a:lt1>
        <a:srgbClr val="FFFFFF"/>
      </a:lt1>
      <a:dk2>
        <a:srgbClr val="434343"/>
      </a:dk2>
      <a:lt2>
        <a:srgbClr val="A9A9A9"/>
      </a:lt2>
      <a:accent1>
        <a:srgbClr val="0076BA"/>
      </a:accent1>
      <a:accent2>
        <a:srgbClr val="00A89D"/>
      </a:accent2>
      <a:accent3>
        <a:srgbClr val="1DB100"/>
      </a:accent3>
      <a:accent4>
        <a:srgbClr val="F8BA00"/>
      </a:accent4>
      <a:accent5>
        <a:srgbClr val="EE220C"/>
      </a:accent5>
      <a:accent6>
        <a:srgbClr val="CB297B"/>
      </a:accent6>
      <a:hlink>
        <a:srgbClr val="0000FF"/>
      </a:hlink>
      <a:folHlink>
        <a:srgbClr val="FF00FF"/>
      </a:folHlink>
    </a:clrScheme>
    <a:fontScheme name="Black">
      <a:majorFont>
        <a:latin typeface="Helvetica Neue Medium"/>
        <a:ea typeface="Helvetica Neue Medium"/>
        <a:cs typeface="Helvetica Neue Medium"/>
      </a:majorFont>
      <a:minorFont>
        <a:latin typeface="Helvetica Neue Medium"/>
        <a:ea typeface="Helvetica Neue Medium"/>
        <a:cs typeface="Helvetica Neue Medium"/>
      </a:minorFont>
    </a:fontScheme>
    <a:fmtScheme name="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lumOff val="13529"/>
          </a:schemeClr>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584200" rtl="0" fontAlgn="auto" latinLnBrk="0" hangingPunct="0">
          <a:lnSpc>
            <a:spcPct val="100000"/>
          </a:lnSpc>
          <a:spcBef>
            <a:spcPts val="0"/>
          </a:spcBef>
          <a:spcAft>
            <a:spcPts val="0"/>
          </a:spcAft>
          <a:buClrTx/>
          <a:buSzTx/>
          <a:buFontTx/>
          <a:buNone/>
          <a:tabLst/>
          <a:defRPr b="0" baseline="0" cap="none" i="0" spc="0" strike="noStrike" sz="2200" u="none" kumimoji="0" normalizeH="0">
            <a:ln>
              <a:noFill/>
            </a:ln>
            <a:solidFill>
              <a:srgbClr val="FFFFFF"/>
            </a:solidFill>
            <a:effectLst/>
            <a:uFillTx/>
            <a:latin typeface="+mn-lt"/>
            <a:ea typeface="+mn-ea"/>
            <a:cs typeface="+mn-cs"/>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Black">
  <a:themeElements>
    <a:clrScheme name="Black">
      <a:dk1>
        <a:srgbClr val="000000"/>
      </a:dk1>
      <a:lt1>
        <a:srgbClr val="FFFFFF"/>
      </a:lt1>
      <a:dk2>
        <a:srgbClr val="434343"/>
      </a:dk2>
      <a:lt2>
        <a:srgbClr val="A9A9A9"/>
      </a:lt2>
      <a:accent1>
        <a:srgbClr val="0076BA"/>
      </a:accent1>
      <a:accent2>
        <a:srgbClr val="00A89D"/>
      </a:accent2>
      <a:accent3>
        <a:srgbClr val="1DB100"/>
      </a:accent3>
      <a:accent4>
        <a:srgbClr val="F8BA00"/>
      </a:accent4>
      <a:accent5>
        <a:srgbClr val="EE220C"/>
      </a:accent5>
      <a:accent6>
        <a:srgbClr val="CB297B"/>
      </a:accent6>
      <a:hlink>
        <a:srgbClr val="0000FF"/>
      </a:hlink>
      <a:folHlink>
        <a:srgbClr val="FF00FF"/>
      </a:folHlink>
    </a:clrScheme>
    <a:fontScheme name="Black">
      <a:majorFont>
        <a:latin typeface="Helvetica Neue Medium"/>
        <a:ea typeface="Helvetica Neue Medium"/>
        <a:cs typeface="Helvetica Neue Medium"/>
      </a:majorFont>
      <a:minorFont>
        <a:latin typeface="Helvetica Neue Medium"/>
        <a:ea typeface="Helvetica Neue Medium"/>
        <a:cs typeface="Helvetica Neue Medium"/>
      </a:minorFont>
    </a:fontScheme>
    <a:fmtScheme name="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lumOff val="13529"/>
          </a:schemeClr>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584200" rtl="0" fontAlgn="auto" latinLnBrk="0" hangingPunct="0">
          <a:lnSpc>
            <a:spcPct val="100000"/>
          </a:lnSpc>
          <a:spcBef>
            <a:spcPts val="0"/>
          </a:spcBef>
          <a:spcAft>
            <a:spcPts val="0"/>
          </a:spcAft>
          <a:buClrTx/>
          <a:buSzTx/>
          <a:buFontTx/>
          <a:buNone/>
          <a:tabLst/>
          <a:defRPr b="0" baseline="0" cap="none" i="0" spc="0" strike="noStrike" sz="2200" u="none" kumimoji="0" normalizeH="0">
            <a:ln>
              <a:noFill/>
            </a:ln>
            <a:solidFill>
              <a:srgbClr val="FFFFFF"/>
            </a:solidFill>
            <a:effectLst/>
            <a:uFillTx/>
            <a:latin typeface="+mn-lt"/>
            <a:ea typeface="+mn-ea"/>
            <a:cs typeface="+mn-cs"/>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584200" rtl="0" fontAlgn="auto" latinLnBrk="0" hangingPunct="0">
          <a:lnSpc>
            <a:spcPct val="100000"/>
          </a:lnSpc>
          <a:spcBef>
            <a:spcPts val="42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