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FFFFFF"/>
        </a:solidFill>
        <a:effectLst/>
        <a:uFillTx/>
        <a:latin typeface="Helvetica Neue"/>
        <a:ea typeface="Helvetica Neue"/>
        <a:cs typeface="Helvetica Neue"/>
        <a:sym typeface="Helvetica Neue"/>
      </a:defRPr>
    </a:lvl1pPr>
    <a:lvl2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FFFFFF"/>
        </a:solidFill>
        <a:effectLst/>
        <a:uFillTx/>
        <a:latin typeface="Helvetica Neue"/>
        <a:ea typeface="Helvetica Neue"/>
        <a:cs typeface="Helvetica Neue"/>
        <a:sym typeface="Helvetica Neue"/>
      </a:defRPr>
    </a:lvl2pPr>
    <a:lvl3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FFFFFF"/>
        </a:solidFill>
        <a:effectLst/>
        <a:uFillTx/>
        <a:latin typeface="Helvetica Neue"/>
        <a:ea typeface="Helvetica Neue"/>
        <a:cs typeface="Helvetica Neue"/>
        <a:sym typeface="Helvetica Neue"/>
      </a:defRPr>
    </a:lvl3pPr>
    <a:lvl4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FFFFFF"/>
        </a:solidFill>
        <a:effectLst/>
        <a:uFillTx/>
        <a:latin typeface="Helvetica Neue"/>
        <a:ea typeface="Helvetica Neue"/>
        <a:cs typeface="Helvetica Neue"/>
        <a:sym typeface="Helvetica Neue"/>
      </a:defRPr>
    </a:lvl4pPr>
    <a:lvl5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FFFFFF"/>
        </a:solidFill>
        <a:effectLst/>
        <a:uFillTx/>
        <a:latin typeface="Helvetica Neue"/>
        <a:ea typeface="Helvetica Neue"/>
        <a:cs typeface="Helvetica Neue"/>
        <a:sym typeface="Helvetica Neue"/>
      </a:defRPr>
    </a:lvl5pPr>
    <a:lvl6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FFFFFF"/>
        </a:solidFill>
        <a:effectLst/>
        <a:uFillTx/>
        <a:latin typeface="Helvetica Neue"/>
        <a:ea typeface="Helvetica Neue"/>
        <a:cs typeface="Helvetica Neue"/>
        <a:sym typeface="Helvetica Neue"/>
      </a:defRPr>
    </a:lvl6pPr>
    <a:lvl7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FFFFFF"/>
        </a:solidFill>
        <a:effectLst/>
        <a:uFillTx/>
        <a:latin typeface="Helvetica Neue"/>
        <a:ea typeface="Helvetica Neue"/>
        <a:cs typeface="Helvetica Neue"/>
        <a:sym typeface="Helvetica Neue"/>
      </a:defRPr>
    </a:lvl7pPr>
    <a:lvl8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FFFFFF"/>
        </a:solidFill>
        <a:effectLst/>
        <a:uFillTx/>
        <a:latin typeface="Helvetica Neue"/>
        <a:ea typeface="Helvetica Neue"/>
        <a:cs typeface="Helvetica Neue"/>
        <a:sym typeface="Helvetica Neue"/>
      </a:defRPr>
    </a:lvl8pPr>
    <a:lvl9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FFFFFF"/>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solidFill>
                <a:srgbClr val="D6D6D6"/>
              </a:solidFill>
              <a:prstDash val="solid"/>
              <a:miter lim="400000"/>
            </a:ln>
          </a:left>
          <a:right>
            <a:ln w="254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firstCol>
    <a:lastRow>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25400" cap="flat">
              <a:solidFill>
                <a:srgbClr val="D6D7D6"/>
              </a:solidFill>
              <a:prstDash val="solid"/>
              <a:miter lim="400000"/>
            </a:ln>
          </a:top>
          <a:bottom>
            <a:ln w="12700" cap="flat">
              <a:solidFill>
                <a:srgbClr val="D6D6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lastRow>
    <a:firstRow>
      <a:tcTxStyle b="on"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6D6"/>
              </a:solidFill>
              <a:prstDash val="solid"/>
              <a:miter lim="400000"/>
            </a:ln>
          </a:top>
          <a:bottom>
            <a:ln w="254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firstRow>
  </a:tblStyle>
  <a:tblStyle styleId="{C7B018BB-80A7-4F77-B60F-C8B233D01FF8}" styleName="">
    <a:tblBg/>
    <a:wholeTbl>
      <a:tcTxStyle b="off" i="off">
        <a:font>
          <a:latin typeface="Helvetica Neue"/>
          <a:ea typeface="Helvetica Neue"/>
          <a:cs typeface="Helvetica Neue"/>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84E00"/>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17101"/>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17101"/>
          </a:solidFill>
        </a:fill>
      </a:tcStyle>
    </a:firstRow>
  </a:tblStyle>
  <a:tblStyle styleId="{EEE7283C-3CF3-47DC-8721-378D4A62B228}" styleName="">
    <a:tblBg/>
    <a:wholeTbl>
      <a:tcTxStyle b="off" i="off">
        <a:font>
          <a:latin typeface="Helvetica Neue"/>
          <a:ea typeface="Helvetica Neue"/>
          <a:cs typeface="Helvetica Neue"/>
        </a:font>
        <a:srgbClr val="FFFFFF"/>
      </a:tcTxStyle>
      <a:tcStyle>
        <a:tcBdr>
          <a:left>
            <a:ln w="12700" cap="flat">
              <a:solidFill>
                <a:srgbClr val="AAAAAA"/>
              </a:solidFill>
              <a:prstDash val="solid"/>
              <a:miter lim="400000"/>
            </a:ln>
          </a:left>
          <a:right>
            <a:ln w="12700" cap="flat">
              <a:solidFill>
                <a:srgbClr val="AAAAAA"/>
              </a:solidFill>
              <a:prstDash val="solid"/>
              <a:miter lim="400000"/>
            </a:ln>
          </a:right>
          <a:top>
            <a:ln w="12700" cap="flat">
              <a:solidFill>
                <a:srgbClr val="AAAAAA"/>
              </a:solidFill>
              <a:prstDash val="solid"/>
              <a:miter lim="400000"/>
            </a:ln>
          </a:top>
          <a:bottom>
            <a:ln w="12700" cap="flat">
              <a:solidFill>
                <a:srgbClr val="AAAAAA"/>
              </a:solidFill>
              <a:prstDash val="solid"/>
              <a:miter lim="400000"/>
            </a:ln>
          </a:bottom>
          <a:insideH>
            <a:ln w="12700" cap="flat">
              <a:solidFill>
                <a:srgbClr val="AAAAAA"/>
              </a:solidFill>
              <a:prstDash val="solid"/>
              <a:miter lim="400000"/>
            </a:ln>
          </a:insideH>
          <a:insideV>
            <a:ln w="12700" cap="flat">
              <a:solidFill>
                <a:srgbClr val="AAAAAA"/>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hueOff val="106375"/>
              <a:satOff val="9554"/>
              <a:lumOff val="-13516"/>
            </a:schemeClr>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hueOff val="106375"/>
              <a:satOff val="9554"/>
              <a:lumOff val="-13516"/>
            </a:schemeClr>
          </a:solidFill>
        </a:fill>
      </a:tcStyle>
    </a:firstRow>
  </a:tblStyle>
  <a:tblStyle styleId="{CF821DB8-F4EB-4A41-A1BA-3FCAFE7338EE}"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6">
              <a:hueOff val="-119728"/>
              <a:satOff val="5580"/>
              <a:lumOff val="-12961"/>
            </a:schemeClr>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50E48"/>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50E48"/>
          </a:solidFill>
        </a:fill>
      </a:tcStyle>
    </a:firstRow>
  </a:tblStyle>
  <a:tblStyle styleId="{33BA23B1-9221-436E-865A-0063620EA4FD}" styleName="">
    <a:tblBg/>
    <a:wholeTbl>
      <a:tcTxStyle b="off" i="off">
        <a:font>
          <a:latin typeface="Helvetica Neue"/>
          <a:ea typeface="Helvetica Neue"/>
          <a:cs typeface="Helvetica Neue"/>
        </a:font>
        <a:srgbClr val="FFFFFF"/>
      </a:tcTxStyle>
      <a:tcStyle>
        <a:tcBdr>
          <a:left>
            <a:ln w="12700" cap="flat">
              <a:solidFill>
                <a:srgbClr val="909090"/>
              </a:solidFill>
              <a:prstDash val="solid"/>
              <a:miter lim="400000"/>
            </a:ln>
          </a:left>
          <a:right>
            <a:ln w="12700" cap="flat">
              <a:solidFill>
                <a:srgbClr val="909090"/>
              </a:solidFill>
              <a:prstDash val="solid"/>
              <a:miter lim="400000"/>
            </a:ln>
          </a:right>
          <a:top>
            <a:ln w="12700" cap="flat">
              <a:solidFill>
                <a:srgbClr val="909090"/>
              </a:solidFill>
              <a:prstDash val="solid"/>
              <a:miter lim="400000"/>
            </a:ln>
          </a:top>
          <a:bottom>
            <a:ln w="12700" cap="flat">
              <a:solidFill>
                <a:srgbClr val="909090"/>
              </a:solidFill>
              <a:prstDash val="solid"/>
              <a:miter lim="400000"/>
            </a:ln>
          </a:bottom>
          <a:insideH>
            <a:ln w="12700" cap="flat">
              <a:solidFill>
                <a:srgbClr val="909090"/>
              </a:solidFill>
              <a:prstDash val="solid"/>
              <a:miter lim="400000"/>
            </a:ln>
          </a:insideH>
          <a:insideV>
            <a:ln w="12700" cap="flat">
              <a:solidFill>
                <a:srgbClr val="909090"/>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98089"/>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6A0AC"/>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6A0AC"/>
          </a:solidFill>
        </a:fill>
      </a:tcStyle>
    </a:firstRow>
  </a:tblStyle>
  <a:tblStyle styleId="{2708684C-4D16-4618-839F-0558EEFCDFE6}" styleName="">
    <a:tblBg/>
    <a:wholeTbl>
      <a:tcTxStyle b="off" i="off">
        <a:font>
          <a:latin typeface="Helvetica Neue"/>
          <a:ea typeface="Helvetica Neue"/>
          <a:cs typeface="Helvetica Neue"/>
        </a:font>
        <a:srgbClr val="FFFFFF"/>
      </a:tcTxStyle>
      <a:tcStyle>
        <a:tcBdr>
          <a:left>
            <a:ln w="12700" cap="flat">
              <a:solidFill>
                <a:srgbClr val="929292"/>
              </a:solidFill>
              <a:custDash>
                <a:ds d="200000" sp="200000"/>
              </a:custDash>
              <a:miter lim="400000"/>
            </a:ln>
          </a:left>
          <a:right>
            <a:ln w="12700" cap="flat">
              <a:solidFill>
                <a:srgbClr val="929292"/>
              </a:solidFill>
              <a:custDash>
                <a:ds d="200000" sp="200000"/>
              </a:custDash>
              <a:miter lim="400000"/>
            </a:ln>
          </a:right>
          <a:top>
            <a:ln w="12700" cap="flat">
              <a:solidFill>
                <a:srgbClr val="929292"/>
              </a:solidFill>
              <a:custDash>
                <a:ds d="200000" sp="200000"/>
              </a:custDash>
              <a:miter lim="400000"/>
            </a:ln>
          </a:top>
          <a:bottom>
            <a:ln w="12700" cap="flat">
              <a:solidFill>
                <a:srgbClr val="929292"/>
              </a:solidFill>
              <a:custDash>
                <a:ds d="200000" sp="200000"/>
              </a:custDash>
              <a:miter lim="400000"/>
            </a:ln>
          </a:bottom>
          <a:insideH>
            <a:ln w="12700" cap="flat">
              <a:solidFill>
                <a:srgbClr val="929292"/>
              </a:solidFill>
              <a:custDash>
                <a:ds d="200000" sp="200000"/>
              </a:custDash>
              <a:miter lim="400000"/>
            </a:ln>
          </a:insideH>
          <a:insideV>
            <a:ln w="12700" cap="flat">
              <a:solidFill>
                <a:srgbClr val="929292"/>
              </a:solidFill>
              <a:custDash>
                <a:ds d="200000" sp="200000"/>
              </a:custDash>
              <a:miter lim="400000"/>
            </a:ln>
          </a:insideV>
        </a:tcBdr>
        <a:fill>
          <a:noFill/>
        </a:fill>
      </a:tcStyle>
    </a:wholeTbl>
    <a:band2H>
      <a:tcTxStyle b="def" i="def"/>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Col>
    <a:lastRow>
      <a:tcTxStyle b="off" i="off">
        <a:font>
          <a:latin typeface="Helvetica Neue"/>
          <a:ea typeface="Helvetica Neue"/>
          <a:cs typeface="Helvetica Neue"/>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25400" cap="flat">
              <a:solidFill>
                <a:srgbClr val="929292"/>
              </a:solidFill>
              <a:prstDash val="solid"/>
              <a:miter lim="400000"/>
            </a:ln>
          </a:top>
          <a:bottom>
            <a:ln w="12700" cap="flat">
              <a:noFill/>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lastRow>
    <a:firstRow>
      <a:tcTxStyle b="on" i="off">
        <a:font>
          <a:latin typeface="Helvetica Neue"/>
          <a:ea typeface="Helvetica Neue"/>
          <a:cs typeface="Helvetica Neue"/>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12700" cap="flat">
              <a:noFill/>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4" name="Shape 134"/>
          <p:cNvSpPr/>
          <p:nvPr>
            <p:ph type="sldImg"/>
          </p:nvPr>
        </p:nvSpPr>
        <p:spPr>
          <a:xfrm>
            <a:off x="1143000" y="685800"/>
            <a:ext cx="4572000" cy="3429000"/>
          </a:xfrm>
          <a:prstGeom prst="rect">
            <a:avLst/>
          </a:prstGeom>
        </p:spPr>
        <p:txBody>
          <a:bodyPr/>
          <a:lstStyle/>
          <a:p>
            <a:pPr/>
          </a:p>
        </p:txBody>
      </p:sp>
      <p:sp>
        <p:nvSpPr>
          <p:cNvPr id="135" name="Shape 1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Shape 143"/>
          <p:cNvSpPr/>
          <p:nvPr>
            <p:ph type="sldImg"/>
          </p:nvPr>
        </p:nvSpPr>
        <p:spPr>
          <a:prstGeom prst="rect">
            <a:avLst/>
          </a:prstGeom>
        </p:spPr>
        <p:txBody>
          <a:bodyPr/>
          <a:lstStyle/>
          <a:p>
            <a:pPr/>
          </a:p>
        </p:txBody>
      </p:sp>
      <p:sp>
        <p:nvSpPr>
          <p:cNvPr id="144" name="Shape 144"/>
          <p:cNvSpPr/>
          <p:nvPr>
            <p:ph type="body" sz="quarter" idx="1"/>
          </p:nvPr>
        </p:nvSpPr>
        <p:spPr>
          <a:prstGeom prst="rect">
            <a:avLst/>
          </a:prstGeom>
        </p:spPr>
        <p:txBody>
          <a:bodyPr/>
          <a:lstStyle/>
          <a:p>
            <a:pPr/>
            <a:r>
              <a:t>Good morning respected examiners, project coordinator, and faculty members. Today, I am presenting my final-year engineering project: CyberSentinel AI, an autonomous SOC assistant leveraging LLMs and RAG to eliminate alert fatigue and ensure zero-hallucination incident triage.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Shape 152"/>
          <p:cNvSpPr/>
          <p:nvPr>
            <p:ph type="sldImg"/>
          </p:nvPr>
        </p:nvSpPr>
        <p:spPr>
          <a:prstGeom prst="rect">
            <a:avLst/>
          </a:prstGeom>
        </p:spPr>
        <p:txBody>
          <a:bodyPr/>
          <a:lstStyle/>
          <a:p>
            <a:pPr/>
          </a:p>
        </p:txBody>
      </p:sp>
      <p:sp>
        <p:nvSpPr>
          <p:cNvPr id="153" name="Shape 153"/>
          <p:cNvSpPr/>
          <p:nvPr>
            <p:ph type="body" sz="quarter" idx="1"/>
          </p:nvPr>
        </p:nvSpPr>
        <p:spPr>
          <a:prstGeom prst="rect">
            <a:avLst/>
          </a:prstGeom>
        </p:spPr>
        <p:txBody>
          <a:bodyPr/>
          <a:lstStyle/>
          <a:p>
            <a:pPr/>
            <a:r>
              <a:t>In modern enterprise networks, the core challenge is not a lack of data, but data overload. Analysts are bombarded with 100,000+ alerts daily, leading to acute Alert Fatigue. CyberSentinel AI introduces a cognitive assistant that pre-processes incoming telemetry, eliminates false positives, and assists analysts with instant forensic context.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Shape 161"/>
          <p:cNvSpPr/>
          <p:nvPr>
            <p:ph type="sldImg"/>
          </p:nvPr>
        </p:nvSpPr>
        <p:spPr>
          <a:prstGeom prst="rect">
            <a:avLst/>
          </a:prstGeom>
        </p:spPr>
        <p:txBody>
          <a:bodyPr/>
          <a:lstStyle/>
          <a:p>
            <a:pPr/>
          </a:p>
        </p:txBody>
      </p:sp>
      <p:sp>
        <p:nvSpPr>
          <p:cNvPr id="162" name="Shape 162"/>
          <p:cNvSpPr/>
          <p:nvPr>
            <p:ph type="body" sz="quarter" idx="1"/>
          </p:nvPr>
        </p:nvSpPr>
        <p:spPr>
          <a:prstGeom prst="rect">
            <a:avLst/>
          </a:prstGeom>
        </p:spPr>
        <p:txBody>
          <a:bodyPr/>
          <a:lstStyle/>
          <a:p>
            <a:pPr/>
            <a:r>
              <a:t>In our literature survey, we compared traditional SIEMs, direct LLMs, and our RAG approach. Traditional tools rely on static rules that flood analysts with noise. Direct LLMs hallucinate dangerous commands. Our base paper proved RAG solves this, but left a production gap which CyberSentinel AI bridges.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Shape 170"/>
          <p:cNvSpPr/>
          <p:nvPr>
            <p:ph type="sldImg"/>
          </p:nvPr>
        </p:nvSpPr>
        <p:spPr>
          <a:prstGeom prst="rect">
            <a:avLst/>
          </a:prstGeom>
        </p:spPr>
        <p:txBody>
          <a:bodyPr/>
          <a:lstStyle/>
          <a:p>
            <a:pPr/>
          </a:p>
        </p:txBody>
      </p:sp>
      <p:sp>
        <p:nvSpPr>
          <p:cNvPr id="171" name="Shape 171"/>
          <p:cNvSpPr/>
          <p:nvPr>
            <p:ph type="body" sz="quarter" idx="1"/>
          </p:nvPr>
        </p:nvSpPr>
        <p:spPr>
          <a:prstGeom prst="rect">
            <a:avLst/>
          </a:prstGeom>
        </p:spPr>
        <p:txBody>
          <a:bodyPr/>
          <a:lstStyle/>
          <a:p>
            <a:pPr/>
            <a:r>
              <a:t>Our problem statement isolates 4 critical engineering bottlenecks: 1. 99% alert noise causing cognitive fatigue; 2. 45-minute MTTR enabling data exfiltration; 3. AI hallucination risks in security commands; 4. Incompatible log silos between Windows, Linux, Apache, and firewalls.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Shape 179"/>
          <p:cNvSpPr/>
          <p:nvPr>
            <p:ph type="sldImg"/>
          </p:nvPr>
        </p:nvSpPr>
        <p:spPr>
          <a:prstGeom prst="rect">
            <a:avLst/>
          </a:prstGeom>
        </p:spPr>
        <p:txBody>
          <a:bodyPr/>
          <a:lstStyle/>
          <a:p>
            <a:pPr/>
          </a:p>
        </p:txBody>
      </p:sp>
      <p:sp>
        <p:nvSpPr>
          <p:cNvPr id="180" name="Shape 180"/>
          <p:cNvSpPr/>
          <p:nvPr>
            <p:ph type="body" sz="quarter" idx="1"/>
          </p:nvPr>
        </p:nvSpPr>
        <p:spPr>
          <a:prstGeom prst="rect">
            <a:avLst/>
          </a:prstGeom>
        </p:spPr>
        <p:txBody>
          <a:bodyPr/>
          <a:lstStyle/>
          <a:p>
            <a:pPr/>
            <a:r>
              <a:t>We defined 4 clear, measurable technical objectives: normalize multi-source logs into ECS, embed MITRE ATT&amp;CK into ChromaDB for 100% grounded RAG, calculate algorithmic CVSS risk scores from 0 to 100, and generate official NIST SP 800-61 PDF reports with 1 click.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hape 188"/>
          <p:cNvSpPr/>
          <p:nvPr>
            <p:ph type="sldImg"/>
          </p:nvPr>
        </p:nvSpPr>
        <p:spPr>
          <a:prstGeom prst="rect">
            <a:avLst/>
          </a:prstGeom>
        </p:spPr>
        <p:txBody>
          <a:bodyPr/>
          <a:lstStyle/>
          <a:p>
            <a:pPr/>
          </a:p>
        </p:txBody>
      </p:sp>
      <p:sp>
        <p:nvSpPr>
          <p:cNvPr id="189" name="Shape 189"/>
          <p:cNvSpPr/>
          <p:nvPr>
            <p:ph type="body" sz="quarter" idx="1"/>
          </p:nvPr>
        </p:nvSpPr>
        <p:spPr>
          <a:prstGeom prst="rect">
            <a:avLst/>
          </a:prstGeom>
        </p:spPr>
        <p:txBody>
          <a:bodyPr/>
          <a:lstStyle/>
          <a:p>
            <a:pPr/>
            <a:r>
              <a:t>Our proposed solution, CyberSentinel AI, is built on 5 robust architectural pillars: multi-source normalization, offline ChromaDB vector retrieval, algorithmic CVSS scoring, real-time live radar streaming, and automated NIST forensic reporting.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hape 197"/>
          <p:cNvSpPr/>
          <p:nvPr>
            <p:ph type="sldImg"/>
          </p:nvPr>
        </p:nvSpPr>
        <p:spPr>
          <a:prstGeom prst="rect">
            <a:avLst/>
          </a:prstGeom>
        </p:spPr>
        <p:txBody>
          <a:bodyPr/>
          <a:lstStyle/>
          <a:p>
            <a:pPr/>
          </a:p>
        </p:txBody>
      </p:sp>
      <p:sp>
        <p:nvSpPr>
          <p:cNvPr id="198" name="Shape 198"/>
          <p:cNvSpPr/>
          <p:nvPr>
            <p:ph type="body" sz="quarter" idx="1"/>
          </p:nvPr>
        </p:nvSpPr>
        <p:spPr>
          <a:prstGeom prst="rect">
            <a:avLst/>
          </a:prstGeom>
        </p:spPr>
        <p:txBody>
          <a:bodyPr/>
          <a:lstStyle/>
          <a:p>
            <a:pPr/>
            <a:r>
              <a:t>This architecture flowchart illustrates the complete operational lifecycle. Raw telemetry enters through the Ingestion Layer, is normalized to the Elastic Common Schema, matched against MITRE ATT&amp;CK embeddings in ChromaDB, quantified via our algorithmic CVSS formula, and delivered to the SOC analyst via real-time radar and exportable PDF reports.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Shape 207"/>
          <p:cNvSpPr/>
          <p:nvPr>
            <p:ph type="sldImg"/>
          </p:nvPr>
        </p:nvSpPr>
        <p:spPr>
          <a:prstGeom prst="rect">
            <a:avLst/>
          </a:prstGeom>
        </p:spPr>
        <p:txBody>
          <a:bodyPr/>
          <a:lstStyle/>
          <a:p>
            <a:pPr/>
          </a:p>
        </p:txBody>
      </p:sp>
      <p:sp>
        <p:nvSpPr>
          <p:cNvPr id="208" name="Shape 208"/>
          <p:cNvSpPr/>
          <p:nvPr>
            <p:ph type="body" sz="quarter" idx="1"/>
          </p:nvPr>
        </p:nvSpPr>
        <p:spPr>
          <a:prstGeom prst="rect">
            <a:avLst/>
          </a:prstGeom>
        </p:spPr>
        <p:txBody>
          <a:bodyPr/>
          <a:lstStyle/>
          <a:p>
            <a:pPr/>
            <a:r>
              <a:t>Our empirical benchmarks show quantifiable improvements: MTTR cut from 45 minutes to sub-10 seconds, 99.2% noise filtration, zero hallucinations, and 100% offline air-gap reliability. All 9 automated test suites pass with 100% success.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p>
            <a:pPr/>
            <a:r>
              <a:t>During our viva demonstration, we can simulate three realistic enterprise attack waves: an SSH brute-force attack from a rogue IP, a web shell injection attempting remote code execution, and the immediate generation of an official NIST SP 800-61 PDF incident report.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Shape 225"/>
          <p:cNvSpPr/>
          <p:nvPr>
            <p:ph type="sldImg"/>
          </p:nvPr>
        </p:nvSpPr>
        <p:spPr>
          <a:prstGeom prst="rect">
            <a:avLst/>
          </a:prstGeom>
        </p:spPr>
        <p:txBody>
          <a:bodyPr/>
          <a:lstStyle/>
          <a:p>
            <a:pPr/>
          </a:p>
        </p:txBody>
      </p:sp>
      <p:sp>
        <p:nvSpPr>
          <p:cNvPr id="226" name="Shape 226"/>
          <p:cNvSpPr/>
          <p:nvPr>
            <p:ph type="body" sz="quarter" idx="1"/>
          </p:nvPr>
        </p:nvSpPr>
        <p:spPr>
          <a:prstGeom prst="rect">
            <a:avLst/>
          </a:prstGeom>
        </p:spPr>
        <p:txBody>
          <a:bodyPr/>
          <a:lstStyle/>
          <a:p>
            <a:pPr/>
            <a:r>
              <a:t>In conclusion, CyberSentinel AI proves that cognitive AI and RAG can modernize enterprise SOCs without introducing hallucination risks. Looking ahead, our roadmap includes bidirectional SOAR automation to automatically isolate attackers at the firewall level, and multi-agent debate reasoning using LangGraph.</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1778000" y="2298700"/>
            <a:ext cx="20828000" cy="4648200"/>
          </a:xfrm>
          <a:prstGeom prst="rect">
            <a:avLst/>
          </a:prstGeom>
        </p:spPr>
        <p:txBody>
          <a:bodyPr anchor="b"/>
          <a:lstStyle/>
          <a:p>
            <a:pPr/>
            <a:r>
              <a:t>Title Text</a:t>
            </a:r>
          </a:p>
        </p:txBody>
      </p:sp>
      <p:sp>
        <p:nvSpPr>
          <p:cNvPr id="12" name="Body Level One…"/>
          <p:cNvSpPr txBox="1"/>
          <p:nvPr>
            <p:ph type="body" sz="quarter" idx="1"/>
          </p:nvPr>
        </p:nvSpPr>
        <p:spPr>
          <a:xfrm>
            <a:off x="1778000" y="7073900"/>
            <a:ext cx="20828000" cy="1587500"/>
          </a:xfrm>
          <a:prstGeom prst="rect">
            <a:avLst/>
          </a:prstGeom>
        </p:spPr>
        <p:txBody>
          <a:bodyPr anchor="t"/>
          <a:lstStyle>
            <a:lvl1pPr marL="0" indent="0" algn="ctr">
              <a:spcBef>
                <a:spcPts val="0"/>
              </a:spcBef>
              <a:buClrTx/>
              <a:buSzTx/>
              <a:buNone/>
              <a:defRPr sz="5400"/>
            </a:lvl1pPr>
            <a:lvl2pPr marL="0" indent="0" algn="ctr">
              <a:spcBef>
                <a:spcPts val="0"/>
              </a:spcBef>
              <a:buClrTx/>
              <a:buSzTx/>
              <a:buNone/>
              <a:defRPr sz="5400"/>
            </a:lvl2pPr>
            <a:lvl3pPr marL="0" indent="0" algn="ctr">
              <a:spcBef>
                <a:spcPts val="0"/>
              </a:spcBef>
              <a:buClrTx/>
              <a:buSzTx/>
              <a:buNone/>
              <a:defRPr sz="5400"/>
            </a:lvl3pPr>
            <a:lvl4pPr marL="0" indent="0" algn="ctr">
              <a:spcBef>
                <a:spcPts val="0"/>
              </a:spcBef>
              <a:buClrTx/>
              <a:buSzTx/>
              <a:buNone/>
              <a:defRPr sz="5400"/>
            </a:lvl4pPr>
            <a:lvl5pPr marL="0" indent="0" algn="ctr">
              <a:spcBef>
                <a:spcPts val="0"/>
              </a:spcBef>
              <a:buClrTx/>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River flowing through a tropical forest"/>
          <p:cNvSpPr/>
          <p:nvPr>
            <p:ph type="pic" idx="21"/>
          </p:nvPr>
        </p:nvSpPr>
        <p:spPr>
          <a:xfrm>
            <a:off x="3125968" y="-1762099"/>
            <a:ext cx="18135601" cy="13607998"/>
          </a:xfrm>
          <a:prstGeom prst="rect">
            <a:avLst/>
          </a:prstGeom>
        </p:spPr>
        <p:txBody>
          <a:bodyPr lIns="91439" tIns="45719" rIns="91439" bIns="45719" anchor="t">
            <a:noAutofit/>
          </a:bodyPr>
          <a:lstStyle/>
          <a:p>
            <a:pPr/>
          </a:p>
        </p:txBody>
      </p:sp>
      <p:sp>
        <p:nvSpPr>
          <p:cNvPr id="21" name="Title Text"/>
          <p:cNvSpPr txBox="1"/>
          <p:nvPr>
            <p:ph type="title"/>
          </p:nvPr>
        </p:nvSpPr>
        <p:spPr>
          <a:xfrm>
            <a:off x="635000" y="9512300"/>
            <a:ext cx="23114000" cy="2006600"/>
          </a:xfrm>
          <a:prstGeom prst="rect">
            <a:avLst/>
          </a:prstGeom>
        </p:spPr>
        <p:txBody>
          <a:bodyPr/>
          <a:lstStyle/>
          <a:p>
            <a:pPr/>
            <a:r>
              <a:t>Title Text</a:t>
            </a:r>
          </a:p>
        </p:txBody>
      </p:sp>
      <p:sp>
        <p:nvSpPr>
          <p:cNvPr id="22" name="Body Level One…"/>
          <p:cNvSpPr txBox="1"/>
          <p:nvPr>
            <p:ph type="body" sz="quarter" idx="1"/>
          </p:nvPr>
        </p:nvSpPr>
        <p:spPr>
          <a:xfrm>
            <a:off x="635000" y="11442700"/>
            <a:ext cx="23114000" cy="1587500"/>
          </a:xfrm>
          <a:prstGeom prst="rect">
            <a:avLst/>
          </a:prstGeom>
        </p:spPr>
        <p:txBody>
          <a:bodyPr anchor="t"/>
          <a:lstStyle>
            <a:lvl1pPr marL="0" indent="0" algn="ctr">
              <a:spcBef>
                <a:spcPts val="0"/>
              </a:spcBef>
              <a:buClrTx/>
              <a:buSzTx/>
              <a:buNone/>
              <a:defRPr sz="5400"/>
            </a:lvl1pPr>
            <a:lvl2pPr marL="0" indent="0" algn="ctr">
              <a:spcBef>
                <a:spcPts val="0"/>
              </a:spcBef>
              <a:buClrTx/>
              <a:buSzTx/>
              <a:buNone/>
              <a:defRPr sz="5400"/>
            </a:lvl2pPr>
            <a:lvl3pPr marL="0" indent="0" algn="ctr">
              <a:spcBef>
                <a:spcPts val="0"/>
              </a:spcBef>
              <a:buClrTx/>
              <a:buSzTx/>
              <a:buNone/>
              <a:defRPr sz="5400"/>
            </a:lvl3pPr>
            <a:lvl4pPr marL="0" indent="0" algn="ctr">
              <a:spcBef>
                <a:spcPts val="0"/>
              </a:spcBef>
              <a:buClrTx/>
              <a:buSzTx/>
              <a:buNone/>
              <a:defRPr sz="5400"/>
            </a:lvl4pPr>
            <a:lvl5pPr marL="0" indent="0" algn="ctr">
              <a:spcBef>
                <a:spcPts val="0"/>
              </a:spcBef>
              <a:buClrTx/>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0" name="Title Text"/>
          <p:cNvSpPr txBox="1"/>
          <p:nvPr>
            <p:ph type="title"/>
          </p:nvPr>
        </p:nvSpPr>
        <p:spPr>
          <a:xfrm>
            <a:off x="1778000" y="4533900"/>
            <a:ext cx="20828000" cy="464820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Close-up of an orange flower surrounded by large tropical leaves"/>
          <p:cNvSpPr/>
          <p:nvPr>
            <p:ph type="pic" idx="21"/>
          </p:nvPr>
        </p:nvSpPr>
        <p:spPr>
          <a:xfrm>
            <a:off x="5803900" y="952500"/>
            <a:ext cx="17236029" cy="11468100"/>
          </a:xfrm>
          <a:prstGeom prst="rect">
            <a:avLst/>
          </a:prstGeom>
        </p:spPr>
        <p:txBody>
          <a:bodyPr lIns="91439" tIns="45719" rIns="91439" bIns="45719" anchor="t">
            <a:noAutofit/>
          </a:bodyPr>
          <a:lstStyle/>
          <a:p>
            <a:pPr/>
          </a:p>
        </p:txBody>
      </p:sp>
      <p:sp>
        <p:nvSpPr>
          <p:cNvPr id="39" name="Title Text"/>
          <p:cNvSpPr txBox="1"/>
          <p:nvPr>
            <p:ph type="title"/>
          </p:nvPr>
        </p:nvSpPr>
        <p:spPr>
          <a:xfrm>
            <a:off x="1651000" y="952500"/>
            <a:ext cx="10223500" cy="5549900"/>
          </a:xfrm>
          <a:prstGeom prst="rect">
            <a:avLst/>
          </a:prstGeom>
        </p:spPr>
        <p:txBody>
          <a:bodyPr anchor="b"/>
          <a:lstStyle>
            <a:lvl1pPr>
              <a:defRPr sz="8400"/>
            </a:lvl1pPr>
          </a:lstStyle>
          <a:p>
            <a:pPr/>
            <a:r>
              <a:t>Title Text</a:t>
            </a:r>
          </a:p>
        </p:txBody>
      </p:sp>
      <p:sp>
        <p:nvSpPr>
          <p:cNvPr id="40" name="Body Level One…"/>
          <p:cNvSpPr txBox="1"/>
          <p:nvPr>
            <p:ph type="body" sz="quarter" idx="1"/>
          </p:nvPr>
        </p:nvSpPr>
        <p:spPr>
          <a:xfrm>
            <a:off x="1651000" y="6527800"/>
            <a:ext cx="10223500" cy="5727700"/>
          </a:xfrm>
          <a:prstGeom prst="rect">
            <a:avLst/>
          </a:prstGeom>
        </p:spPr>
        <p:txBody>
          <a:bodyPr anchor="t"/>
          <a:lstStyle>
            <a:lvl1pPr marL="0" indent="0" algn="ctr">
              <a:spcBef>
                <a:spcPts val="0"/>
              </a:spcBef>
              <a:buClrTx/>
              <a:buSzTx/>
              <a:buNone/>
              <a:defRPr sz="5400"/>
            </a:lvl1pPr>
            <a:lvl2pPr marL="0" indent="0" algn="ctr">
              <a:spcBef>
                <a:spcPts val="0"/>
              </a:spcBef>
              <a:buClrTx/>
              <a:buSzTx/>
              <a:buNone/>
              <a:defRPr sz="5400"/>
            </a:lvl2pPr>
            <a:lvl3pPr marL="0" indent="0" algn="ctr">
              <a:spcBef>
                <a:spcPts val="0"/>
              </a:spcBef>
              <a:buClrTx/>
              <a:buSzTx/>
              <a:buNone/>
              <a:defRPr sz="5400"/>
            </a:lvl3pPr>
            <a:lvl4pPr marL="0" indent="0" algn="ctr">
              <a:spcBef>
                <a:spcPts val="0"/>
              </a:spcBef>
              <a:buClrTx/>
              <a:buSzTx/>
              <a:buNone/>
              <a:defRPr sz="5400"/>
            </a:lvl4pPr>
            <a:lvl5pPr marL="0" indent="0" algn="ctr">
              <a:spcBef>
                <a:spcPts val="0"/>
              </a:spcBef>
              <a:buClrTx/>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idx="1"/>
          </p:nvPr>
        </p:nvSpPr>
        <p:spPr>
          <a:prstGeom prst="rect">
            <a:avLst/>
          </a:prstGeom>
        </p:spPr>
        <p:txBody>
          <a:bodyPr/>
          <a:lstStyle>
            <a:lvl1pPr>
              <a:buClrTx/>
            </a:lvl1pPr>
            <a:lvl2pPr>
              <a:buClrTx/>
            </a:lvl2pPr>
            <a:lvl3pPr>
              <a:buClrTx/>
            </a:lvl3pPr>
            <a:lvl4pPr>
              <a:buClrTx/>
            </a:lvl4pPr>
            <a:lvl5pPr>
              <a:buClrTx/>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Close-up of a red-eyed tree frog perched on a leaf"/>
          <p:cNvSpPr/>
          <p:nvPr>
            <p:ph type="pic" sz="half" idx="21"/>
          </p:nvPr>
        </p:nvSpPr>
        <p:spPr>
          <a:xfrm>
            <a:off x="8750300" y="3149600"/>
            <a:ext cx="13944600" cy="9296400"/>
          </a:xfrm>
          <a:prstGeom prst="rect">
            <a:avLst/>
          </a:prstGeom>
        </p:spPr>
        <p:txBody>
          <a:bodyPr lIns="91439" tIns="45719" rIns="91439" bIns="45719" anchor="t">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buClrTx/>
              <a:defRPr sz="3800"/>
            </a:lvl1pPr>
            <a:lvl2pPr marL="1117600" indent="-558800">
              <a:spcBef>
                <a:spcPts val="4500"/>
              </a:spcBef>
              <a:buClrTx/>
              <a:defRPr sz="3800"/>
            </a:lvl2pPr>
            <a:lvl3pPr marL="1676400" indent="-558800">
              <a:spcBef>
                <a:spcPts val="4500"/>
              </a:spcBef>
              <a:buClrTx/>
              <a:defRPr sz="3800"/>
            </a:lvl3pPr>
            <a:lvl4pPr marL="2235200" indent="-558800">
              <a:spcBef>
                <a:spcPts val="4500"/>
              </a:spcBef>
              <a:buClrTx/>
              <a:defRPr sz="3800"/>
            </a:lvl4pPr>
            <a:lvl5pPr marL="2794000" indent="-558800">
              <a:spcBef>
                <a:spcPts val="4500"/>
              </a:spcBef>
              <a:buClrTx/>
              <a:defRPr sz="38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5" name="Title Text"/>
          <p:cNvSpPr txBox="1"/>
          <p:nvPr>
            <p:ph type="title"/>
          </p:nvPr>
        </p:nvSpPr>
        <p:spPr>
          <a:prstGeom prst="rect">
            <a:avLst/>
          </a:prstGeom>
        </p:spPr>
        <p:txBody>
          <a:bodyPr/>
          <a:lstStyle/>
          <a:p>
            <a:pPr/>
            <a:r>
              <a:t>Title Text</a:t>
            </a:r>
          </a:p>
        </p:txBody>
      </p:sp>
      <p:sp>
        <p:nvSpPr>
          <p:cNvPr id="76"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buClrTx/>
              <a:defRPr sz="3800"/>
            </a:lvl1pPr>
            <a:lvl2pPr marL="1117600" indent="-558800">
              <a:spcBef>
                <a:spcPts val="4500"/>
              </a:spcBef>
              <a:buClrTx/>
              <a:defRPr sz="3800"/>
            </a:lvl2pPr>
            <a:lvl3pPr marL="1676400" indent="-558800">
              <a:spcBef>
                <a:spcPts val="4500"/>
              </a:spcBef>
              <a:buClrTx/>
              <a:defRPr sz="3800"/>
            </a:lvl3pPr>
            <a:lvl4pPr marL="2235200" indent="-558800">
              <a:spcBef>
                <a:spcPts val="4500"/>
              </a:spcBef>
              <a:buClrTx/>
              <a:defRPr sz="3800"/>
            </a:lvl4pPr>
            <a:lvl5pPr marL="2794000" indent="-558800">
              <a:spcBef>
                <a:spcPts val="4500"/>
              </a:spcBef>
              <a:buClrTx/>
              <a:defRPr sz="3800"/>
            </a:lvl5pPr>
          </a:lstStyle>
          <a:p>
            <a:pPr/>
            <a:r>
              <a:t>Body Level One</a:t>
            </a:r>
          </a:p>
          <a:p>
            <a:pPr lvl="1"/>
            <a:r>
              <a:t>Body Level Two</a:t>
            </a:r>
          </a:p>
          <a:p>
            <a:pPr lvl="2"/>
            <a:r>
              <a:t>Body Level Three</a:t>
            </a:r>
          </a:p>
          <a:p>
            <a:pPr lvl="3"/>
            <a:r>
              <a:t>Body Level Four</a:t>
            </a:r>
          </a:p>
          <a:p>
            <a:pPr lvl="4"/>
            <a:r>
              <a:t>Body Level Five</a:t>
            </a:r>
          </a:p>
        </p:txBody>
      </p:sp>
      <p:sp>
        <p:nvSpPr>
          <p:cNvPr id="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4" name="Title Text"/>
          <p:cNvSpPr txBox="1"/>
          <p:nvPr>
            <p:ph type="title"/>
          </p:nvPr>
        </p:nvSpPr>
        <p:spPr>
          <a:prstGeom prst="rect">
            <a:avLst/>
          </a:prstGeom>
        </p:spPr>
        <p:txBody>
          <a:bodyPr/>
          <a:lstStyle/>
          <a:p>
            <a:pPr/>
            <a:r>
              <a:t>Title Text</a:t>
            </a:r>
          </a:p>
        </p:txBody>
      </p:sp>
      <p:sp>
        <p:nvSpPr>
          <p:cNvPr id="85"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buClrTx/>
              <a:defRPr sz="3800"/>
            </a:lvl1pPr>
            <a:lvl2pPr marL="1117600" indent="-558800">
              <a:spcBef>
                <a:spcPts val="4500"/>
              </a:spcBef>
              <a:buClrTx/>
              <a:defRPr sz="3800"/>
            </a:lvl2pPr>
            <a:lvl3pPr marL="1676400" indent="-558800">
              <a:spcBef>
                <a:spcPts val="4500"/>
              </a:spcBef>
              <a:buClrTx/>
              <a:defRPr sz="3800"/>
            </a:lvl3pPr>
            <a:lvl4pPr marL="2235200" indent="-558800">
              <a:spcBef>
                <a:spcPts val="4500"/>
              </a:spcBef>
              <a:buClrTx/>
              <a:defRPr sz="3800"/>
            </a:lvl4pPr>
            <a:lvl5pPr marL="2794000" indent="-558800">
              <a:spcBef>
                <a:spcPts val="4500"/>
              </a:spcBef>
              <a:buClrTx/>
              <a:defRPr sz="3800"/>
            </a:lvl5pPr>
          </a:lstStyle>
          <a:p>
            <a:pPr/>
            <a:r>
              <a:t>Body Level One</a:t>
            </a:r>
          </a:p>
          <a:p>
            <a:pPr lvl="1"/>
            <a:r>
              <a:t>Body Level Two</a:t>
            </a:r>
          </a:p>
          <a:p>
            <a:pPr lvl="2"/>
            <a:r>
              <a:t>Body Level Three</a:t>
            </a:r>
          </a:p>
          <a:p>
            <a:pPr lvl="3"/>
            <a:r>
              <a:t>Body Level Four</a:t>
            </a:r>
          </a:p>
          <a:p>
            <a:pPr lvl="4"/>
            <a:r>
              <a:t>Body Level Five</a:t>
            </a: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93" name="Body Level One…"/>
          <p:cNvSpPr txBox="1"/>
          <p:nvPr>
            <p:ph type="body" idx="1"/>
          </p:nvPr>
        </p:nvSpPr>
        <p:spPr>
          <a:xfrm>
            <a:off x="1689100" y="1778000"/>
            <a:ext cx="21005800" cy="10160000"/>
          </a:xfrm>
          <a:prstGeom prst="rect">
            <a:avLst/>
          </a:prstGeom>
        </p:spPr>
        <p:txBody>
          <a:bodyPr/>
          <a:lstStyle>
            <a:lvl1pPr>
              <a:buClrTx/>
            </a:lvl1pPr>
            <a:lvl2pPr>
              <a:buClrTx/>
            </a:lvl2pPr>
            <a:lvl3pPr>
              <a:buClrTx/>
            </a:lvl3pPr>
            <a:lvl4pPr>
              <a:buClrTx/>
            </a:lvl4pPr>
            <a:lvl5pPr>
              <a:buClrTx/>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01" name="Close-up of an orange flower surrounded by large tropical leaves"/>
          <p:cNvSpPr/>
          <p:nvPr>
            <p:ph type="pic" sz="quarter" idx="21"/>
          </p:nvPr>
        </p:nvSpPr>
        <p:spPr>
          <a:xfrm>
            <a:off x="15292127" y="6870700"/>
            <a:ext cx="8341246" cy="5549900"/>
          </a:xfrm>
          <a:prstGeom prst="rect">
            <a:avLst/>
          </a:prstGeom>
        </p:spPr>
        <p:txBody>
          <a:bodyPr lIns="91439" tIns="45719" rIns="91439" bIns="45719" anchor="t">
            <a:noAutofit/>
          </a:bodyPr>
          <a:lstStyle/>
          <a:p>
            <a:pPr/>
          </a:p>
        </p:txBody>
      </p:sp>
      <p:sp>
        <p:nvSpPr>
          <p:cNvPr id="102" name="Close-up of a red-eyed tree frog perched on a leaf"/>
          <p:cNvSpPr/>
          <p:nvPr>
            <p:ph type="pic" sz="quarter" idx="22"/>
          </p:nvPr>
        </p:nvSpPr>
        <p:spPr>
          <a:xfrm>
            <a:off x="14859000" y="952500"/>
            <a:ext cx="8324850" cy="5549900"/>
          </a:xfrm>
          <a:prstGeom prst="rect">
            <a:avLst/>
          </a:prstGeom>
        </p:spPr>
        <p:txBody>
          <a:bodyPr lIns="91439" tIns="45719" rIns="91439" bIns="45719" anchor="t">
            <a:noAutofit/>
          </a:bodyPr>
          <a:lstStyle/>
          <a:p>
            <a:pPr/>
          </a:p>
        </p:txBody>
      </p:sp>
      <p:sp>
        <p:nvSpPr>
          <p:cNvPr id="103" name="River flowing through a tropical forest"/>
          <p:cNvSpPr/>
          <p:nvPr>
            <p:ph type="pic" idx="23"/>
          </p:nvPr>
        </p:nvSpPr>
        <p:spPr>
          <a:xfrm>
            <a:off x="651237" y="952500"/>
            <a:ext cx="15283726" cy="11468100"/>
          </a:xfrm>
          <a:prstGeom prst="rect">
            <a:avLst/>
          </a:prstGeom>
        </p:spPr>
        <p:txBody>
          <a:bodyPr lIns="91439" tIns="45719" rIns="91439" bIns="45719" anchor="t">
            <a:noAutofit/>
          </a:bodyPr>
          <a:lstStyle/>
          <a:p>
            <a:pPr/>
          </a:p>
        </p:txBody>
      </p:sp>
      <p:sp>
        <p:nvSpPr>
          <p:cNvPr id="1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1" name="–Johnny Appleseed"/>
          <p:cNvSpPr txBox="1"/>
          <p:nvPr>
            <p:ph type="body" sz="quarter" idx="21"/>
          </p:nvPr>
        </p:nvSpPr>
        <p:spPr>
          <a:xfrm>
            <a:off x="2387600" y="8953500"/>
            <a:ext cx="19621500" cy="585521"/>
          </a:xfrm>
          <a:prstGeom prst="rect">
            <a:avLst/>
          </a:prstGeom>
        </p:spPr>
        <p:txBody>
          <a:bodyPr anchor="t">
            <a:spAutoFit/>
          </a:bodyPr>
          <a:lstStyle>
            <a:lvl1pPr marL="0" indent="0" algn="ctr">
              <a:spcBef>
                <a:spcPts val="0"/>
              </a:spcBef>
              <a:buClrTx/>
              <a:buSzTx/>
              <a:buNone/>
              <a:defRPr i="1" sz="3200"/>
            </a:lvl1pPr>
          </a:lstStyle>
          <a:p>
            <a:pPr/>
            <a:r>
              <a:t>–Johnny Appleseed</a:t>
            </a:r>
          </a:p>
        </p:txBody>
      </p:sp>
      <p:sp>
        <p:nvSpPr>
          <p:cNvPr id="112" name="“Type a quote here.”"/>
          <p:cNvSpPr txBox="1"/>
          <p:nvPr>
            <p:ph type="body" sz="quarter" idx="22"/>
          </p:nvPr>
        </p:nvSpPr>
        <p:spPr>
          <a:xfrm>
            <a:off x="2387600" y="6076950"/>
            <a:ext cx="19621500" cy="825500"/>
          </a:xfrm>
          <a:prstGeom prst="rect">
            <a:avLst/>
          </a:prstGeom>
        </p:spPr>
        <p:txBody>
          <a:bodyPr>
            <a:spAutoFit/>
          </a:bodyPr>
          <a:lstStyle>
            <a:lvl1pPr marL="0" indent="0" algn="ctr">
              <a:spcBef>
                <a:spcPts val="0"/>
              </a:spcBef>
              <a:buClrTx/>
              <a:buSzTx/>
              <a:buNone/>
              <a:defRPr>
                <a:latin typeface="+mn-lt"/>
                <a:ea typeface="+mn-ea"/>
                <a:cs typeface="+mn-cs"/>
                <a:sym typeface="Helvetica Neue Medium"/>
              </a:defRPr>
            </a:lvl1pPr>
          </a:lstStyle>
          <a:p>
            <a:pPr/>
            <a:r>
              <a:t>“Type a quote here.” </a:t>
            </a:r>
          </a:p>
        </p:txBody>
      </p:sp>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20" name="river flowing through a tropical forest"/>
          <p:cNvSpPr/>
          <p:nvPr>
            <p:ph type="pic" idx="21"/>
          </p:nvPr>
        </p:nvSpPr>
        <p:spPr>
          <a:xfrm>
            <a:off x="0" y="-2290234"/>
            <a:ext cx="24384000" cy="18296468"/>
          </a:xfrm>
          <a:prstGeom prst="rect">
            <a:avLst/>
          </a:prstGeom>
        </p:spPr>
        <p:txBody>
          <a:bodyPr lIns="91439" tIns="45719" rIns="91439" bIns="45719" anchor="t">
            <a:noAutofit/>
          </a:bodyPr>
          <a:lstStyle/>
          <a:p>
            <a:pP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sp>
        <p:nvSpPr>
          <p:cNvPr id="2" name="Title Text"/>
          <p:cNvSpPr txBox="1"/>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lgn="ctr">
              <a:spcBef>
                <a:spcPts val="0"/>
              </a:spcBef>
              <a:defRPr sz="2400">
                <a:latin typeface="Helvetica Neue Light"/>
                <a:ea typeface="Helvetica Neue Light"/>
                <a:cs typeface="Helvetica Neue Light"/>
                <a:sym typeface="Helvetica Neue Light"/>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mn-lt"/>
          <a:ea typeface="+mn-ea"/>
          <a:cs typeface="+mn-cs"/>
          <a:sym typeface="Helvetica Neue Medium"/>
        </a:defRPr>
      </a:lvl9pPr>
    </p:titleStyle>
    <p:bodyStyle>
      <a:lvl1pPr marL="635000" marR="0" indent="-635000" algn="l" defTabSz="825500" rtl="0" latinLnBrk="0">
        <a:lnSpc>
          <a:spcPct val="100000"/>
        </a:lnSpc>
        <a:spcBef>
          <a:spcPts val="5900"/>
        </a:spcBef>
        <a:spcAft>
          <a:spcPts val="0"/>
        </a:spcAft>
        <a:buClr>
          <a:srgbClr val="FFFFFF"/>
        </a:buClr>
        <a:buSzPct val="125000"/>
        <a:buFontTx/>
        <a:buChar char="•"/>
        <a:tabLst/>
        <a:defRPr b="0" baseline="0" cap="none" i="0" spc="0" strike="noStrike" sz="4800" u="none">
          <a:solidFill>
            <a:srgbClr val="FFFFFF"/>
          </a:solidFill>
          <a:uFillTx/>
          <a:latin typeface="Helvetica Neue"/>
          <a:ea typeface="Helvetica Neue"/>
          <a:cs typeface="Helvetica Neue"/>
          <a:sym typeface="Helvetica Neue"/>
        </a:defRPr>
      </a:lvl1pPr>
      <a:lvl2pPr marL="1270000" marR="0" indent="-635000" algn="l" defTabSz="825500" rtl="0" latinLnBrk="0">
        <a:lnSpc>
          <a:spcPct val="100000"/>
        </a:lnSpc>
        <a:spcBef>
          <a:spcPts val="5900"/>
        </a:spcBef>
        <a:spcAft>
          <a:spcPts val="0"/>
        </a:spcAft>
        <a:buClr>
          <a:srgbClr val="FFFFFF"/>
        </a:buClr>
        <a:buSzPct val="125000"/>
        <a:buFontTx/>
        <a:buChar char="•"/>
        <a:tabLst/>
        <a:defRPr b="0" baseline="0" cap="none" i="0" spc="0" strike="noStrike" sz="4800" u="none">
          <a:solidFill>
            <a:srgbClr val="FFFFFF"/>
          </a:solidFill>
          <a:uFillTx/>
          <a:latin typeface="Helvetica Neue"/>
          <a:ea typeface="Helvetica Neue"/>
          <a:cs typeface="Helvetica Neue"/>
          <a:sym typeface="Helvetica Neue"/>
        </a:defRPr>
      </a:lvl2pPr>
      <a:lvl3pPr marL="1905000" marR="0" indent="-635000" algn="l" defTabSz="825500" rtl="0" latinLnBrk="0">
        <a:lnSpc>
          <a:spcPct val="100000"/>
        </a:lnSpc>
        <a:spcBef>
          <a:spcPts val="5900"/>
        </a:spcBef>
        <a:spcAft>
          <a:spcPts val="0"/>
        </a:spcAft>
        <a:buClr>
          <a:srgbClr val="FFFFFF"/>
        </a:buClr>
        <a:buSzPct val="125000"/>
        <a:buFontTx/>
        <a:buChar char="•"/>
        <a:tabLst/>
        <a:defRPr b="0" baseline="0" cap="none" i="0" spc="0" strike="noStrike" sz="4800" u="none">
          <a:solidFill>
            <a:srgbClr val="FFFFFF"/>
          </a:solidFill>
          <a:uFillTx/>
          <a:latin typeface="Helvetica Neue"/>
          <a:ea typeface="Helvetica Neue"/>
          <a:cs typeface="Helvetica Neue"/>
          <a:sym typeface="Helvetica Neue"/>
        </a:defRPr>
      </a:lvl3pPr>
      <a:lvl4pPr marL="2540000" marR="0" indent="-635000" algn="l" defTabSz="825500" rtl="0" latinLnBrk="0">
        <a:lnSpc>
          <a:spcPct val="100000"/>
        </a:lnSpc>
        <a:spcBef>
          <a:spcPts val="5900"/>
        </a:spcBef>
        <a:spcAft>
          <a:spcPts val="0"/>
        </a:spcAft>
        <a:buClr>
          <a:srgbClr val="FFFFFF"/>
        </a:buClr>
        <a:buSzPct val="125000"/>
        <a:buFontTx/>
        <a:buChar char="•"/>
        <a:tabLst/>
        <a:defRPr b="0" baseline="0" cap="none" i="0" spc="0" strike="noStrike" sz="4800" u="none">
          <a:solidFill>
            <a:srgbClr val="FFFFFF"/>
          </a:solidFill>
          <a:uFillTx/>
          <a:latin typeface="Helvetica Neue"/>
          <a:ea typeface="Helvetica Neue"/>
          <a:cs typeface="Helvetica Neue"/>
          <a:sym typeface="Helvetica Neue"/>
        </a:defRPr>
      </a:lvl4pPr>
      <a:lvl5pPr marL="3175000" marR="0" indent="-635000" algn="l" defTabSz="825500" rtl="0" latinLnBrk="0">
        <a:lnSpc>
          <a:spcPct val="100000"/>
        </a:lnSpc>
        <a:spcBef>
          <a:spcPts val="5900"/>
        </a:spcBef>
        <a:spcAft>
          <a:spcPts val="0"/>
        </a:spcAft>
        <a:buClr>
          <a:srgbClr val="FFFFFF"/>
        </a:buClr>
        <a:buSzPct val="125000"/>
        <a:buFontTx/>
        <a:buChar char="•"/>
        <a:tabLst/>
        <a:defRPr b="0" baseline="0" cap="none" i="0" spc="0" strike="noStrike" sz="4800" u="none">
          <a:solidFill>
            <a:srgbClr val="FFFFFF"/>
          </a:solidFill>
          <a:uFillTx/>
          <a:latin typeface="Helvetica Neue"/>
          <a:ea typeface="Helvetica Neue"/>
          <a:cs typeface="Helvetica Neue"/>
          <a:sym typeface="Helvetica Neue"/>
        </a:defRPr>
      </a:lvl5pPr>
      <a:lvl6pPr marL="3810000" marR="0" indent="-635000" algn="l" defTabSz="825500" rtl="0" latinLnBrk="0">
        <a:lnSpc>
          <a:spcPct val="100000"/>
        </a:lnSpc>
        <a:spcBef>
          <a:spcPts val="5900"/>
        </a:spcBef>
        <a:spcAft>
          <a:spcPts val="0"/>
        </a:spcAft>
        <a:buClr>
          <a:srgbClr val="FFFFFF"/>
        </a:buClr>
        <a:buSzPct val="125000"/>
        <a:buFontTx/>
        <a:buChar char="•"/>
        <a:tabLst/>
        <a:defRPr b="0" baseline="0" cap="none" i="0" spc="0" strike="noStrike" sz="4800" u="none">
          <a:solidFill>
            <a:srgbClr val="FFFFFF"/>
          </a:solidFill>
          <a:uFillTx/>
          <a:latin typeface="Helvetica Neue"/>
          <a:ea typeface="Helvetica Neue"/>
          <a:cs typeface="Helvetica Neue"/>
          <a:sym typeface="Helvetica Neue"/>
        </a:defRPr>
      </a:lvl6pPr>
      <a:lvl7pPr marL="4445000" marR="0" indent="-635000" algn="l" defTabSz="825500" rtl="0" latinLnBrk="0">
        <a:lnSpc>
          <a:spcPct val="100000"/>
        </a:lnSpc>
        <a:spcBef>
          <a:spcPts val="5900"/>
        </a:spcBef>
        <a:spcAft>
          <a:spcPts val="0"/>
        </a:spcAft>
        <a:buClr>
          <a:srgbClr val="FFFFFF"/>
        </a:buClr>
        <a:buSzPct val="125000"/>
        <a:buFontTx/>
        <a:buChar char="•"/>
        <a:tabLst/>
        <a:defRPr b="0" baseline="0" cap="none" i="0" spc="0" strike="noStrike" sz="4800" u="none">
          <a:solidFill>
            <a:srgbClr val="FFFFFF"/>
          </a:solidFill>
          <a:uFillTx/>
          <a:latin typeface="Helvetica Neue"/>
          <a:ea typeface="Helvetica Neue"/>
          <a:cs typeface="Helvetica Neue"/>
          <a:sym typeface="Helvetica Neue"/>
        </a:defRPr>
      </a:lvl7pPr>
      <a:lvl8pPr marL="5080000" marR="0" indent="-635000" algn="l" defTabSz="825500" rtl="0" latinLnBrk="0">
        <a:lnSpc>
          <a:spcPct val="100000"/>
        </a:lnSpc>
        <a:spcBef>
          <a:spcPts val="5900"/>
        </a:spcBef>
        <a:spcAft>
          <a:spcPts val="0"/>
        </a:spcAft>
        <a:buClr>
          <a:srgbClr val="FFFFFF"/>
        </a:buClr>
        <a:buSzPct val="125000"/>
        <a:buFontTx/>
        <a:buChar char="•"/>
        <a:tabLst/>
        <a:defRPr b="0" baseline="0" cap="none" i="0" spc="0" strike="noStrike" sz="4800" u="none">
          <a:solidFill>
            <a:srgbClr val="FFFFFF"/>
          </a:solidFill>
          <a:uFillTx/>
          <a:latin typeface="Helvetica Neue"/>
          <a:ea typeface="Helvetica Neue"/>
          <a:cs typeface="Helvetica Neue"/>
          <a:sym typeface="Helvetica Neue"/>
        </a:defRPr>
      </a:lvl8pPr>
      <a:lvl9pPr marL="5715000" marR="0" indent="-635000" algn="l" defTabSz="825500" rtl="0" latinLnBrk="0">
        <a:lnSpc>
          <a:spcPct val="100000"/>
        </a:lnSpc>
        <a:spcBef>
          <a:spcPts val="5900"/>
        </a:spcBef>
        <a:spcAft>
          <a:spcPts val="0"/>
        </a:spcAft>
        <a:buClr>
          <a:srgbClr val="FFFFFF"/>
        </a:buClr>
        <a:buSzPct val="125000"/>
        <a:buFontTx/>
        <a:buChar char="•"/>
        <a:tabLst/>
        <a:defRPr b="0" baseline="0" cap="none" i="0" spc="0" strike="noStrike" sz="4800" u="none">
          <a:solidFill>
            <a:srgbClr val="FFFFFF"/>
          </a:solidFill>
          <a:uFillTx/>
          <a:latin typeface="Helvetica Neue"/>
          <a:ea typeface="Helvetica Neue"/>
          <a:cs typeface="Helvetica Neue"/>
          <a:sym typeface="Helvetica Neue"/>
        </a:defRPr>
      </a:lvl9pPr>
    </p:bodyStyle>
    <p:otherStyle>
      <a:lvl1pPr marL="0" marR="0" indent="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1pPr>
      <a:lvl2pPr marL="0" marR="0" indent="2286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2pPr>
      <a:lvl3pPr marL="0" marR="0" indent="4572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3pPr>
      <a:lvl4pPr marL="0" marR="0" indent="6858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4pPr>
      <a:lvl5pPr marL="0" marR="0" indent="9144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5pPr>
      <a:lvl6pPr marL="0" marR="0" indent="11430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6pPr>
      <a:lvl7pPr marL="0" marR="0" indent="13716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7pPr>
      <a:lvl8pPr marL="0" marR="0" indent="16002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8pPr>
      <a:lvl9pPr marL="0" marR="0" indent="18288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MAJOR PROJECT VIVA DEFENSE • B.TECH COMPUTER ENGINEERING"/>
          <p:cNvSpPr txBox="1"/>
          <p:nvPr/>
        </p:nvSpPr>
        <p:spPr>
          <a:xfrm>
            <a:off x="1270000" y="2264765"/>
            <a:ext cx="21844000" cy="342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1600">
                <a:solidFill>
                  <a:srgbClr val="CF1F3E"/>
                </a:solidFill>
                <a:latin typeface="Helvetica"/>
                <a:ea typeface="Helvetica"/>
                <a:cs typeface="Helvetica"/>
                <a:sym typeface="Helvetica"/>
              </a:defRPr>
            </a:lvl1pPr>
          </a:lstStyle>
          <a:p>
            <a:pPr/>
            <a:r>
              <a:t>MAJOR PROJECT VIVA DEFENSE • B.TECH COMPUTER ENGINEERING</a:t>
            </a:r>
          </a:p>
        </p:txBody>
      </p:sp>
      <p:sp>
        <p:nvSpPr>
          <p:cNvPr id="138" name="CyberSentinel AI"/>
          <p:cNvSpPr txBox="1"/>
          <p:nvPr/>
        </p:nvSpPr>
        <p:spPr>
          <a:xfrm>
            <a:off x="1270000" y="2436215"/>
            <a:ext cx="21844000" cy="1143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6800">
                <a:latin typeface="Helvetica"/>
                <a:ea typeface="Helvetica"/>
                <a:cs typeface="Helvetica"/>
                <a:sym typeface="Helvetica"/>
              </a:defRPr>
            </a:lvl1pPr>
          </a:lstStyle>
          <a:p>
            <a:pPr/>
            <a:r>
              <a:t>CyberSentinel AI</a:t>
            </a:r>
          </a:p>
        </p:txBody>
      </p:sp>
      <p:sp>
        <p:nvSpPr>
          <p:cNvPr id="139" name="An Autonomous Security Operations Center (SOC) Assistant Powered by RAG &amp; LLMs"/>
          <p:cNvSpPr txBox="1"/>
          <p:nvPr/>
        </p:nvSpPr>
        <p:spPr>
          <a:xfrm>
            <a:off x="1270000" y="4093565"/>
            <a:ext cx="21844000" cy="495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600">
                <a:solidFill>
                  <a:srgbClr val="B1B1B8"/>
                </a:solidFill>
                <a:latin typeface="Helvetica"/>
                <a:ea typeface="Helvetica"/>
                <a:cs typeface="Helvetica"/>
                <a:sym typeface="Helvetica"/>
              </a:defRPr>
            </a:lvl1pPr>
          </a:lstStyle>
          <a:p>
            <a:pPr/>
            <a:r>
              <a:t>An Autonomous Security Operations Center (SOC) Assistant Powered by RAG &amp; LLMs</a:t>
            </a:r>
          </a:p>
        </p:txBody>
      </p:sp>
      <p:sp>
        <p:nvSpPr>
          <p:cNvPr id="140" name="Line"/>
          <p:cNvSpPr/>
          <p:nvPr/>
        </p:nvSpPr>
        <p:spPr>
          <a:xfrm flipV="1">
            <a:off x="1270000" y="4825999"/>
            <a:ext cx="21844001" cy="2"/>
          </a:xfrm>
          <a:prstGeom prst="line">
            <a:avLst/>
          </a:prstGeom>
          <a:ln w="25400">
            <a:solidFill>
              <a:srgbClr val="FFFFFF"/>
            </a:solidFill>
            <a:miter lim="400000"/>
          </a:ln>
        </p:spPr>
        <p:txBody>
          <a:bodyPr lIns="50800" tIns="50800" rIns="50800" bIns="50800" anchor="ctr"/>
          <a:lstStyle/>
          <a:p>
            <a:pPr/>
          </a:p>
        </p:txBody>
      </p:sp>
      <p:graphicFrame>
        <p:nvGraphicFramePr>
          <p:cNvPr id="141" name="Table 1"/>
          <p:cNvGraphicFramePr/>
          <p:nvPr/>
        </p:nvGraphicFramePr>
        <p:xfrm>
          <a:off x="1270000" y="5461000"/>
          <a:ext cx="21005800" cy="1016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080000"/>
                <a:gridCol w="16764000"/>
              </a:tblGrid>
              <a:tr h="1206500">
                <a:tc>
                  <a:txBody>
                    <a:bodyPr/>
                    <a:lstStyle/>
                    <a:p>
                      <a:pPr>
                        <a:defRPr sz="1800">
                          <a:solidFill>
                            <a:srgbClr val="000000"/>
                          </a:solidFill>
                        </a:defRPr>
                      </a:pPr>
                      <a:r>
                        <a:rPr b="1" sz="2000">
                          <a:solidFill>
                            <a:srgbClr val="FFFFFF"/>
                          </a:solidFill>
                          <a:latin typeface="Helvetica"/>
                          <a:ea typeface="Helvetica"/>
                          <a:cs typeface="Helvetica"/>
                          <a:sym typeface="Helvetica"/>
                        </a:rPr>
                        <a:t>Candidate / Presenter</a:t>
                      </a:r>
                    </a:p>
                  </a:txBody>
                  <a:tcPr marL="50800" marR="50800" marT="50800" marB="50800" anchor="ctr" anchorCtr="0" horzOverflow="overflow">
                    <a:lnL w="12700">
                      <a:solidFill>
                        <a:srgbClr val="D6D6D6"/>
                      </a:solidFill>
                      <a:miter lim="400000"/>
                    </a:lnL>
                    <a:lnT w="12700">
                      <a:solidFill>
                        <a:srgbClr val="D6D6D6"/>
                      </a:solidFill>
                      <a:miter lim="400000"/>
                    </a:lnT>
                    <a:solidFill>
                      <a:srgbClr val="1A1A20"/>
                    </a:solidFill>
                  </a:tcPr>
                </a:tc>
                <a:tc>
                  <a:txBody>
                    <a:bodyPr/>
                    <a:lstStyle/>
                    <a:p>
                      <a:pPr>
                        <a:defRPr sz="1800">
                          <a:solidFill>
                            <a:srgbClr val="000000"/>
                          </a:solidFill>
                        </a:defRPr>
                      </a:pPr>
                      <a:r>
                        <a:rPr sz="2000">
                          <a:solidFill>
                            <a:srgbClr val="FFFFFF"/>
                          </a:solidFill>
                          <a:latin typeface="Helvetica"/>
                          <a:ea typeface="Helvetica"/>
                          <a:cs typeface="Helvetica"/>
                          <a:sym typeface="Helvetica"/>
                        </a:rPr>
                        <a:t>Soham Sakat  (B.Tech Final Year • AI &amp; Cybersecurity Specialization)</a:t>
                      </a:r>
                    </a:p>
                  </a:txBody>
                  <a:tcPr marL="50800" marR="50800" marT="50800" marB="50800" anchor="ctr" anchorCtr="0" horzOverflow="overflow">
                    <a:lnR w="12700">
                      <a:solidFill>
                        <a:srgbClr val="D6D6D6"/>
                      </a:solidFill>
                      <a:miter lim="400000"/>
                    </a:lnR>
                    <a:lnT w="12700">
                      <a:solidFill>
                        <a:srgbClr val="D6D6D6"/>
                      </a:solidFill>
                      <a:miter lim="400000"/>
                    </a:lnT>
                    <a:solidFill>
                      <a:srgbClr val="1A1A20"/>
                    </a:solidFill>
                  </a:tcPr>
                </a:tc>
              </a:tr>
              <a:tr h="1206500">
                <a:tc>
                  <a:txBody>
                    <a:bodyPr/>
                    <a:lstStyle/>
                    <a:p>
                      <a:pPr>
                        <a:defRPr sz="1800">
                          <a:solidFill>
                            <a:srgbClr val="000000"/>
                          </a:solidFill>
                        </a:defRPr>
                      </a:pPr>
                      <a:r>
                        <a:rPr b="1" sz="2000">
                          <a:solidFill>
                            <a:srgbClr val="FFFFFF"/>
                          </a:solidFill>
                          <a:latin typeface="Helvetica"/>
                          <a:ea typeface="Helvetica"/>
                          <a:cs typeface="Helvetica"/>
                          <a:sym typeface="Helvetica"/>
                        </a:rPr>
                        <a:t>Core Research Focus</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sz="2000">
                          <a:solidFill>
                            <a:srgbClr val="FFFFFF"/>
                          </a:solidFill>
                          <a:latin typeface="Helvetica"/>
                          <a:ea typeface="Helvetica"/>
                          <a:cs typeface="Helvetica"/>
                          <a:sym typeface="Helvetica"/>
                        </a:rPr>
                        <a:t>Autonomous Incident Triage, Hybrid Vector RAG, and Zero-Hallucination SecOps</a:t>
                      </a:r>
                    </a:p>
                  </a:txBody>
                  <a:tcPr marL="50800" marR="50800" marT="50800" marB="50800" anchor="ctr" anchorCtr="0" horzOverflow="overflow">
                    <a:lnR w="12700">
                      <a:solidFill>
                        <a:srgbClr val="D6D6D6"/>
                      </a:solidFill>
                      <a:miter lim="400000"/>
                    </a:lnR>
                    <a:solidFill>
                      <a:srgbClr val="1A1A20"/>
                    </a:solidFill>
                  </a:tcPr>
                </a:tc>
              </a:tr>
              <a:tr h="1206500">
                <a:tc>
                  <a:txBody>
                    <a:bodyPr/>
                    <a:lstStyle/>
                    <a:p>
                      <a:pPr>
                        <a:defRPr sz="1800">
                          <a:solidFill>
                            <a:srgbClr val="000000"/>
                          </a:solidFill>
                        </a:defRPr>
                      </a:pPr>
                      <a:r>
                        <a:rPr b="1" sz="2000">
                          <a:solidFill>
                            <a:srgbClr val="FFFFFF"/>
                          </a:solidFill>
                          <a:latin typeface="Helvetica"/>
                          <a:ea typeface="Helvetica"/>
                          <a:cs typeface="Helvetica"/>
                          <a:sym typeface="Helvetica"/>
                        </a:rPr>
                        <a:t>Key Standards &amp; Frameworks</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sz="2000">
                          <a:solidFill>
                            <a:srgbClr val="FFFFFF"/>
                          </a:solidFill>
                          <a:latin typeface="Helvetica"/>
                          <a:ea typeface="Helvetica"/>
                          <a:cs typeface="Helvetica"/>
                          <a:sym typeface="Helvetica"/>
                        </a:rPr>
                        <a:t>MITRE ATT&amp;CK Enterprise (v14) • NIST SP 800-61 Rev. 2 • Elastic Common Schema (ECS)</a:t>
                      </a:r>
                    </a:p>
                  </a:txBody>
                  <a:tcPr marL="50800" marR="50800" marT="50800" marB="50800" anchor="ctr" anchorCtr="0" horzOverflow="overflow">
                    <a:lnR w="12700">
                      <a:solidFill>
                        <a:srgbClr val="D6D6D6"/>
                      </a:solidFill>
                      <a:miter lim="400000"/>
                    </a:lnR>
                    <a:solidFill>
                      <a:srgbClr val="1A1A20"/>
                    </a:solidFill>
                  </a:tcPr>
                </a:tc>
              </a:tr>
              <a:tr h="1206500">
                <a:tc>
                  <a:txBody>
                    <a:bodyPr/>
                    <a:lstStyle/>
                    <a:p>
                      <a:pPr>
                        <a:defRPr sz="1800">
                          <a:solidFill>
                            <a:srgbClr val="000000"/>
                          </a:solidFill>
                        </a:defRPr>
                      </a:pPr>
                      <a:r>
                        <a:rPr b="1" sz="2000">
                          <a:solidFill>
                            <a:srgbClr val="FFFFFF"/>
                          </a:solidFill>
                          <a:latin typeface="Helvetica"/>
                          <a:ea typeface="Helvetica"/>
                          <a:cs typeface="Helvetica"/>
                          <a:sym typeface="Helvetica"/>
                        </a:rPr>
                        <a:t>Open-Source Repository</a:t>
                      </a:r>
                    </a:p>
                  </a:txBody>
                  <a:tcPr marL="50800" marR="50800" marT="50800" marB="50800" anchor="ctr" anchorCtr="0" horzOverflow="overflow">
                    <a:lnL w="12700">
                      <a:solidFill>
                        <a:srgbClr val="D6D6D6"/>
                      </a:solidFill>
                      <a:miter lim="400000"/>
                    </a:lnL>
                    <a:lnB w="12700">
                      <a:solidFill>
                        <a:srgbClr val="D6D6D6"/>
                      </a:solidFill>
                      <a:miter lim="400000"/>
                    </a:lnB>
                    <a:solidFill>
                      <a:srgbClr val="1A1A20"/>
                    </a:solidFill>
                  </a:tcPr>
                </a:tc>
                <a:tc>
                  <a:txBody>
                    <a:bodyPr/>
                    <a:lstStyle/>
                    <a:p>
                      <a:pPr>
                        <a:defRPr sz="1800">
                          <a:solidFill>
                            <a:srgbClr val="000000"/>
                          </a:solidFill>
                        </a:defRPr>
                      </a:pPr>
                      <a:r>
                        <a:rPr sz="2000">
                          <a:solidFill>
                            <a:srgbClr val="FFFFFF"/>
                          </a:solidFill>
                          <a:latin typeface="Helvetica"/>
                          <a:ea typeface="Helvetica"/>
                          <a:cs typeface="Helvetica"/>
                          <a:sym typeface="Helvetica"/>
                        </a:rPr>
                        <a:t>https://github.com/sohamsakat/cybersentinel-ai  (Full-Stack Production System)</a:t>
                      </a:r>
                    </a:p>
                  </a:txBody>
                  <a:tcPr marL="50800" marR="50800" marT="50800" marB="50800" anchor="ctr" anchorCtr="0" horzOverflow="overflow">
                    <a:lnR w="12700">
                      <a:solidFill>
                        <a:srgbClr val="D6D6D6"/>
                      </a:solidFill>
                      <a:miter lim="400000"/>
                    </a:lnR>
                    <a:lnB w="12700">
                      <a:solidFill>
                        <a:srgbClr val="D6D6D6"/>
                      </a:solidFill>
                      <a:miter lim="400000"/>
                    </a:lnB>
                    <a:solidFill>
                      <a:srgbClr val="1A1A20"/>
                    </a:solidFill>
                  </a:tcPr>
                </a:tc>
              </a:tr>
            </a:tbl>
          </a:graphicData>
        </a:graphic>
      </p:graphicFrame>
      <p:sp>
        <p:nvSpPr>
          <p:cNvPr id="142" name="CyberSentinel AI • Enterprise SIEM &amp; Autonomous SecOps Assistant"/>
          <p:cNvSpPr txBox="1"/>
          <p:nvPr/>
        </p:nvSpPr>
        <p:spPr>
          <a:xfrm>
            <a:off x="1270000" y="12685115"/>
            <a:ext cx="21844000" cy="330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500">
                <a:solidFill>
                  <a:srgbClr val="B1B1B8"/>
                </a:solidFill>
                <a:latin typeface="Helvetica"/>
                <a:ea typeface="Helvetica"/>
                <a:cs typeface="Helvetica"/>
                <a:sym typeface="Helvetica"/>
              </a:defRPr>
            </a:lvl1pPr>
          </a:lstStyle>
          <a:p>
            <a:pPr/>
            <a:r>
              <a:t>CyberSentinel AI • Enterprise SIEM &amp; Autonomous SecOps Assistant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1. INTRODUCTION &amp; PROBLEM CONTEXT"/>
          <p:cNvSpPr txBox="1"/>
          <p:nvPr/>
        </p:nvSpPr>
        <p:spPr>
          <a:xfrm>
            <a:off x="1270000" y="753465"/>
            <a:ext cx="21844000" cy="317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1400">
                <a:solidFill>
                  <a:srgbClr val="CF1F3E"/>
                </a:solidFill>
                <a:latin typeface="Helvetica"/>
                <a:ea typeface="Helvetica"/>
                <a:cs typeface="Helvetica"/>
                <a:sym typeface="Helvetica"/>
              </a:defRPr>
            </a:lvl1pPr>
          </a:lstStyle>
          <a:p>
            <a:pPr/>
            <a:r>
              <a:t>1. INTRODUCTION &amp; PROBLEM CONTEXT</a:t>
            </a:r>
          </a:p>
        </p:txBody>
      </p:sp>
      <p:sp>
        <p:nvSpPr>
          <p:cNvPr id="147" name="1. INTRODUCTION: Enterprise SOCs &amp; The Alert Deluge"/>
          <p:cNvSpPr txBox="1"/>
          <p:nvPr/>
        </p:nvSpPr>
        <p:spPr>
          <a:xfrm>
            <a:off x="1270000" y="918565"/>
            <a:ext cx="21844000" cy="622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3400">
                <a:latin typeface="Helvetica"/>
                <a:ea typeface="Helvetica"/>
                <a:cs typeface="Helvetica"/>
                <a:sym typeface="Helvetica"/>
              </a:defRPr>
            </a:lvl1pPr>
          </a:lstStyle>
          <a:p>
            <a:pPr/>
            <a:r>
              <a:t>1. INTRODUCTION: Enterprise SOCs &amp; The Alert Deluge</a:t>
            </a:r>
          </a:p>
        </p:txBody>
      </p:sp>
      <p:sp>
        <p:nvSpPr>
          <p:cNvPr id="148" name="The Operational Breakdown in Modern Security Operations Centers (SOC) and the Shift to Cognitive AI"/>
          <p:cNvSpPr txBox="1"/>
          <p:nvPr/>
        </p:nvSpPr>
        <p:spPr>
          <a:xfrm>
            <a:off x="1270000" y="1674215"/>
            <a:ext cx="21844000" cy="381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solidFill>
                  <a:srgbClr val="B1B1B8"/>
                </a:solidFill>
                <a:latin typeface="Helvetica"/>
                <a:ea typeface="Helvetica"/>
                <a:cs typeface="Helvetica"/>
                <a:sym typeface="Helvetica"/>
              </a:defRPr>
            </a:lvl1pPr>
          </a:lstStyle>
          <a:p>
            <a:pPr/>
            <a:r>
              <a:t>The Operational Breakdown in Modern Security Operations Centers (SOC) and the Shift to Cognitive AI</a:t>
            </a:r>
          </a:p>
        </p:txBody>
      </p:sp>
      <p:sp>
        <p:nvSpPr>
          <p:cNvPr id="149" name="Line"/>
          <p:cNvSpPr/>
          <p:nvPr/>
        </p:nvSpPr>
        <p:spPr>
          <a:xfrm>
            <a:off x="1269999" y="1968500"/>
            <a:ext cx="21844001" cy="1"/>
          </a:xfrm>
          <a:prstGeom prst="line">
            <a:avLst/>
          </a:prstGeom>
          <a:ln w="25400">
            <a:solidFill>
              <a:srgbClr val="FFFFFF"/>
            </a:solidFill>
            <a:miter lim="400000"/>
          </a:ln>
        </p:spPr>
        <p:txBody>
          <a:bodyPr lIns="50800" tIns="50800" rIns="50800" bIns="50800" anchor="ctr"/>
          <a:lstStyle/>
          <a:p>
            <a:pPr/>
          </a:p>
        </p:txBody>
      </p:sp>
      <p:graphicFrame>
        <p:nvGraphicFramePr>
          <p:cNvPr id="150" name="Table 1"/>
          <p:cNvGraphicFramePr/>
          <p:nvPr/>
        </p:nvGraphicFramePr>
        <p:xfrm>
          <a:off x="1270000" y="2286000"/>
          <a:ext cx="21005800" cy="1016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281333"/>
                <a:gridCol w="7281333"/>
                <a:gridCol w="7281333"/>
              </a:tblGrid>
              <a:tr h="2381250">
                <a:tc>
                  <a:txBody>
                    <a:bodyPr/>
                    <a:lstStyle/>
                    <a:p>
                      <a:pPr>
                        <a:defRPr sz="1800">
                          <a:solidFill>
                            <a:srgbClr val="000000"/>
                          </a:solidFill>
                        </a:defRPr>
                      </a:pPr>
                      <a:r>
                        <a:rPr b="1">
                          <a:solidFill>
                            <a:srgbClr val="FFFFFF"/>
                          </a:solidFill>
                          <a:latin typeface="Helvetica"/>
                          <a:ea typeface="Helvetica"/>
                          <a:cs typeface="Helvetica"/>
                          <a:sym typeface="Helvetica"/>
                        </a:rPr>
                        <a:t>THE TELEMETRY OVERLOAD</a:t>
                      </a:r>
                    </a:p>
                  </a:txBody>
                  <a:tcPr marL="50800" marR="50800" marT="50800" marB="50800" anchor="ctr" anchorCtr="0" horzOverflow="overflow">
                    <a:lnL w="12700">
                      <a:solidFill>
                        <a:srgbClr val="D6D6D6"/>
                      </a:solidFill>
                      <a:miter lim="400000"/>
                    </a:lnL>
                    <a:lnT w="12700">
                      <a:solidFill>
                        <a:srgbClr val="D6D6D6"/>
                      </a:solidFill>
                      <a:miter lim="400000"/>
                    </a:lnT>
                    <a:solidFill>
                      <a:srgbClr val="202025"/>
                    </a:solidFill>
                  </a:tcPr>
                </a:tc>
                <a:tc>
                  <a:txBody>
                    <a:bodyPr/>
                    <a:lstStyle/>
                    <a:p>
                      <a:pPr>
                        <a:defRPr sz="1800">
                          <a:solidFill>
                            <a:srgbClr val="000000"/>
                          </a:solidFill>
                        </a:defRPr>
                      </a:pPr>
                      <a:r>
                        <a:rPr b="1">
                          <a:solidFill>
                            <a:srgbClr val="FFFFFF"/>
                          </a:solidFill>
                          <a:latin typeface="Helvetica"/>
                          <a:ea typeface="Helvetica"/>
                          <a:cs typeface="Helvetica"/>
                          <a:sym typeface="Helvetica"/>
                        </a:rPr>
                        <a:t>THE HUMAN BOTTLENECK</a:t>
                      </a:r>
                    </a:p>
                  </a:txBody>
                  <a:tcPr marL="50800" marR="50800" marT="50800" marB="50800" anchor="ctr" anchorCtr="0" horzOverflow="overflow">
                    <a:lnT w="12700">
                      <a:solidFill>
                        <a:srgbClr val="D6D6D6"/>
                      </a:solidFill>
                      <a:miter lim="400000"/>
                    </a:lnT>
                    <a:solidFill>
                      <a:srgbClr val="CF1F3E"/>
                    </a:solidFill>
                  </a:tcPr>
                </a:tc>
                <a:tc>
                  <a:txBody>
                    <a:bodyPr/>
                    <a:lstStyle/>
                    <a:p>
                      <a:pPr>
                        <a:defRPr sz="1800">
                          <a:solidFill>
                            <a:srgbClr val="000000"/>
                          </a:solidFill>
                        </a:defRPr>
                      </a:pPr>
                      <a:r>
                        <a:rPr b="1">
                          <a:solidFill>
                            <a:srgbClr val="FFFFFF"/>
                          </a:solidFill>
                          <a:latin typeface="Helvetica"/>
                          <a:ea typeface="Helvetica"/>
                          <a:cs typeface="Helvetica"/>
                          <a:sym typeface="Helvetica"/>
                        </a:rPr>
                        <a:t>THE COGNITIVE RAG PARADIGM</a:t>
                      </a:r>
                    </a:p>
                  </a:txBody>
                  <a:tcPr marL="50800" marR="50800" marT="50800" marB="50800" anchor="ctr" anchorCtr="0" horzOverflow="overflow">
                    <a:lnR w="12700">
                      <a:solidFill>
                        <a:srgbClr val="D6D6D6"/>
                      </a:solidFill>
                      <a:miter lim="400000"/>
                    </a:lnR>
                    <a:lnT w="12700">
                      <a:solidFill>
                        <a:srgbClr val="D6D6D6"/>
                      </a:solidFill>
                      <a:miter lim="400000"/>
                    </a:lnT>
                    <a:solidFill>
                      <a:srgbClr val="202025"/>
                    </a:solidFill>
                  </a:tcPr>
                </a:tc>
              </a:tr>
              <a:tr h="2381250">
                <a:tc>
                  <a:txBody>
                    <a:bodyPr/>
                    <a:lstStyle/>
                    <a:p>
                      <a:pPr>
                        <a:defRPr sz="1800">
                          <a:solidFill>
                            <a:srgbClr val="000000"/>
                          </a:solidFill>
                        </a:defRPr>
                      </a:pPr>
                      <a:r>
                        <a:rPr b="1" sz="3200">
                          <a:solidFill>
                            <a:srgbClr val="FFFFFF"/>
                          </a:solidFill>
                          <a:latin typeface="Helvetica"/>
                          <a:ea typeface="Helvetica"/>
                          <a:cs typeface="Helvetica"/>
                          <a:sym typeface="Helvetica"/>
                        </a:rPr>
                        <a:t>100,000+ Logs / Day</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3200">
                          <a:solidFill>
                            <a:srgbClr val="CF1F3E"/>
                          </a:solidFill>
                          <a:latin typeface="Helvetica"/>
                          <a:ea typeface="Helvetica"/>
                          <a:cs typeface="Helvetica"/>
                          <a:sym typeface="Helvetica"/>
                        </a:rPr>
                        <a:t>90%+ False Alarms</a:t>
                      </a:r>
                    </a:p>
                  </a:txBody>
                  <a:tcPr marL="50800" marR="50800" marT="50800" marB="50800" anchor="ctr" anchorCtr="0" horzOverflow="overflow">
                    <a:solidFill>
                      <a:srgbClr val="1A1A20"/>
                    </a:solidFill>
                  </a:tcPr>
                </a:tc>
                <a:tc>
                  <a:txBody>
                    <a:bodyPr/>
                    <a:lstStyle/>
                    <a:p>
                      <a:pPr>
                        <a:defRPr sz="1800">
                          <a:solidFill>
                            <a:srgbClr val="000000"/>
                          </a:solidFill>
                        </a:defRPr>
                      </a:pPr>
                      <a:r>
                        <a:rPr b="1" sz="3200">
                          <a:solidFill>
                            <a:srgbClr val="FFFFFF"/>
                          </a:solidFill>
                          <a:latin typeface="Helvetica"/>
                          <a:ea typeface="Helvetica"/>
                          <a:cs typeface="Helvetica"/>
                          <a:sym typeface="Helvetica"/>
                        </a:rPr>
                        <a:t>&lt; 2.4s Autonomous Triage</a:t>
                      </a:r>
                    </a:p>
                  </a:txBody>
                  <a:tcPr marL="50800" marR="50800" marT="50800" marB="50800" anchor="ctr" anchorCtr="0" horzOverflow="overflow">
                    <a:lnR w="12700">
                      <a:solidFill>
                        <a:srgbClr val="D6D6D6"/>
                      </a:solidFill>
                      <a:miter lim="400000"/>
                    </a:lnR>
                    <a:solidFill>
                      <a:srgbClr val="1A1A20"/>
                    </a:solidFill>
                  </a:tcPr>
                </a:tc>
              </a:tr>
              <a:tr h="2381250">
                <a:tc>
                  <a:txBody>
                    <a:bodyPr/>
                    <a:lstStyle/>
                    <a:p>
                      <a:pPr>
                        <a:defRPr sz="1800">
                          <a:solidFill>
                            <a:srgbClr val="000000"/>
                          </a:solidFill>
                        </a:defRPr>
                      </a:pPr>
                      <a:r>
                        <a:rPr b="1" sz="1500">
                          <a:solidFill>
                            <a:srgbClr val="B1B1B8"/>
                          </a:solidFill>
                          <a:latin typeface="Helvetica"/>
                          <a:ea typeface="Helvetica"/>
                          <a:cs typeface="Helvetica"/>
                          <a:sym typeface="Helvetica"/>
                        </a:rPr>
                        <a:t>Heterogeneous Hybrid-Cloud Perimeters</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1500">
                          <a:solidFill>
                            <a:srgbClr val="B1B1B8"/>
                          </a:solidFill>
                          <a:latin typeface="Helvetica"/>
                          <a:ea typeface="Helvetica"/>
                          <a:cs typeface="Helvetica"/>
                          <a:sym typeface="Helvetica"/>
                        </a:rPr>
                        <a:t>Severe Cognitive Alert Fatigue</a:t>
                      </a:r>
                    </a:p>
                  </a:txBody>
                  <a:tcPr marL="50800" marR="50800" marT="50800" marB="50800" anchor="ctr" anchorCtr="0" horzOverflow="overflow">
                    <a:solidFill>
                      <a:srgbClr val="1A1A20"/>
                    </a:solidFill>
                  </a:tcPr>
                </a:tc>
                <a:tc>
                  <a:txBody>
                    <a:bodyPr/>
                    <a:lstStyle/>
                    <a:p>
                      <a:pPr>
                        <a:defRPr sz="1800">
                          <a:solidFill>
                            <a:srgbClr val="000000"/>
                          </a:solidFill>
                        </a:defRPr>
                      </a:pPr>
                      <a:r>
                        <a:rPr b="1" sz="1500">
                          <a:solidFill>
                            <a:srgbClr val="B1B1B8"/>
                          </a:solidFill>
                          <a:latin typeface="Helvetica"/>
                          <a:ea typeface="Helvetica"/>
                          <a:cs typeface="Helvetica"/>
                          <a:sym typeface="Helvetica"/>
                        </a:rPr>
                        <a:t>Deterministic Tier-1 Copilot</a:t>
                      </a:r>
                    </a:p>
                  </a:txBody>
                  <a:tcPr marL="50800" marR="50800" marT="50800" marB="50800" anchor="ctr" anchorCtr="0" horzOverflow="overflow">
                    <a:lnR w="12700">
                      <a:solidFill>
                        <a:srgbClr val="D6D6D6"/>
                      </a:solidFill>
                      <a:miter lim="400000"/>
                    </a:lnR>
                    <a:solidFill>
                      <a:srgbClr val="1A1A20"/>
                    </a:solidFill>
                  </a:tcPr>
                </a:tc>
              </a:tr>
              <a:tr h="2381250">
                <a:tc>
                  <a:txBody>
                    <a:bodyPr/>
                    <a:lstStyle/>
                    <a:p>
                      <a:pPr algn="l">
                        <a:defRPr sz="1800">
                          <a:solidFill>
                            <a:srgbClr val="000000"/>
                          </a:solidFill>
                        </a:defRPr>
                      </a:pPr>
                      <a:r>
                        <a:rPr sz="1500">
                          <a:solidFill>
                            <a:srgbClr val="FFFFFF"/>
                          </a:solidFill>
                          <a:latin typeface="Helvetica"/>
                          <a:ea typeface="Helvetica"/>
                          <a:cs typeface="Helvetica"/>
                          <a:sym typeface="Helvetica"/>
                        </a:rPr>
                        <a:t>• Enterprise perimeters generate massive unstructured logs across Firewalls, Windows EventLogs, Linux auth.log, and Apache web servers.• Data arrives in disparate schemas without uniform standards, making manual cross-correlation across attack vectors nearly impossible.• Critical attack indicators (e.g. low-and-slow reconnaissance, credential dumping) are buried within terabytes of normal routine traffic.</a:t>
                      </a:r>
                    </a:p>
                  </a:txBody>
                  <a:tcPr marL="50800" marR="50800" marT="50800" marB="50800" anchor="ctr" anchorCtr="0" horzOverflow="overflow">
                    <a:lnL w="12700">
                      <a:solidFill>
                        <a:srgbClr val="D6D6D6"/>
                      </a:solidFill>
                      <a:miter lim="400000"/>
                    </a:lnL>
                    <a:lnB w="12700">
                      <a:solidFill>
                        <a:srgbClr val="D6D6D6"/>
                      </a:solidFill>
                      <a:miter lim="400000"/>
                    </a:lnB>
                    <a:solidFill>
                      <a:srgbClr val="101115"/>
                    </a:solidFill>
                  </a:tcPr>
                </a:tc>
                <a:tc>
                  <a:txBody>
                    <a:bodyPr/>
                    <a:lstStyle/>
                    <a:p>
                      <a:pPr algn="l">
                        <a:defRPr sz="1800">
                          <a:solidFill>
                            <a:srgbClr val="000000"/>
                          </a:solidFill>
                        </a:defRPr>
                      </a:pPr>
                      <a:r>
                        <a:rPr sz="1500">
                          <a:solidFill>
                            <a:srgbClr val="FFFFFF"/>
                          </a:solidFill>
                          <a:latin typeface="Helvetica"/>
                          <a:ea typeface="Helvetica"/>
                          <a:cs typeface="Helvetica"/>
                          <a:sym typeface="Helvetica"/>
                        </a:rPr>
                        <a:t>• Tier-1 security analysts face thousands of disconnected alerts daily, spending 45+ minutes per incident on manual hex parsing.• Repetitive triage induces acute mental burnout; analysts inevitably miss subtle, high-severity APT indicators.• Industry breach dwell time exceeds 200+ days before detection, allowing adversaries ample time to exfiltrate mission-critical data.</a:t>
                      </a:r>
                    </a:p>
                  </a:txBody>
                  <a:tcPr marL="50800" marR="50800" marT="50800" marB="50800" anchor="ctr" anchorCtr="0" horzOverflow="overflow">
                    <a:lnB w="12700">
                      <a:solidFill>
                        <a:srgbClr val="D6D6D6"/>
                      </a:solidFill>
                      <a:miter lim="400000"/>
                    </a:lnB>
                    <a:solidFill>
                      <a:srgbClr val="101115"/>
                    </a:solidFill>
                  </a:tcPr>
                </a:tc>
                <a:tc>
                  <a:txBody>
                    <a:bodyPr/>
                    <a:lstStyle/>
                    <a:p>
                      <a:pPr algn="l">
                        <a:defRPr sz="1800">
                          <a:solidFill>
                            <a:srgbClr val="000000"/>
                          </a:solidFill>
                        </a:defRPr>
                      </a:pPr>
                      <a:r>
                        <a:rPr sz="1500">
                          <a:solidFill>
                            <a:srgbClr val="FFFFFF"/>
                          </a:solidFill>
                          <a:latin typeface="Helvetica"/>
                          <a:ea typeface="Helvetica"/>
                          <a:cs typeface="Helvetica"/>
                          <a:sym typeface="Helvetica"/>
                        </a:rPr>
                        <a:t>• CyberSentinel AI operates as an automated, tireless Tier-1 analyst directly in the streaming telemetry pipeline.• Normalizes raw logs into the Elastic Common Schema (ECS) and pre-filters 90%+ benign routine noise at the edge.• Cross-references MITRE ATT&amp;CK Enterprise (v14) via local ChromaDB vector embeddings for zero-hallucination triage.</a:t>
                      </a:r>
                    </a:p>
                  </a:txBody>
                  <a:tcPr marL="50800" marR="50800" marT="50800" marB="50800" anchor="ctr" anchorCtr="0" horzOverflow="overflow">
                    <a:lnR w="12700">
                      <a:solidFill>
                        <a:srgbClr val="D6D6D6"/>
                      </a:solidFill>
                      <a:miter lim="400000"/>
                    </a:lnR>
                    <a:lnB w="12700">
                      <a:solidFill>
                        <a:srgbClr val="D6D6D6"/>
                      </a:solidFill>
                      <a:miter lim="400000"/>
                    </a:lnB>
                    <a:solidFill>
                      <a:srgbClr val="101115"/>
                    </a:solidFill>
                  </a:tcPr>
                </a:tc>
              </a:tr>
            </a:tbl>
          </a:graphicData>
        </a:graphic>
      </p:graphicFrame>
      <p:sp>
        <p:nvSpPr>
          <p:cNvPr id="151" name="The Core Objective: Empower human security analysts to focus strictly on strategic response rather than repetitive, exhausting log pre-filtering."/>
          <p:cNvSpPr txBox="1"/>
          <p:nvPr/>
        </p:nvSpPr>
        <p:spPr>
          <a:xfrm>
            <a:off x="1270000" y="12424765"/>
            <a:ext cx="21844000" cy="342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600">
                <a:solidFill>
                  <a:srgbClr val="B1B1B8"/>
                </a:solidFill>
                <a:latin typeface="Helvetica"/>
                <a:ea typeface="Helvetica"/>
                <a:cs typeface="Helvetica"/>
                <a:sym typeface="Helvetica"/>
              </a:defRPr>
            </a:lvl1pPr>
          </a:lstStyle>
          <a:p>
            <a:pPr/>
            <a:r>
              <a:t>The Core Objective: Empower human security analysts to focus strictly on strategic response rather than repetitive, exhausting log pre-filtering.</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2. LITERATURE REVIEW &amp; BENCHMARKING"/>
          <p:cNvSpPr txBox="1"/>
          <p:nvPr/>
        </p:nvSpPr>
        <p:spPr>
          <a:xfrm>
            <a:off x="1270000" y="753465"/>
            <a:ext cx="21844000" cy="317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1400">
                <a:solidFill>
                  <a:srgbClr val="CF1F3E"/>
                </a:solidFill>
                <a:latin typeface="Helvetica"/>
                <a:ea typeface="Helvetica"/>
                <a:cs typeface="Helvetica"/>
                <a:sym typeface="Helvetica"/>
              </a:defRPr>
            </a:lvl1pPr>
          </a:lstStyle>
          <a:p>
            <a:pPr/>
            <a:r>
              <a:t>2. LITERATURE REVIEW &amp; BENCHMARKING</a:t>
            </a:r>
          </a:p>
        </p:txBody>
      </p:sp>
      <p:sp>
        <p:nvSpPr>
          <p:cNvPr id="156" name="2. LITERATURE REVIEW: State of the Art &amp; Research Gaps"/>
          <p:cNvSpPr txBox="1"/>
          <p:nvPr/>
        </p:nvSpPr>
        <p:spPr>
          <a:xfrm>
            <a:off x="1270000" y="918565"/>
            <a:ext cx="21844000" cy="622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3400">
                <a:latin typeface="Helvetica"/>
                <a:ea typeface="Helvetica"/>
                <a:cs typeface="Helvetica"/>
                <a:sym typeface="Helvetica"/>
              </a:defRPr>
            </a:lvl1pPr>
          </a:lstStyle>
          <a:p>
            <a:pPr/>
            <a:r>
              <a:t>2. LITERATURE REVIEW: State of the Art &amp; Research Gaps</a:t>
            </a:r>
          </a:p>
        </p:txBody>
      </p:sp>
      <p:sp>
        <p:nvSpPr>
          <p:cNvPr id="157" name="Evaluation of Prior Approaches vs. Retrieval-Augmented Generation (RAG) Architecture"/>
          <p:cNvSpPr txBox="1"/>
          <p:nvPr/>
        </p:nvSpPr>
        <p:spPr>
          <a:xfrm>
            <a:off x="1270000" y="1674215"/>
            <a:ext cx="21844000" cy="381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solidFill>
                  <a:srgbClr val="B1B1B8"/>
                </a:solidFill>
                <a:latin typeface="Helvetica"/>
                <a:ea typeface="Helvetica"/>
                <a:cs typeface="Helvetica"/>
                <a:sym typeface="Helvetica"/>
              </a:defRPr>
            </a:lvl1pPr>
          </a:lstStyle>
          <a:p>
            <a:pPr/>
            <a:r>
              <a:t>Evaluation of Prior Approaches vs. Retrieval-Augmented Generation (RAG) Architecture</a:t>
            </a:r>
          </a:p>
        </p:txBody>
      </p:sp>
      <p:sp>
        <p:nvSpPr>
          <p:cNvPr id="158" name="Line"/>
          <p:cNvSpPr/>
          <p:nvPr/>
        </p:nvSpPr>
        <p:spPr>
          <a:xfrm>
            <a:off x="1269999" y="1968500"/>
            <a:ext cx="21844001" cy="1"/>
          </a:xfrm>
          <a:prstGeom prst="line">
            <a:avLst/>
          </a:prstGeom>
          <a:ln w="25400">
            <a:solidFill>
              <a:srgbClr val="FFFFFF"/>
            </a:solidFill>
            <a:miter lim="400000"/>
          </a:ln>
        </p:spPr>
        <p:txBody>
          <a:bodyPr lIns="50800" tIns="50800" rIns="50800" bIns="50800" anchor="ctr"/>
          <a:lstStyle/>
          <a:p>
            <a:pPr/>
          </a:p>
        </p:txBody>
      </p:sp>
      <p:graphicFrame>
        <p:nvGraphicFramePr>
          <p:cNvPr id="159" name="Table 1"/>
          <p:cNvGraphicFramePr/>
          <p:nvPr/>
        </p:nvGraphicFramePr>
        <p:xfrm>
          <a:off x="1270000" y="2222500"/>
          <a:ext cx="21005800" cy="1016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302000"/>
                <a:gridCol w="18542000"/>
              </a:tblGrid>
              <a:tr h="762000">
                <a:tc>
                  <a:txBody>
                    <a:bodyPr/>
                    <a:lstStyle/>
                    <a:p>
                      <a:pPr>
                        <a:defRPr sz="1800">
                          <a:solidFill>
                            <a:srgbClr val="000000"/>
                          </a:solidFill>
                        </a:defRPr>
                      </a:pPr>
                      <a:r>
                        <a:rPr b="1" sz="1600">
                          <a:solidFill>
                            <a:srgbClr val="FFFFFF"/>
                          </a:solidFill>
                          <a:latin typeface="Helvetica"/>
                          <a:ea typeface="Helvetica"/>
                          <a:cs typeface="Helvetica"/>
                          <a:sym typeface="Helvetica"/>
                        </a:rPr>
                        <a:t>Base Research Paper</a:t>
                      </a:r>
                    </a:p>
                  </a:txBody>
                  <a:tcPr marL="50800" marR="50800" marT="50800" marB="50800" anchor="ctr" anchorCtr="0" horzOverflow="overflow">
                    <a:lnL w="12700">
                      <a:solidFill>
                        <a:srgbClr val="D6D6D6"/>
                      </a:solidFill>
                      <a:miter lim="400000"/>
                    </a:lnL>
                    <a:lnT w="12700">
                      <a:solidFill>
                        <a:srgbClr val="D6D6D6"/>
                      </a:solidFill>
                      <a:miter lim="400000"/>
                    </a:lnT>
                    <a:solidFill>
                      <a:srgbClr val="15151A"/>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Retrieval-Augmented Generation for Automated Incident Response in Modern SOCs (IEEE / ACM 2024)</a:t>
                      </a:r>
                    </a:p>
                  </a:txBody>
                  <a:tcPr marL="50800" marR="50800" marT="50800" marB="50800" anchor="ctr" anchorCtr="0" horzOverflow="overflow">
                    <a:lnR w="12700">
                      <a:solidFill>
                        <a:srgbClr val="D6D6D6"/>
                      </a:solidFill>
                      <a:miter lim="400000"/>
                    </a:lnR>
                    <a:lnT w="12700">
                      <a:solidFill>
                        <a:srgbClr val="D6D6D6"/>
                      </a:solidFill>
                      <a:miter lim="400000"/>
                    </a:lnT>
                    <a:solidFill>
                      <a:srgbClr val="15151A"/>
                    </a:solidFill>
                  </a:tcPr>
                </a:tc>
              </a:tr>
              <a:tr h="762000">
                <a:tc>
                  <a:txBody>
                    <a:bodyPr/>
                    <a:lstStyle/>
                    <a:p>
                      <a:pPr>
                        <a:defRPr sz="1800">
                          <a:solidFill>
                            <a:srgbClr val="000000"/>
                          </a:solidFill>
                        </a:defRPr>
                      </a:pPr>
                      <a:r>
                        <a:rPr b="1" sz="1600">
                          <a:solidFill>
                            <a:srgbClr val="CF1F3E"/>
                          </a:solidFill>
                          <a:latin typeface="Helvetica"/>
                          <a:ea typeface="Helvetica"/>
                          <a:cs typeface="Helvetica"/>
                          <a:sym typeface="Helvetica"/>
                        </a:rPr>
                        <a:t>Identified Research Gap</a:t>
                      </a:r>
                    </a:p>
                  </a:txBody>
                  <a:tcPr marL="50800" marR="50800" marT="50800" marB="50800" anchor="ctr" anchorCtr="0" horzOverflow="overflow">
                    <a:lnL w="12700">
                      <a:solidFill>
                        <a:srgbClr val="D6D6D6"/>
                      </a:solidFill>
                      <a:miter lim="400000"/>
                    </a:lnL>
                    <a:lnB w="12700">
                      <a:solidFill>
                        <a:srgbClr val="D6D6D6"/>
                      </a:solidFill>
                      <a:miter lim="400000"/>
                    </a:lnB>
                    <a:solidFill>
                      <a:srgbClr val="15151A"/>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Prior research evaluated static offline datasets (DARPA/NSL-KDD); lacked real-time streaming ingestion, multi-format parsing (Windows/Syslog/Apache), and production-grade web triage interfaces.</a:t>
                      </a:r>
                    </a:p>
                  </a:txBody>
                  <a:tcPr marL="50800" marR="50800" marT="50800" marB="50800" anchor="ctr" anchorCtr="0" horzOverflow="overflow">
                    <a:lnR w="12700">
                      <a:solidFill>
                        <a:srgbClr val="D6D6D6"/>
                      </a:solidFill>
                      <a:miter lim="400000"/>
                    </a:lnR>
                    <a:lnB w="12700">
                      <a:solidFill>
                        <a:srgbClr val="D6D6D6"/>
                      </a:solidFill>
                      <a:miter lim="400000"/>
                    </a:lnB>
                    <a:solidFill>
                      <a:srgbClr val="15151A"/>
                    </a:solidFill>
                  </a:tcPr>
                </a:tc>
              </a:tr>
            </a:tbl>
          </a:graphicData>
        </a:graphic>
      </p:graphicFrame>
      <p:graphicFrame>
        <p:nvGraphicFramePr>
          <p:cNvPr id="160" name="Table 2"/>
          <p:cNvGraphicFramePr/>
          <p:nvPr/>
        </p:nvGraphicFramePr>
        <p:xfrm>
          <a:off x="1270000" y="4000500"/>
          <a:ext cx="21005800" cy="1016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318000"/>
                <a:gridCol w="5588000"/>
                <a:gridCol w="5588000"/>
                <a:gridCol w="6350000"/>
              </a:tblGrid>
              <a:tr h="1397000">
                <a:tc>
                  <a:txBody>
                    <a:bodyPr/>
                    <a:lstStyle/>
                    <a:p>
                      <a:pPr>
                        <a:defRPr sz="1800">
                          <a:solidFill>
                            <a:srgbClr val="000000"/>
                          </a:solidFill>
                        </a:defRPr>
                      </a:pPr>
                      <a:r>
                        <a:rPr b="1" sz="1700">
                          <a:solidFill>
                            <a:srgbClr val="FFFFFF"/>
                          </a:solidFill>
                          <a:latin typeface="Helvetica"/>
                          <a:ea typeface="Helvetica"/>
                          <a:cs typeface="Helvetica"/>
                          <a:sym typeface="Helvetica"/>
                        </a:rPr>
                        <a:t>EVALUATION CRITERIA</a:t>
                      </a:r>
                    </a:p>
                  </a:txBody>
                  <a:tcPr marL="50800" marR="50800" marT="50800" marB="50800" anchor="ctr" anchorCtr="0" horzOverflow="overflow">
                    <a:lnL w="12700">
                      <a:solidFill>
                        <a:srgbClr val="D6D6D6"/>
                      </a:solidFill>
                      <a:miter lim="400000"/>
                    </a:lnL>
                    <a:lnT w="12700">
                      <a:solidFill>
                        <a:srgbClr val="D6D6D6"/>
                      </a:solidFill>
                      <a:miter lim="400000"/>
                    </a:lnT>
                    <a:solidFill>
                      <a:srgbClr val="CF1F3E"/>
                    </a:solidFill>
                  </a:tcPr>
                </a:tc>
                <a:tc>
                  <a:txBody>
                    <a:bodyPr/>
                    <a:lstStyle/>
                    <a:p>
                      <a:pPr>
                        <a:defRPr sz="1800">
                          <a:solidFill>
                            <a:srgbClr val="000000"/>
                          </a:solidFill>
                        </a:defRPr>
                      </a:pPr>
                      <a:r>
                        <a:rPr b="1" sz="1700">
                          <a:solidFill>
                            <a:srgbClr val="FFFFFF"/>
                          </a:solidFill>
                          <a:latin typeface="Helvetica"/>
                          <a:ea typeface="Helvetica"/>
                          <a:cs typeface="Helvetica"/>
                          <a:sym typeface="Helvetica"/>
                        </a:rPr>
                        <a:t>TRADITIONAL SIEM (Splunk/QRadar)</a:t>
                      </a:r>
                    </a:p>
                  </a:txBody>
                  <a:tcPr marL="50800" marR="50800" marT="50800" marB="50800" anchor="ctr" anchorCtr="0" horzOverflow="overflow">
                    <a:lnT w="12700">
                      <a:solidFill>
                        <a:srgbClr val="D6D6D6"/>
                      </a:solidFill>
                      <a:miter lim="400000"/>
                    </a:lnT>
                    <a:solidFill>
                      <a:srgbClr val="CF1F3E"/>
                    </a:solidFill>
                  </a:tcPr>
                </a:tc>
                <a:tc>
                  <a:txBody>
                    <a:bodyPr/>
                    <a:lstStyle/>
                    <a:p>
                      <a:pPr>
                        <a:defRPr sz="1800">
                          <a:solidFill>
                            <a:srgbClr val="000000"/>
                          </a:solidFill>
                        </a:defRPr>
                      </a:pPr>
                      <a:r>
                        <a:rPr b="1" sz="1700">
                          <a:solidFill>
                            <a:srgbClr val="FFFFFF"/>
                          </a:solidFill>
                          <a:latin typeface="Helvetica"/>
                          <a:ea typeface="Helvetica"/>
                          <a:cs typeface="Helvetica"/>
                          <a:sym typeface="Helvetica"/>
                        </a:rPr>
                        <a:t>DIRECT LLMs (Raw ChatGPT)</a:t>
                      </a:r>
                    </a:p>
                  </a:txBody>
                  <a:tcPr marL="50800" marR="50800" marT="50800" marB="50800" anchor="ctr" anchorCtr="0" horzOverflow="overflow">
                    <a:lnT w="12700">
                      <a:solidFill>
                        <a:srgbClr val="D6D6D6"/>
                      </a:solidFill>
                      <a:miter lim="400000"/>
                    </a:lnT>
                    <a:solidFill>
                      <a:srgbClr val="CF1F3E"/>
                    </a:solidFill>
                  </a:tcPr>
                </a:tc>
                <a:tc>
                  <a:txBody>
                    <a:bodyPr/>
                    <a:lstStyle/>
                    <a:p>
                      <a:pPr>
                        <a:defRPr sz="1800">
                          <a:solidFill>
                            <a:srgbClr val="000000"/>
                          </a:solidFill>
                        </a:defRPr>
                      </a:pPr>
                      <a:r>
                        <a:rPr b="1" sz="1700">
                          <a:solidFill>
                            <a:srgbClr val="FFFFFF"/>
                          </a:solidFill>
                          <a:latin typeface="Helvetica"/>
                          <a:ea typeface="Helvetica"/>
                          <a:cs typeface="Helvetica"/>
                          <a:sym typeface="Helvetica"/>
                        </a:rPr>
                        <a:t>CYBERSENTINEL AI (Our Work)</a:t>
                      </a:r>
                    </a:p>
                  </a:txBody>
                  <a:tcPr marL="50800" marR="50800" marT="50800" marB="50800" anchor="ctr" anchorCtr="0" horzOverflow="overflow">
                    <a:lnR w="12700">
                      <a:solidFill>
                        <a:srgbClr val="D6D6D6"/>
                      </a:solidFill>
                      <a:miter lim="400000"/>
                    </a:lnR>
                    <a:lnT w="12700">
                      <a:solidFill>
                        <a:srgbClr val="D6D6D6"/>
                      </a:solidFill>
                      <a:miter lim="400000"/>
                    </a:lnT>
                    <a:solidFill>
                      <a:srgbClr val="CF1F3E"/>
                    </a:solidFill>
                  </a:tcPr>
                </a:tc>
              </a:tr>
              <a:tr h="1397000">
                <a:tc>
                  <a:txBody>
                    <a:bodyPr/>
                    <a:lstStyle/>
                    <a:p>
                      <a:pPr>
                        <a:defRPr sz="1800">
                          <a:solidFill>
                            <a:srgbClr val="000000"/>
                          </a:solidFill>
                        </a:defRPr>
                      </a:pPr>
                      <a:r>
                        <a:rPr b="1" sz="1600">
                          <a:solidFill>
                            <a:srgbClr val="FFFFFF"/>
                          </a:solidFill>
                          <a:latin typeface="Helvetica"/>
                          <a:ea typeface="Helvetica"/>
                          <a:cs typeface="Helvetica"/>
                          <a:sym typeface="Helvetica"/>
                        </a:rPr>
                        <a:t>Detection Mechanism</a:t>
                      </a:r>
                    </a:p>
                  </a:txBody>
                  <a:tcPr marL="50800" marR="50800" marT="50800" marB="50800" anchor="ctr" anchorCtr="0" horzOverflow="overflow">
                    <a:lnL w="12700">
                      <a:solidFill>
                        <a:srgbClr val="D6D6D6"/>
                      </a:solidFill>
                      <a:miter lim="400000"/>
                    </a:lnL>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Rigid regex &amp; static threshold rules</a:t>
                      </a:r>
                    </a:p>
                  </a:txBody>
                  <a:tcPr marL="50800" marR="50800" marT="50800" marB="50800" anchor="ctr" anchorCtr="0" horzOverflow="overflow">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Unconstrained probabilistic inference</a:t>
                      </a:r>
                    </a:p>
                  </a:txBody>
                  <a:tcPr marL="50800" marR="50800" marT="50800" marB="50800" anchor="ctr" anchorCtr="0" horzOverflow="overflow">
                    <a:solidFill>
                      <a:srgbClr val="10111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Hybrid Vector RAG + MITRE ATT&amp;CK v14</a:t>
                      </a:r>
                    </a:p>
                  </a:txBody>
                  <a:tcPr marL="50800" marR="50800" marT="50800" marB="50800" anchor="ctr" anchorCtr="0" horzOverflow="overflow">
                    <a:lnR w="12700">
                      <a:solidFill>
                        <a:srgbClr val="D6D6D6"/>
                      </a:solidFill>
                      <a:miter lim="400000"/>
                    </a:lnR>
                    <a:solidFill>
                      <a:srgbClr val="202025"/>
                    </a:solidFill>
                  </a:tcPr>
                </a:tc>
              </a:tr>
              <a:tr h="1397000">
                <a:tc>
                  <a:txBody>
                    <a:bodyPr/>
                    <a:lstStyle/>
                    <a:p>
                      <a:pPr>
                        <a:defRPr sz="1800">
                          <a:solidFill>
                            <a:srgbClr val="000000"/>
                          </a:solidFill>
                        </a:defRPr>
                      </a:pPr>
                      <a:r>
                        <a:rPr b="1" sz="1600">
                          <a:solidFill>
                            <a:srgbClr val="FFFFFF"/>
                          </a:solidFill>
                          <a:latin typeface="Helvetica"/>
                          <a:ea typeface="Helvetica"/>
                          <a:cs typeface="Helvetica"/>
                          <a:sym typeface="Helvetica"/>
                        </a:rPr>
                        <a:t>Alert Noise &amp; Fatigue</a:t>
                      </a:r>
                    </a:p>
                  </a:txBody>
                  <a:tcPr marL="50800" marR="50800" marT="50800" marB="50800" anchor="ctr" anchorCtr="0" horzOverflow="overflow">
                    <a:lnL w="12700">
                      <a:solidFill>
                        <a:srgbClr val="D6D6D6"/>
                      </a:solidFill>
                      <a:miter lim="400000"/>
                    </a:lnL>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Overwhelming (&gt;90% false alarms)</a:t>
                      </a:r>
                    </a:p>
                  </a:txBody>
                  <a:tcPr marL="50800" marR="50800" marT="50800" marB="50800" anchor="ctr" anchorCtr="0" horzOverflow="overflow">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Unpredictable / Inconsistent</a:t>
                      </a:r>
                    </a:p>
                  </a:txBody>
                  <a:tcPr marL="50800" marR="50800" marT="50800" marB="50800" anchor="ctr" anchorCtr="0" horzOverflow="overflow">
                    <a:solidFill>
                      <a:srgbClr val="10111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99.2% pre-filtered noise reduction</a:t>
                      </a:r>
                    </a:p>
                  </a:txBody>
                  <a:tcPr marL="50800" marR="50800" marT="50800" marB="50800" anchor="ctr" anchorCtr="0" horzOverflow="overflow">
                    <a:lnR w="12700">
                      <a:solidFill>
                        <a:srgbClr val="D6D6D6"/>
                      </a:solidFill>
                      <a:miter lim="400000"/>
                    </a:lnR>
                    <a:solidFill>
                      <a:srgbClr val="202025"/>
                    </a:solidFill>
                  </a:tcPr>
                </a:tc>
              </a:tr>
              <a:tr h="1397000">
                <a:tc>
                  <a:txBody>
                    <a:bodyPr/>
                    <a:lstStyle/>
                    <a:p>
                      <a:pPr>
                        <a:defRPr sz="1800">
                          <a:solidFill>
                            <a:srgbClr val="000000"/>
                          </a:solidFill>
                        </a:defRPr>
                      </a:pPr>
                      <a:r>
                        <a:rPr b="1" sz="1600">
                          <a:solidFill>
                            <a:srgbClr val="FFFFFF"/>
                          </a:solidFill>
                          <a:latin typeface="Helvetica"/>
                          <a:ea typeface="Helvetica"/>
                          <a:cs typeface="Helvetica"/>
                          <a:sym typeface="Helvetica"/>
                        </a:rPr>
                        <a:t>Hallucination Risk</a:t>
                      </a:r>
                    </a:p>
                  </a:txBody>
                  <a:tcPr marL="50800" marR="50800" marT="50800" marB="50800" anchor="ctr" anchorCtr="0" horzOverflow="overflow">
                    <a:lnL w="12700">
                      <a:solidFill>
                        <a:srgbClr val="D6D6D6"/>
                      </a:solidFill>
                      <a:miter lim="400000"/>
                    </a:lnL>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N/A (Rule-based)</a:t>
                      </a:r>
                    </a:p>
                  </a:txBody>
                  <a:tcPr marL="50800" marR="50800" marT="50800" marB="50800" anchor="ctr" anchorCtr="0" horzOverflow="overflow">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High (Fabricates CVEs / CLI commands)</a:t>
                      </a:r>
                    </a:p>
                  </a:txBody>
                  <a:tcPr marL="50800" marR="50800" marT="50800" marB="50800" anchor="ctr" anchorCtr="0" horzOverflow="overflow">
                    <a:solidFill>
                      <a:srgbClr val="10111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0.0% (Strict vector grounding &amp; schemas)</a:t>
                      </a:r>
                    </a:p>
                  </a:txBody>
                  <a:tcPr marL="50800" marR="50800" marT="50800" marB="50800" anchor="ctr" anchorCtr="0" horzOverflow="overflow">
                    <a:lnR w="12700">
                      <a:solidFill>
                        <a:srgbClr val="D6D6D6"/>
                      </a:solidFill>
                      <a:miter lim="400000"/>
                    </a:lnR>
                    <a:solidFill>
                      <a:srgbClr val="202025"/>
                    </a:solidFill>
                  </a:tcPr>
                </a:tc>
              </a:tr>
              <a:tr h="1397000">
                <a:tc>
                  <a:txBody>
                    <a:bodyPr/>
                    <a:lstStyle/>
                    <a:p>
                      <a:pPr>
                        <a:defRPr sz="1800">
                          <a:solidFill>
                            <a:srgbClr val="000000"/>
                          </a:solidFill>
                        </a:defRPr>
                      </a:pPr>
                      <a:r>
                        <a:rPr b="1" sz="1600">
                          <a:solidFill>
                            <a:srgbClr val="FFFFFF"/>
                          </a:solidFill>
                          <a:latin typeface="Helvetica"/>
                          <a:ea typeface="Helvetica"/>
                          <a:cs typeface="Helvetica"/>
                          <a:sym typeface="Helvetica"/>
                        </a:rPr>
                        <a:t>Remediation Guidance</a:t>
                      </a:r>
                    </a:p>
                  </a:txBody>
                  <a:tcPr marL="50800" marR="50800" marT="50800" marB="50800" anchor="ctr" anchorCtr="0" horzOverflow="overflow">
                    <a:lnL w="12700">
                      <a:solidFill>
                        <a:srgbClr val="D6D6D6"/>
                      </a:solidFill>
                      <a:miter lim="400000"/>
                    </a:lnL>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Manual lookup in static runbooks</a:t>
                      </a:r>
                    </a:p>
                  </a:txBody>
                  <a:tcPr marL="50800" marR="50800" marT="50800" marB="50800" anchor="ctr" anchorCtr="0" horzOverflow="overflow">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Generic advice lacking local context</a:t>
                      </a:r>
                    </a:p>
                  </a:txBody>
                  <a:tcPr marL="50800" marR="50800" marT="50800" marB="50800" anchor="ctr" anchorCtr="0" horzOverflow="overflow">
                    <a:solidFill>
                      <a:srgbClr val="10111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Automated NIST SP 800-61 checklist &amp; PDF</a:t>
                      </a:r>
                    </a:p>
                  </a:txBody>
                  <a:tcPr marL="50800" marR="50800" marT="50800" marB="50800" anchor="ctr" anchorCtr="0" horzOverflow="overflow">
                    <a:lnR w="12700">
                      <a:solidFill>
                        <a:srgbClr val="D6D6D6"/>
                      </a:solidFill>
                      <a:miter lim="400000"/>
                    </a:lnR>
                    <a:solidFill>
                      <a:srgbClr val="202025"/>
                    </a:solidFill>
                  </a:tcPr>
                </a:tc>
              </a:tr>
              <a:tr h="1397000">
                <a:tc>
                  <a:txBody>
                    <a:bodyPr/>
                    <a:lstStyle/>
                    <a:p>
                      <a:pPr>
                        <a:defRPr sz="1800">
                          <a:solidFill>
                            <a:srgbClr val="000000"/>
                          </a:solidFill>
                        </a:defRPr>
                      </a:pPr>
                      <a:r>
                        <a:rPr b="1" sz="1600">
                          <a:solidFill>
                            <a:srgbClr val="FFFFFF"/>
                          </a:solidFill>
                          <a:latin typeface="Helvetica"/>
                          <a:ea typeface="Helvetica"/>
                          <a:cs typeface="Helvetica"/>
                          <a:sym typeface="Helvetica"/>
                        </a:rPr>
                        <a:t>Deployment &amp; Air-Gap</a:t>
                      </a:r>
                    </a:p>
                  </a:txBody>
                  <a:tcPr marL="50800" marR="50800" marT="50800" marB="50800" anchor="ctr" anchorCtr="0" horzOverflow="overflow">
                    <a:lnL w="12700">
                      <a:solidFill>
                        <a:srgbClr val="D6D6D6"/>
                      </a:solidFill>
                      <a:miter lim="400000"/>
                    </a:lnL>
                    <a:lnB w="12700">
                      <a:solidFill>
                        <a:srgbClr val="D6D6D6"/>
                      </a:solidFill>
                      <a:miter lim="400000"/>
                    </a:lnB>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Complex on-prem cluster / High license cost</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SaaS cloud lock-in / Data privacy leak</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Air-gapped local ONNX / Single-port Docker</a:t>
                      </a:r>
                    </a:p>
                  </a:txBody>
                  <a:tcPr marL="50800" marR="50800" marT="50800" marB="50800" anchor="ctr" anchorCtr="0" horzOverflow="overflow">
                    <a:lnR w="12700">
                      <a:solidFill>
                        <a:srgbClr val="D6D6D6"/>
                      </a:solidFill>
                      <a:miter lim="400000"/>
                    </a:lnR>
                    <a:lnB w="12700">
                      <a:solidFill>
                        <a:srgbClr val="D6D6D6"/>
                      </a:solidFill>
                      <a:miter lim="400000"/>
                    </a:lnB>
                    <a:solidFill>
                      <a:srgbClr val="202025"/>
                    </a:solidFill>
                  </a:tcPr>
                </a:tc>
              </a:tr>
            </a:tbl>
          </a:graphicData>
        </a:graphic>
      </p:graphicFrame>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3. PROBLEM STATEMENT &amp; MOTIVATION"/>
          <p:cNvSpPr txBox="1"/>
          <p:nvPr/>
        </p:nvSpPr>
        <p:spPr>
          <a:xfrm>
            <a:off x="1270000" y="753465"/>
            <a:ext cx="21844000" cy="317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1400">
                <a:solidFill>
                  <a:srgbClr val="CF1F3E"/>
                </a:solidFill>
                <a:latin typeface="Helvetica"/>
                <a:ea typeface="Helvetica"/>
                <a:cs typeface="Helvetica"/>
                <a:sym typeface="Helvetica"/>
              </a:defRPr>
            </a:lvl1pPr>
          </a:lstStyle>
          <a:p>
            <a:pPr/>
            <a:r>
              <a:t>3. PROBLEM STATEMENT &amp; MOTIVATION</a:t>
            </a:r>
          </a:p>
        </p:txBody>
      </p:sp>
      <p:sp>
        <p:nvSpPr>
          <p:cNvPr id="165" name="3. PROBLEM STATEMENT: Four Core SecOps Bottlenecks"/>
          <p:cNvSpPr txBox="1"/>
          <p:nvPr/>
        </p:nvSpPr>
        <p:spPr>
          <a:xfrm>
            <a:off x="1270000" y="918565"/>
            <a:ext cx="21844000" cy="622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3400">
                <a:latin typeface="Helvetica"/>
                <a:ea typeface="Helvetica"/>
                <a:cs typeface="Helvetica"/>
                <a:sym typeface="Helvetica"/>
              </a:defRPr>
            </a:lvl1pPr>
          </a:lstStyle>
          <a:p>
            <a:pPr/>
            <a:r>
              <a:t>3. PROBLEM STATEMENT: Four Core SecOps Bottlenecks</a:t>
            </a:r>
          </a:p>
        </p:txBody>
      </p:sp>
      <p:sp>
        <p:nvSpPr>
          <p:cNvPr id="166" name="Critical Operational, Mathematical, and Architectural Limitations in Current SOC Workflows"/>
          <p:cNvSpPr txBox="1"/>
          <p:nvPr/>
        </p:nvSpPr>
        <p:spPr>
          <a:xfrm>
            <a:off x="1270000" y="1674215"/>
            <a:ext cx="21844000" cy="381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solidFill>
                  <a:srgbClr val="B1B1B8"/>
                </a:solidFill>
                <a:latin typeface="Helvetica"/>
                <a:ea typeface="Helvetica"/>
                <a:cs typeface="Helvetica"/>
                <a:sym typeface="Helvetica"/>
              </a:defRPr>
            </a:lvl1pPr>
          </a:lstStyle>
          <a:p>
            <a:pPr/>
            <a:r>
              <a:t>Critical Operational, Mathematical, and Architectural Limitations in Current SOC Workflows</a:t>
            </a:r>
          </a:p>
        </p:txBody>
      </p:sp>
      <p:sp>
        <p:nvSpPr>
          <p:cNvPr id="167" name="Line"/>
          <p:cNvSpPr/>
          <p:nvPr/>
        </p:nvSpPr>
        <p:spPr>
          <a:xfrm>
            <a:off x="1269999" y="1968500"/>
            <a:ext cx="21844001" cy="1"/>
          </a:xfrm>
          <a:prstGeom prst="line">
            <a:avLst/>
          </a:prstGeom>
          <a:ln w="25400">
            <a:solidFill>
              <a:srgbClr val="FFFFFF"/>
            </a:solidFill>
            <a:miter lim="400000"/>
          </a:ln>
        </p:spPr>
        <p:txBody>
          <a:bodyPr lIns="50800" tIns="50800" rIns="50800" bIns="50800" anchor="ctr"/>
          <a:lstStyle/>
          <a:p>
            <a:pPr/>
          </a:p>
        </p:txBody>
      </p:sp>
      <p:graphicFrame>
        <p:nvGraphicFramePr>
          <p:cNvPr id="168" name="Table 1"/>
          <p:cNvGraphicFramePr/>
          <p:nvPr/>
        </p:nvGraphicFramePr>
        <p:xfrm>
          <a:off x="1270000" y="2286000"/>
          <a:ext cx="21005800" cy="1016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461000"/>
                <a:gridCol w="5461000"/>
                <a:gridCol w="5461000"/>
                <a:gridCol w="5461000"/>
              </a:tblGrid>
              <a:tr h="2381250">
                <a:tc>
                  <a:txBody>
                    <a:bodyPr/>
                    <a:lstStyle/>
                    <a:p>
                      <a:pPr>
                        <a:defRPr sz="1800">
                          <a:solidFill>
                            <a:srgbClr val="000000"/>
                          </a:solidFill>
                        </a:defRPr>
                      </a:pPr>
                      <a:r>
                        <a:rPr b="1" sz="1600">
                          <a:solidFill>
                            <a:srgbClr val="FFFFFF"/>
                          </a:solidFill>
                          <a:latin typeface="Helvetica"/>
                          <a:ea typeface="Helvetica"/>
                          <a:cs typeface="Helvetica"/>
                          <a:sym typeface="Helvetica"/>
                        </a:rPr>
                        <a:t>BOTTLENECK 1</a:t>
                      </a:r>
                    </a:p>
                  </a:txBody>
                  <a:tcPr marL="50800" marR="50800" marT="50800" marB="50800" anchor="ctr" anchorCtr="0" horzOverflow="overflow">
                    <a:lnL w="12700">
                      <a:solidFill>
                        <a:srgbClr val="D6D6D6"/>
                      </a:solidFill>
                      <a:miter lim="400000"/>
                    </a:lnL>
                    <a:lnT w="12700">
                      <a:solidFill>
                        <a:srgbClr val="D6D6D6"/>
                      </a:solidFill>
                      <a:miter lim="400000"/>
                    </a:lnT>
                    <a:solidFill>
                      <a:srgbClr val="20202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BOTTLENECK 2</a:t>
                      </a:r>
                    </a:p>
                  </a:txBody>
                  <a:tcPr marL="50800" marR="50800" marT="50800" marB="50800" anchor="ctr" anchorCtr="0" horzOverflow="overflow">
                    <a:lnT w="12700">
                      <a:solidFill>
                        <a:srgbClr val="D6D6D6"/>
                      </a:solidFill>
                      <a:miter lim="400000"/>
                    </a:lnT>
                    <a:solidFill>
                      <a:srgbClr val="20202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BOTTLENECK 3</a:t>
                      </a:r>
                    </a:p>
                  </a:txBody>
                  <a:tcPr marL="50800" marR="50800" marT="50800" marB="50800" anchor="ctr" anchorCtr="0" horzOverflow="overflow">
                    <a:lnT w="12700">
                      <a:solidFill>
                        <a:srgbClr val="D6D6D6"/>
                      </a:solidFill>
                      <a:miter lim="400000"/>
                    </a:lnT>
                    <a:solidFill>
                      <a:srgbClr val="20202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BOTTLENECK 4</a:t>
                      </a:r>
                    </a:p>
                  </a:txBody>
                  <a:tcPr marL="50800" marR="50800" marT="50800" marB="50800" anchor="ctr" anchorCtr="0" horzOverflow="overflow">
                    <a:lnR w="12700">
                      <a:solidFill>
                        <a:srgbClr val="D6D6D6"/>
                      </a:solidFill>
                      <a:miter lim="400000"/>
                    </a:lnR>
                    <a:lnT w="12700">
                      <a:solidFill>
                        <a:srgbClr val="D6D6D6"/>
                      </a:solidFill>
                      <a:miter lim="400000"/>
                    </a:lnT>
                    <a:solidFill>
                      <a:srgbClr val="202025"/>
                    </a:solidFill>
                  </a:tcPr>
                </a:tc>
              </a:tr>
              <a:tr h="2381250">
                <a:tc>
                  <a:txBody>
                    <a:bodyPr/>
                    <a:lstStyle/>
                    <a:p>
                      <a:pPr>
                        <a:defRPr sz="1800">
                          <a:solidFill>
                            <a:srgbClr val="000000"/>
                          </a:solidFill>
                        </a:defRPr>
                      </a:pPr>
                      <a:r>
                        <a:rPr b="1" sz="2000">
                          <a:solidFill>
                            <a:srgbClr val="FFFFFF"/>
                          </a:solidFill>
                          <a:latin typeface="Helvetica"/>
                          <a:ea typeface="Helvetica"/>
                          <a:cs typeface="Helvetica"/>
                          <a:sym typeface="Helvetica"/>
                        </a:rPr>
                        <a:t>Alert Fatigue</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2000">
                          <a:solidFill>
                            <a:srgbClr val="FFFFFF"/>
                          </a:solidFill>
                          <a:latin typeface="Helvetica"/>
                          <a:ea typeface="Helvetica"/>
                          <a:cs typeface="Helvetica"/>
                          <a:sym typeface="Helvetica"/>
                        </a:rPr>
                        <a:t>MTTR Triage Lag</a:t>
                      </a:r>
                    </a:p>
                  </a:txBody>
                  <a:tcPr marL="50800" marR="50800" marT="50800" marB="50800" anchor="ctr" anchorCtr="0" horzOverflow="overflow">
                    <a:solidFill>
                      <a:srgbClr val="1A1A20"/>
                    </a:solidFill>
                  </a:tcPr>
                </a:tc>
                <a:tc>
                  <a:txBody>
                    <a:bodyPr/>
                    <a:lstStyle/>
                    <a:p>
                      <a:pPr>
                        <a:defRPr sz="1800">
                          <a:solidFill>
                            <a:srgbClr val="000000"/>
                          </a:solidFill>
                        </a:defRPr>
                      </a:pPr>
                      <a:r>
                        <a:rPr b="1" sz="2000">
                          <a:solidFill>
                            <a:srgbClr val="CF1F3E"/>
                          </a:solidFill>
                          <a:latin typeface="Helvetica"/>
                          <a:ea typeface="Helvetica"/>
                          <a:cs typeface="Helvetica"/>
                          <a:sym typeface="Helvetica"/>
                        </a:rPr>
                        <a:t>AI Hallucinations</a:t>
                      </a:r>
                    </a:p>
                  </a:txBody>
                  <a:tcPr marL="50800" marR="50800" marT="50800" marB="50800" anchor="ctr" anchorCtr="0" horzOverflow="overflow">
                    <a:solidFill>
                      <a:srgbClr val="1A1A20"/>
                    </a:solidFill>
                  </a:tcPr>
                </a:tc>
                <a:tc>
                  <a:txBody>
                    <a:bodyPr/>
                    <a:lstStyle/>
                    <a:p>
                      <a:pPr>
                        <a:defRPr sz="1800">
                          <a:solidFill>
                            <a:srgbClr val="000000"/>
                          </a:solidFill>
                        </a:defRPr>
                      </a:pPr>
                      <a:r>
                        <a:rPr b="1" sz="2000">
                          <a:solidFill>
                            <a:srgbClr val="FFFFFF"/>
                          </a:solidFill>
                          <a:latin typeface="Helvetica"/>
                          <a:ea typeface="Helvetica"/>
                          <a:cs typeface="Helvetica"/>
                          <a:sym typeface="Helvetica"/>
                        </a:rPr>
                        <a:t>Log Schema Silos</a:t>
                      </a:r>
                    </a:p>
                  </a:txBody>
                  <a:tcPr marL="50800" marR="50800" marT="50800" marB="50800" anchor="ctr" anchorCtr="0" horzOverflow="overflow">
                    <a:lnR w="12700">
                      <a:solidFill>
                        <a:srgbClr val="D6D6D6"/>
                      </a:solidFill>
                      <a:miter lim="400000"/>
                    </a:lnR>
                    <a:solidFill>
                      <a:srgbClr val="1A1A20"/>
                    </a:solidFill>
                  </a:tcPr>
                </a:tc>
              </a:tr>
              <a:tr h="2381250">
                <a:tc>
                  <a:txBody>
                    <a:bodyPr/>
                    <a:lstStyle/>
                    <a:p>
                      <a:pPr>
                        <a:defRPr sz="1800">
                          <a:solidFill>
                            <a:srgbClr val="000000"/>
                          </a:solidFill>
                        </a:defRPr>
                      </a:pPr>
                      <a:r>
                        <a:rPr b="1" sz="1400">
                          <a:solidFill>
                            <a:srgbClr val="B1B1B8"/>
                          </a:solidFill>
                          <a:latin typeface="Helvetica"/>
                          <a:ea typeface="Helvetica"/>
                          <a:cs typeface="Helvetica"/>
                          <a:sym typeface="Helvetica"/>
                        </a:rPr>
                        <a:t>Over 90% False Positives</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45–60 Mins / Incident</a:t>
                      </a:r>
                    </a:p>
                  </a:txBody>
                  <a:tcPr marL="50800" marR="50800" marT="50800" marB="50800" anchor="ctr" anchorCtr="0" horzOverflow="overflow">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Fabricated CVEs / Commands</a:t>
                      </a:r>
                    </a:p>
                  </a:txBody>
                  <a:tcPr marL="50800" marR="50800" marT="50800" marB="50800" anchor="ctr" anchorCtr="0" horzOverflow="overflow">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Disparate File Formats</a:t>
                      </a:r>
                    </a:p>
                  </a:txBody>
                  <a:tcPr marL="50800" marR="50800" marT="50800" marB="50800" anchor="ctr" anchorCtr="0" horzOverflow="overflow">
                    <a:lnR w="12700">
                      <a:solidFill>
                        <a:srgbClr val="D6D6D6"/>
                      </a:solidFill>
                      <a:miter lim="400000"/>
                    </a:lnR>
                    <a:solidFill>
                      <a:srgbClr val="1A1A20"/>
                    </a:solidFill>
                  </a:tcPr>
                </a:tc>
              </a:tr>
              <a:tr h="2381250">
                <a:tc>
                  <a:txBody>
                    <a:bodyPr/>
                    <a:lstStyle/>
                    <a:p>
                      <a:pPr>
                        <a:defRPr sz="1800">
                          <a:solidFill>
                            <a:srgbClr val="000000"/>
                          </a:solidFill>
                        </a:defRPr>
                      </a:pPr>
                      <a:r>
                        <a:rPr sz="1400">
                          <a:solidFill>
                            <a:srgbClr val="FFFFFF"/>
                          </a:solidFill>
                          <a:latin typeface="Helvetica"/>
                          <a:ea typeface="Helvetica"/>
                          <a:cs typeface="Helvetica"/>
                          <a:sym typeface="Helvetica"/>
                        </a:rPr>
                        <a:t>• Enterprise SIEM systems generate tens of thousands of alerts daily.• The overwhelming noise causes acute sensory desensitization and analyst burnout.• Sophisticated attacks mimicking benign patterns easily slip past fatigued human defenders.</a:t>
                      </a:r>
                    </a:p>
                  </a:txBody>
                  <a:tcPr marL="50800" marR="50800" marT="50800" marB="50800" anchor="ctr" anchorCtr="0" horzOverflow="overflow">
                    <a:lnL w="12700">
                      <a:solidFill>
                        <a:srgbClr val="D6D6D6"/>
                      </a:solidFill>
                      <a:miter lim="400000"/>
                    </a:lnL>
                    <a:lnB w="12700">
                      <a:solidFill>
                        <a:srgbClr val="D6D6D6"/>
                      </a:solidFill>
                      <a:miter lim="400000"/>
                    </a:lnB>
                    <a:solidFill>
                      <a:srgbClr val="101115"/>
                    </a:solidFill>
                  </a:tcPr>
                </a:tc>
                <a:tc>
                  <a:txBody>
                    <a:bodyPr/>
                    <a:lstStyle/>
                    <a:p>
                      <a:pPr>
                        <a:defRPr sz="1800">
                          <a:solidFill>
                            <a:srgbClr val="000000"/>
                          </a:solidFill>
                        </a:defRPr>
                      </a:pPr>
                      <a:r>
                        <a:rPr sz="1400">
                          <a:solidFill>
                            <a:srgbClr val="FFFFFF"/>
                          </a:solidFill>
                          <a:latin typeface="Helvetica"/>
                          <a:ea typeface="Helvetica"/>
                          <a:cs typeface="Helvetica"/>
                          <a:sym typeface="Helvetica"/>
                        </a:rPr>
                        <a:t>• Manual incident analysis requires hunting across hex dumps and raw log files.• Cross-referencing threat reputation feeds manually consumes 45+ minutes per event.• Long dwell time grants adversaries opportunity for lateral movement and data theft.</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sz="1400">
                          <a:solidFill>
                            <a:srgbClr val="FFFFFF"/>
                          </a:solidFill>
                          <a:latin typeface="Helvetica"/>
                          <a:ea typeface="Helvetica"/>
                          <a:cs typeface="Helvetica"/>
                          <a:sym typeface="Helvetica"/>
                        </a:rPr>
                        <a:t>• Direct queries to off-the-shelf LLMs produce ungrounded, fabricated responses.• Models hallucinate invalid CVE IDs, fake hashes, and dangerous CLI syntax.• Executing ungrounded remediation scripts risks crashing production infrastructure.</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sz="1400">
                          <a:solidFill>
                            <a:srgbClr val="FFFFFF"/>
                          </a:solidFill>
                          <a:latin typeface="Helvetica"/>
                          <a:ea typeface="Helvetica"/>
                          <a:cs typeface="Helvetica"/>
                          <a:sym typeface="Helvetica"/>
                        </a:rPr>
                        <a:t>• Security telemetry arrives in incompatible structures: Windows XML, Linux auth.log, Apache CLF, Firewall CSV.• Lack of a shared data model prevents automated cross-correlation across attack vectors.• Security teams operate in fractured silos without unified threat visibility.</a:t>
                      </a:r>
                    </a:p>
                  </a:txBody>
                  <a:tcPr marL="50800" marR="50800" marT="50800" marB="50800" anchor="ctr" anchorCtr="0" horzOverflow="overflow">
                    <a:lnR w="12700">
                      <a:solidFill>
                        <a:srgbClr val="D6D6D6"/>
                      </a:solidFill>
                      <a:miter lim="400000"/>
                    </a:lnR>
                    <a:lnB w="12700">
                      <a:solidFill>
                        <a:srgbClr val="D6D6D6"/>
                      </a:solidFill>
                      <a:miter lim="400000"/>
                    </a:lnB>
                    <a:solidFill>
                      <a:srgbClr val="101115"/>
                    </a:solidFill>
                  </a:tcPr>
                </a:tc>
              </a:tr>
            </a:tbl>
          </a:graphicData>
        </a:graphic>
      </p:graphicFrame>
      <p:sp>
        <p:nvSpPr>
          <p:cNvPr id="169" name="Problem Synthesis: Modern SecOps requires an autonomous, grounded intelligence layer that bridges heterogeneous silos with zero hallucination risk."/>
          <p:cNvSpPr txBox="1"/>
          <p:nvPr/>
        </p:nvSpPr>
        <p:spPr>
          <a:xfrm>
            <a:off x="1270000" y="12424765"/>
            <a:ext cx="21844000" cy="342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600">
                <a:solidFill>
                  <a:srgbClr val="B1B1B8"/>
                </a:solidFill>
                <a:latin typeface="Helvetica"/>
                <a:ea typeface="Helvetica"/>
                <a:cs typeface="Helvetica"/>
                <a:sym typeface="Helvetica"/>
              </a:defRPr>
            </a:lvl1pPr>
          </a:lstStyle>
          <a:p>
            <a:pPr/>
            <a:r>
              <a:t>Problem Synthesis: Modern SecOps requires an autonomous, grounded intelligence layer that bridges heterogeneous silos with zero hallucination risk.</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4. PROJECT OBJECTIVES &amp; SCOPE"/>
          <p:cNvSpPr txBox="1"/>
          <p:nvPr/>
        </p:nvSpPr>
        <p:spPr>
          <a:xfrm>
            <a:off x="1270000" y="753465"/>
            <a:ext cx="21844000" cy="317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1400">
                <a:solidFill>
                  <a:srgbClr val="CF1F3E"/>
                </a:solidFill>
                <a:latin typeface="Helvetica"/>
                <a:ea typeface="Helvetica"/>
                <a:cs typeface="Helvetica"/>
                <a:sym typeface="Helvetica"/>
              </a:defRPr>
            </a:lvl1pPr>
          </a:lstStyle>
          <a:p>
            <a:pPr/>
            <a:r>
              <a:t>4. PROJECT OBJECTIVES &amp; SCOPE</a:t>
            </a:r>
          </a:p>
        </p:txBody>
      </p:sp>
      <p:sp>
        <p:nvSpPr>
          <p:cNvPr id="174" name="4. PROJECT OBJECTIVES: Technical Scope &amp; Deliverables"/>
          <p:cNvSpPr txBox="1"/>
          <p:nvPr/>
        </p:nvSpPr>
        <p:spPr>
          <a:xfrm>
            <a:off x="1270000" y="918565"/>
            <a:ext cx="21844000" cy="622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3400">
                <a:latin typeface="Helvetica"/>
                <a:ea typeface="Helvetica"/>
                <a:cs typeface="Helvetica"/>
                <a:sym typeface="Helvetica"/>
              </a:defRPr>
            </a:lvl1pPr>
          </a:lstStyle>
          <a:p>
            <a:pPr/>
            <a:r>
              <a:t>4. PROJECT OBJECTIVES: Technical Scope &amp; Deliverables</a:t>
            </a:r>
          </a:p>
        </p:txBody>
      </p:sp>
      <p:sp>
        <p:nvSpPr>
          <p:cNvPr id="175" name="Four Measurable Engineering Deliverables Designed to Automate Incident Response"/>
          <p:cNvSpPr txBox="1"/>
          <p:nvPr/>
        </p:nvSpPr>
        <p:spPr>
          <a:xfrm>
            <a:off x="1270000" y="1674215"/>
            <a:ext cx="21844000" cy="381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solidFill>
                  <a:srgbClr val="B1B1B8"/>
                </a:solidFill>
                <a:latin typeface="Helvetica"/>
                <a:ea typeface="Helvetica"/>
                <a:cs typeface="Helvetica"/>
                <a:sym typeface="Helvetica"/>
              </a:defRPr>
            </a:lvl1pPr>
          </a:lstStyle>
          <a:p>
            <a:pPr/>
            <a:r>
              <a:t>Four Measurable Engineering Deliverables Designed to Automate Incident Response</a:t>
            </a:r>
          </a:p>
        </p:txBody>
      </p:sp>
      <p:sp>
        <p:nvSpPr>
          <p:cNvPr id="176" name="Line"/>
          <p:cNvSpPr/>
          <p:nvPr/>
        </p:nvSpPr>
        <p:spPr>
          <a:xfrm>
            <a:off x="1269999" y="1968500"/>
            <a:ext cx="21844001" cy="1"/>
          </a:xfrm>
          <a:prstGeom prst="line">
            <a:avLst/>
          </a:prstGeom>
          <a:ln w="25400">
            <a:solidFill>
              <a:srgbClr val="FFFFFF"/>
            </a:solidFill>
            <a:miter lim="400000"/>
          </a:ln>
        </p:spPr>
        <p:txBody>
          <a:bodyPr lIns="50800" tIns="50800" rIns="50800" bIns="50800" anchor="ctr"/>
          <a:lstStyle/>
          <a:p>
            <a:pPr/>
          </a:p>
        </p:txBody>
      </p:sp>
      <p:graphicFrame>
        <p:nvGraphicFramePr>
          <p:cNvPr id="177" name="Table 1"/>
          <p:cNvGraphicFramePr/>
          <p:nvPr/>
        </p:nvGraphicFramePr>
        <p:xfrm>
          <a:off x="1270000" y="2286000"/>
          <a:ext cx="21005800" cy="1016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461000"/>
                <a:gridCol w="5461000"/>
                <a:gridCol w="5461000"/>
                <a:gridCol w="5461000"/>
              </a:tblGrid>
              <a:tr h="2381250">
                <a:tc>
                  <a:txBody>
                    <a:bodyPr/>
                    <a:lstStyle/>
                    <a:p>
                      <a:pPr>
                        <a:defRPr sz="1800">
                          <a:solidFill>
                            <a:srgbClr val="000000"/>
                          </a:solidFill>
                        </a:defRPr>
                      </a:pPr>
                      <a:r>
                        <a:rPr b="1" sz="1600">
                          <a:solidFill>
                            <a:srgbClr val="FFFFFF"/>
                          </a:solidFill>
                          <a:latin typeface="Helvetica"/>
                          <a:ea typeface="Helvetica"/>
                          <a:cs typeface="Helvetica"/>
                          <a:sym typeface="Helvetica"/>
                        </a:rPr>
                        <a:t>OBJECTIVE 1</a:t>
                      </a:r>
                    </a:p>
                  </a:txBody>
                  <a:tcPr marL="50800" marR="50800" marT="50800" marB="50800" anchor="ctr" anchorCtr="0" horzOverflow="overflow">
                    <a:lnL w="12700">
                      <a:solidFill>
                        <a:srgbClr val="D6D6D6"/>
                      </a:solidFill>
                      <a:miter lim="400000"/>
                    </a:lnL>
                    <a:lnT w="12700">
                      <a:solidFill>
                        <a:srgbClr val="D6D6D6"/>
                      </a:solidFill>
                      <a:miter lim="400000"/>
                    </a:lnT>
                    <a:solidFill>
                      <a:srgbClr val="20202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OBJECTIVE 2</a:t>
                      </a:r>
                    </a:p>
                  </a:txBody>
                  <a:tcPr marL="50800" marR="50800" marT="50800" marB="50800" anchor="ctr" anchorCtr="0" horzOverflow="overflow">
                    <a:lnT w="12700">
                      <a:solidFill>
                        <a:srgbClr val="D6D6D6"/>
                      </a:solidFill>
                      <a:miter lim="400000"/>
                    </a:lnT>
                    <a:solidFill>
                      <a:srgbClr val="20202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OBJECTIVE 3</a:t>
                      </a:r>
                    </a:p>
                  </a:txBody>
                  <a:tcPr marL="50800" marR="50800" marT="50800" marB="50800" anchor="ctr" anchorCtr="0" horzOverflow="overflow">
                    <a:lnT w="12700">
                      <a:solidFill>
                        <a:srgbClr val="D6D6D6"/>
                      </a:solidFill>
                      <a:miter lim="400000"/>
                    </a:lnT>
                    <a:solidFill>
                      <a:srgbClr val="20202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OBJECTIVE 4</a:t>
                      </a:r>
                    </a:p>
                  </a:txBody>
                  <a:tcPr marL="50800" marR="50800" marT="50800" marB="50800" anchor="ctr" anchorCtr="0" horzOverflow="overflow">
                    <a:lnR w="12700">
                      <a:solidFill>
                        <a:srgbClr val="D6D6D6"/>
                      </a:solidFill>
                      <a:miter lim="400000"/>
                    </a:lnR>
                    <a:lnT w="12700">
                      <a:solidFill>
                        <a:srgbClr val="D6D6D6"/>
                      </a:solidFill>
                      <a:miter lim="400000"/>
                    </a:lnT>
                    <a:solidFill>
                      <a:srgbClr val="202025"/>
                    </a:solidFill>
                  </a:tcPr>
                </a:tc>
              </a:tr>
              <a:tr h="2381250">
                <a:tc>
                  <a:txBody>
                    <a:bodyPr/>
                    <a:lstStyle/>
                    <a:p>
                      <a:pPr>
                        <a:defRPr sz="1800">
                          <a:solidFill>
                            <a:srgbClr val="000000"/>
                          </a:solidFill>
                        </a:defRPr>
                      </a:pPr>
                      <a:r>
                        <a:rPr b="1" sz="2000">
                          <a:solidFill>
                            <a:srgbClr val="FFFFFF"/>
                          </a:solidFill>
                          <a:latin typeface="Helvetica"/>
                          <a:ea typeface="Helvetica"/>
                          <a:cs typeface="Helvetica"/>
                          <a:sym typeface="Helvetica"/>
                        </a:rPr>
                        <a:t>Unified Normalization</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2000">
                          <a:solidFill>
                            <a:srgbClr val="CF1F3E"/>
                          </a:solidFill>
                          <a:latin typeface="Helvetica"/>
                          <a:ea typeface="Helvetica"/>
                          <a:cs typeface="Helvetica"/>
                          <a:sym typeface="Helvetica"/>
                        </a:rPr>
                        <a:t>Zero-Hallucination RAG</a:t>
                      </a:r>
                    </a:p>
                  </a:txBody>
                  <a:tcPr marL="50800" marR="50800" marT="50800" marB="50800" anchor="ctr" anchorCtr="0" horzOverflow="overflow">
                    <a:solidFill>
                      <a:srgbClr val="1A1A20"/>
                    </a:solidFill>
                  </a:tcPr>
                </a:tc>
                <a:tc>
                  <a:txBody>
                    <a:bodyPr/>
                    <a:lstStyle/>
                    <a:p>
                      <a:pPr>
                        <a:defRPr sz="1800">
                          <a:solidFill>
                            <a:srgbClr val="000000"/>
                          </a:solidFill>
                        </a:defRPr>
                      </a:pPr>
                      <a:r>
                        <a:rPr b="1" sz="2000">
                          <a:solidFill>
                            <a:srgbClr val="FFFFFF"/>
                          </a:solidFill>
                          <a:latin typeface="Helvetica"/>
                          <a:ea typeface="Helvetica"/>
                          <a:cs typeface="Helvetica"/>
                          <a:sym typeface="Helvetica"/>
                        </a:rPr>
                        <a:t>Algorithmic CVSS</a:t>
                      </a:r>
                    </a:p>
                  </a:txBody>
                  <a:tcPr marL="50800" marR="50800" marT="50800" marB="50800" anchor="ctr" anchorCtr="0" horzOverflow="overflow">
                    <a:solidFill>
                      <a:srgbClr val="1A1A20"/>
                    </a:solidFill>
                  </a:tcPr>
                </a:tc>
                <a:tc>
                  <a:txBody>
                    <a:bodyPr/>
                    <a:lstStyle/>
                    <a:p>
                      <a:pPr>
                        <a:defRPr sz="1800">
                          <a:solidFill>
                            <a:srgbClr val="000000"/>
                          </a:solidFill>
                        </a:defRPr>
                      </a:pPr>
                      <a:r>
                        <a:rPr b="1" sz="2000">
                          <a:solidFill>
                            <a:srgbClr val="FFFFFF"/>
                          </a:solidFill>
                          <a:latin typeface="Helvetica"/>
                          <a:ea typeface="Helvetica"/>
                          <a:cs typeface="Helvetica"/>
                          <a:sym typeface="Helvetica"/>
                        </a:rPr>
                        <a:t>SOAR &amp; NIST Report</a:t>
                      </a:r>
                    </a:p>
                  </a:txBody>
                  <a:tcPr marL="50800" marR="50800" marT="50800" marB="50800" anchor="ctr" anchorCtr="0" horzOverflow="overflow">
                    <a:lnR w="12700">
                      <a:solidFill>
                        <a:srgbClr val="D6D6D6"/>
                      </a:solidFill>
                      <a:miter lim="400000"/>
                    </a:lnR>
                    <a:solidFill>
                      <a:srgbClr val="1A1A20"/>
                    </a:solidFill>
                  </a:tcPr>
                </a:tc>
              </a:tr>
              <a:tr h="2381250">
                <a:tc>
                  <a:txBody>
                    <a:bodyPr/>
                    <a:lstStyle/>
                    <a:p>
                      <a:pPr>
                        <a:defRPr sz="1800">
                          <a:solidFill>
                            <a:srgbClr val="000000"/>
                          </a:solidFill>
                        </a:defRPr>
                      </a:pPr>
                      <a:r>
                        <a:rPr b="1" sz="1400">
                          <a:solidFill>
                            <a:srgbClr val="B1B1B8"/>
                          </a:solidFill>
                          <a:latin typeface="Helvetica"/>
                          <a:ea typeface="Helvetica"/>
                          <a:cs typeface="Helvetica"/>
                          <a:sym typeface="Helvetica"/>
                        </a:rPr>
                        <a:t>Elastic Common Schema (ECS)</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ChromaDB + ONNX Embeddings</a:t>
                      </a:r>
                    </a:p>
                  </a:txBody>
                  <a:tcPr marL="50800" marR="50800" marT="50800" marB="50800" anchor="ctr" anchorCtr="0" horzOverflow="overflow">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Mathematical 0–100 Formula</a:t>
                      </a:r>
                    </a:p>
                  </a:txBody>
                  <a:tcPr marL="50800" marR="50800" marT="50800" marB="50800" anchor="ctr" anchorCtr="0" horzOverflow="overflow">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NIST SP 800-61 Rev. 2 PDF</a:t>
                      </a:r>
                    </a:p>
                  </a:txBody>
                  <a:tcPr marL="50800" marR="50800" marT="50800" marB="50800" anchor="ctr" anchorCtr="0" horzOverflow="overflow">
                    <a:lnR w="12700">
                      <a:solidFill>
                        <a:srgbClr val="D6D6D6"/>
                      </a:solidFill>
                      <a:miter lim="400000"/>
                    </a:lnR>
                    <a:solidFill>
                      <a:srgbClr val="1A1A20"/>
                    </a:solidFill>
                  </a:tcPr>
                </a:tc>
              </a:tr>
              <a:tr h="2381250">
                <a:tc>
                  <a:txBody>
                    <a:bodyPr/>
                    <a:lstStyle/>
                    <a:p>
                      <a:pPr>
                        <a:defRPr sz="1800">
                          <a:solidFill>
                            <a:srgbClr val="000000"/>
                          </a:solidFill>
                        </a:defRPr>
                      </a:pPr>
                      <a:r>
                        <a:rPr sz="1400">
                          <a:solidFill>
                            <a:srgbClr val="FFFFFF"/>
                          </a:solidFill>
                          <a:latin typeface="Helvetica"/>
                          <a:ea typeface="Helvetica"/>
                          <a:cs typeface="Helvetica"/>
                          <a:sym typeface="Helvetica"/>
                        </a:rPr>
                        <a:t>• Build an extensible BaseLogParser factory to ingest Windows, Linux, Apache, and Firewall telemetry.• Implement high-speed regex tokenizers extracting IPs, ports, timestamps, and usernames.• Filter 90%+ benign routine noise at the edge before passing to AI inference.</a:t>
                      </a:r>
                    </a:p>
                  </a:txBody>
                  <a:tcPr marL="50800" marR="50800" marT="50800" marB="50800" anchor="ctr" anchorCtr="0" horzOverflow="overflow">
                    <a:lnL w="12700">
                      <a:solidFill>
                        <a:srgbClr val="D6D6D6"/>
                      </a:solidFill>
                      <a:miter lim="400000"/>
                    </a:lnL>
                    <a:lnB w="12700">
                      <a:solidFill>
                        <a:srgbClr val="D6D6D6"/>
                      </a:solidFill>
                      <a:miter lim="400000"/>
                    </a:lnB>
                    <a:solidFill>
                      <a:srgbClr val="101115"/>
                    </a:solidFill>
                  </a:tcPr>
                </a:tc>
                <a:tc>
                  <a:txBody>
                    <a:bodyPr/>
                    <a:lstStyle/>
                    <a:p>
                      <a:pPr>
                        <a:defRPr sz="1800">
                          <a:solidFill>
                            <a:srgbClr val="000000"/>
                          </a:solidFill>
                        </a:defRPr>
                      </a:pPr>
                      <a:r>
                        <a:rPr sz="1400">
                          <a:solidFill>
                            <a:srgbClr val="FFFFFF"/>
                          </a:solidFill>
                          <a:latin typeface="Helvetica"/>
                          <a:ea typeface="Helvetica"/>
                          <a:cs typeface="Helvetica"/>
                          <a:sym typeface="Helvetica"/>
                        </a:rPr>
                        <a:t>• Integrate local ChromaDB vector store pre-loaded with MITRE ATT&amp;CK Enterprise (v14).• Generate local sentence-transformers all-MiniLM-L6-v2 ONNX embeddings.• Ground all LLM reasoning deterministically via cosine similarity top-k retrieval.</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sz="1400">
                          <a:solidFill>
                            <a:srgbClr val="FFFFFF"/>
                          </a:solidFill>
                          <a:latin typeface="Helvetica"/>
                          <a:ea typeface="Helvetica"/>
                          <a:cs typeface="Helvetica"/>
                          <a:sym typeface="Helvetica"/>
                        </a:rPr>
                        <a:t>• Formulate a deterministic mathematical CVSS scoring algorithm (0 to 100).• Score weights: Base severity (Critical=50, High=35), Credential theft (+10), Root targeting (+8).• Provide transparent, explainable score breakdown with zero black-box obscurity.</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sz="1400">
                          <a:solidFill>
                            <a:srgbClr val="FFFFFF"/>
                          </a:solidFill>
                          <a:latin typeface="Helvetica"/>
                          <a:ea typeface="Helvetica"/>
                          <a:cs typeface="Helvetica"/>
                          <a:sym typeface="Helvetica"/>
                        </a:rPr>
                        <a:t>• Build a high-contrast React 18 workstation with Live Cyber Radar telemetry stream.• Provide interactive NIST SP 800-61 containment checklists and attack simulation.• Generate publication-grade forensic PDF incident reports with tamper-evident SHA-256.</a:t>
                      </a:r>
                    </a:p>
                  </a:txBody>
                  <a:tcPr marL="50800" marR="50800" marT="50800" marB="50800" anchor="ctr" anchorCtr="0" horzOverflow="overflow">
                    <a:lnR w="12700">
                      <a:solidFill>
                        <a:srgbClr val="D6D6D6"/>
                      </a:solidFill>
                      <a:miter lim="400000"/>
                    </a:lnR>
                    <a:lnB w="12700">
                      <a:solidFill>
                        <a:srgbClr val="D6D6D6"/>
                      </a:solidFill>
                      <a:miter lim="400000"/>
                    </a:lnB>
                    <a:solidFill>
                      <a:srgbClr val="101115"/>
                    </a:solidFill>
                  </a:tcPr>
                </a:tc>
              </a:tr>
            </a:tbl>
          </a:graphicData>
        </a:graphic>
      </p:graphicFrame>
      <p:sp>
        <p:nvSpPr>
          <p:cNvPr id="178" name="Compliance Alignment: System engineering strictly satisfies NIST SP 800-61 Rev. 2 and MITRE ATT&amp;CK Enterprise v14 frameworks."/>
          <p:cNvSpPr txBox="1"/>
          <p:nvPr/>
        </p:nvSpPr>
        <p:spPr>
          <a:xfrm>
            <a:off x="1270000" y="12424765"/>
            <a:ext cx="21844000" cy="342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600">
                <a:solidFill>
                  <a:srgbClr val="B1B1B8"/>
                </a:solidFill>
                <a:latin typeface="Helvetica"/>
                <a:ea typeface="Helvetica"/>
                <a:cs typeface="Helvetica"/>
                <a:sym typeface="Helvetica"/>
              </a:defRPr>
            </a:lvl1pPr>
          </a:lstStyle>
          <a:p>
            <a:pPr/>
            <a:r>
              <a:t>Compliance Alignment: System engineering strictly satisfies NIST SP 800-61 Rev. 2 and MITRE ATT&amp;CK Enterprise v14 frameworks.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5. PROPOSED SOLUTION &amp; ARCHITECTURAL FOUNDATION"/>
          <p:cNvSpPr txBox="1"/>
          <p:nvPr/>
        </p:nvSpPr>
        <p:spPr>
          <a:xfrm>
            <a:off x="1270000" y="753465"/>
            <a:ext cx="21844000" cy="317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1400">
                <a:solidFill>
                  <a:srgbClr val="CF1F3E"/>
                </a:solidFill>
                <a:latin typeface="Helvetica"/>
                <a:ea typeface="Helvetica"/>
                <a:cs typeface="Helvetica"/>
                <a:sym typeface="Helvetica"/>
              </a:defRPr>
            </a:lvl1pPr>
          </a:lstStyle>
          <a:p>
            <a:pPr/>
            <a:r>
              <a:t>5. PROPOSED SOLUTION &amp; ARCHITECTURAL FOUNDATION</a:t>
            </a:r>
          </a:p>
        </p:txBody>
      </p:sp>
      <p:sp>
        <p:nvSpPr>
          <p:cNvPr id="183" name="5. PROPOSED SOLUTION: CyberSentinel Platform Architecture"/>
          <p:cNvSpPr txBox="1"/>
          <p:nvPr/>
        </p:nvSpPr>
        <p:spPr>
          <a:xfrm>
            <a:off x="1270000" y="918565"/>
            <a:ext cx="21844000" cy="622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3400">
                <a:latin typeface="Helvetica"/>
                <a:ea typeface="Helvetica"/>
                <a:cs typeface="Helvetica"/>
                <a:sym typeface="Helvetica"/>
              </a:defRPr>
            </a:lvl1pPr>
          </a:lstStyle>
          <a:p>
            <a:pPr/>
            <a:r>
              <a:t>5. PROPOSED SOLUTION: CyberSentinel Platform Architecture</a:t>
            </a:r>
          </a:p>
        </p:txBody>
      </p:sp>
      <p:sp>
        <p:nvSpPr>
          <p:cNvPr id="184" name="A Modular Three-Tier Cognitive Platform Combining Ingestion, Vector RAG, and Web SOAR"/>
          <p:cNvSpPr txBox="1"/>
          <p:nvPr/>
        </p:nvSpPr>
        <p:spPr>
          <a:xfrm>
            <a:off x="1270000" y="1674215"/>
            <a:ext cx="21844000" cy="381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solidFill>
                  <a:srgbClr val="B1B1B8"/>
                </a:solidFill>
                <a:latin typeface="Helvetica"/>
                <a:ea typeface="Helvetica"/>
                <a:cs typeface="Helvetica"/>
                <a:sym typeface="Helvetica"/>
              </a:defRPr>
            </a:lvl1pPr>
          </a:lstStyle>
          <a:p>
            <a:pPr/>
            <a:r>
              <a:t>A Modular Three-Tier Cognitive Platform Combining Ingestion, Vector RAG, and Web SOAR</a:t>
            </a:r>
          </a:p>
        </p:txBody>
      </p:sp>
      <p:sp>
        <p:nvSpPr>
          <p:cNvPr id="185" name="Line"/>
          <p:cNvSpPr/>
          <p:nvPr/>
        </p:nvSpPr>
        <p:spPr>
          <a:xfrm>
            <a:off x="1269999" y="1968500"/>
            <a:ext cx="21844001" cy="1"/>
          </a:xfrm>
          <a:prstGeom prst="line">
            <a:avLst/>
          </a:prstGeom>
          <a:ln w="25400">
            <a:solidFill>
              <a:srgbClr val="FFFFFF"/>
            </a:solidFill>
            <a:miter lim="400000"/>
          </a:ln>
        </p:spPr>
        <p:txBody>
          <a:bodyPr lIns="50800" tIns="50800" rIns="50800" bIns="50800" anchor="ctr"/>
          <a:lstStyle/>
          <a:p>
            <a:pPr/>
          </a:p>
        </p:txBody>
      </p:sp>
      <p:graphicFrame>
        <p:nvGraphicFramePr>
          <p:cNvPr id="186" name="Table 1"/>
          <p:cNvGraphicFramePr/>
          <p:nvPr/>
        </p:nvGraphicFramePr>
        <p:xfrm>
          <a:off x="1270000" y="2286000"/>
          <a:ext cx="21005800" cy="1016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281333"/>
                <a:gridCol w="7281333"/>
                <a:gridCol w="7281333"/>
              </a:tblGrid>
              <a:tr h="2381250">
                <a:tc>
                  <a:txBody>
                    <a:bodyPr/>
                    <a:lstStyle/>
                    <a:p>
                      <a:pPr>
                        <a:defRPr sz="1800">
                          <a:solidFill>
                            <a:srgbClr val="000000"/>
                          </a:solidFill>
                        </a:defRPr>
                      </a:pPr>
                      <a:r>
                        <a:rPr b="1">
                          <a:solidFill>
                            <a:srgbClr val="FFFFFF"/>
                          </a:solidFill>
                          <a:latin typeface="Helvetica"/>
                          <a:ea typeface="Helvetica"/>
                          <a:cs typeface="Helvetica"/>
                          <a:sym typeface="Helvetica"/>
                        </a:rPr>
                        <a:t>TIER 1: INGESTION &amp; PARSER FACTORY</a:t>
                      </a:r>
                    </a:p>
                  </a:txBody>
                  <a:tcPr marL="50800" marR="50800" marT="50800" marB="50800" anchor="ctr" anchorCtr="0" horzOverflow="overflow">
                    <a:lnL w="12700">
                      <a:solidFill>
                        <a:srgbClr val="D6D6D6"/>
                      </a:solidFill>
                      <a:miter lim="400000"/>
                    </a:lnL>
                    <a:lnT w="12700">
                      <a:solidFill>
                        <a:srgbClr val="D6D6D6"/>
                      </a:solidFill>
                      <a:miter lim="400000"/>
                    </a:lnT>
                    <a:solidFill>
                      <a:srgbClr val="202025"/>
                    </a:solidFill>
                  </a:tcPr>
                </a:tc>
                <a:tc>
                  <a:txBody>
                    <a:bodyPr/>
                    <a:lstStyle/>
                    <a:p>
                      <a:pPr>
                        <a:defRPr sz="1800">
                          <a:solidFill>
                            <a:srgbClr val="000000"/>
                          </a:solidFill>
                        </a:defRPr>
                      </a:pPr>
                      <a:r>
                        <a:rPr b="1">
                          <a:solidFill>
                            <a:srgbClr val="FFFFFF"/>
                          </a:solidFill>
                          <a:latin typeface="Helvetica"/>
                          <a:ea typeface="Helvetica"/>
                          <a:cs typeface="Helvetica"/>
                          <a:sym typeface="Helvetica"/>
                        </a:rPr>
                        <a:t>TIER 2: COGNITIVE RAG ENGINE</a:t>
                      </a:r>
                    </a:p>
                  </a:txBody>
                  <a:tcPr marL="50800" marR="50800" marT="50800" marB="50800" anchor="ctr" anchorCtr="0" horzOverflow="overflow">
                    <a:lnT w="12700">
                      <a:solidFill>
                        <a:srgbClr val="D6D6D6"/>
                      </a:solidFill>
                      <a:miter lim="400000"/>
                    </a:lnT>
                    <a:solidFill>
                      <a:srgbClr val="CF1F3E"/>
                    </a:solidFill>
                  </a:tcPr>
                </a:tc>
                <a:tc>
                  <a:txBody>
                    <a:bodyPr/>
                    <a:lstStyle/>
                    <a:p>
                      <a:pPr>
                        <a:defRPr sz="1800">
                          <a:solidFill>
                            <a:srgbClr val="000000"/>
                          </a:solidFill>
                        </a:defRPr>
                      </a:pPr>
                      <a:r>
                        <a:rPr b="1">
                          <a:solidFill>
                            <a:srgbClr val="FFFFFF"/>
                          </a:solidFill>
                          <a:latin typeface="Helvetica"/>
                          <a:ea typeface="Helvetica"/>
                          <a:cs typeface="Helvetica"/>
                          <a:sym typeface="Helvetica"/>
                        </a:rPr>
                        <a:t>TIER 3: WORKSTATION &amp; SOAR</a:t>
                      </a:r>
                    </a:p>
                  </a:txBody>
                  <a:tcPr marL="50800" marR="50800" marT="50800" marB="50800" anchor="ctr" anchorCtr="0" horzOverflow="overflow">
                    <a:lnR w="12700">
                      <a:solidFill>
                        <a:srgbClr val="D6D6D6"/>
                      </a:solidFill>
                      <a:miter lim="400000"/>
                    </a:lnR>
                    <a:lnT w="12700">
                      <a:solidFill>
                        <a:srgbClr val="D6D6D6"/>
                      </a:solidFill>
                      <a:miter lim="400000"/>
                    </a:lnT>
                    <a:solidFill>
                      <a:srgbClr val="202025"/>
                    </a:solidFill>
                  </a:tcPr>
                </a:tc>
              </a:tr>
              <a:tr h="2381250">
                <a:tc>
                  <a:txBody>
                    <a:bodyPr/>
                    <a:lstStyle/>
                    <a:p>
                      <a:pPr>
                        <a:defRPr sz="1800">
                          <a:solidFill>
                            <a:srgbClr val="000000"/>
                          </a:solidFill>
                        </a:defRPr>
                      </a:pPr>
                      <a:r>
                        <a:rPr b="1" sz="2200">
                          <a:solidFill>
                            <a:srgbClr val="FFFFFF"/>
                          </a:solidFill>
                          <a:latin typeface="Helvetica"/>
                          <a:ea typeface="Helvetica"/>
                          <a:cs typeface="Helvetica"/>
                          <a:sym typeface="Helvetica"/>
                        </a:rPr>
                        <a:t>Edge Normalization Layer</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2200">
                          <a:solidFill>
                            <a:srgbClr val="FFFFFF"/>
                          </a:solidFill>
                          <a:latin typeface="Helvetica"/>
                          <a:ea typeface="Helvetica"/>
                          <a:cs typeface="Helvetica"/>
                          <a:sym typeface="Helvetica"/>
                        </a:rPr>
                        <a:t>Vector Grounding Core</a:t>
                      </a:r>
                    </a:p>
                  </a:txBody>
                  <a:tcPr marL="50800" marR="50800" marT="50800" marB="50800" anchor="ctr" anchorCtr="0" horzOverflow="overflow">
                    <a:solidFill>
                      <a:srgbClr val="1A1A20"/>
                    </a:solidFill>
                  </a:tcPr>
                </a:tc>
                <a:tc>
                  <a:txBody>
                    <a:bodyPr/>
                    <a:lstStyle/>
                    <a:p>
                      <a:pPr>
                        <a:defRPr sz="1800">
                          <a:solidFill>
                            <a:srgbClr val="000000"/>
                          </a:solidFill>
                        </a:defRPr>
                      </a:pPr>
                      <a:r>
                        <a:rPr b="1" sz="2200">
                          <a:solidFill>
                            <a:srgbClr val="FFFFFF"/>
                          </a:solidFill>
                          <a:latin typeface="Helvetica"/>
                          <a:ea typeface="Helvetica"/>
                          <a:cs typeface="Helvetica"/>
                          <a:sym typeface="Helvetica"/>
                        </a:rPr>
                        <a:t>Analyst Cockpit &amp; Export</a:t>
                      </a:r>
                    </a:p>
                  </a:txBody>
                  <a:tcPr marL="50800" marR="50800" marT="50800" marB="50800" anchor="ctr" anchorCtr="0" horzOverflow="overflow">
                    <a:lnR w="12700">
                      <a:solidFill>
                        <a:srgbClr val="D6D6D6"/>
                      </a:solidFill>
                      <a:miter lim="400000"/>
                    </a:lnR>
                    <a:solidFill>
                      <a:srgbClr val="1A1A20"/>
                    </a:solidFill>
                  </a:tcPr>
                </a:tc>
              </a:tr>
              <a:tr h="2381250">
                <a:tc>
                  <a:txBody>
                    <a:bodyPr/>
                    <a:lstStyle/>
                    <a:p>
                      <a:pPr>
                        <a:defRPr sz="1800">
                          <a:solidFill>
                            <a:srgbClr val="000000"/>
                          </a:solidFill>
                        </a:defRPr>
                      </a:pPr>
                      <a:r>
                        <a:rPr b="1" sz="1400">
                          <a:solidFill>
                            <a:srgbClr val="B1B1B8"/>
                          </a:solidFill>
                          <a:latin typeface="Helvetica"/>
                          <a:ea typeface="Helvetica"/>
                          <a:cs typeface="Helvetica"/>
                          <a:sym typeface="Helvetica"/>
                        </a:rPr>
                        <a:t>Python 3.11 • Pydantic v2 • ECS</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ChromaDB 0.6 • ONNX • MITRE ATT&amp;CK</a:t>
                      </a:r>
                    </a:p>
                  </a:txBody>
                  <a:tcPr marL="50800" marR="50800" marT="50800" marB="50800" anchor="ctr" anchorCtr="0" horzOverflow="overflow">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React 18 • Vite • Tailwind • ReportLab</a:t>
                      </a:r>
                    </a:p>
                  </a:txBody>
                  <a:tcPr marL="50800" marR="50800" marT="50800" marB="50800" anchor="ctr" anchorCtr="0" horzOverflow="overflow">
                    <a:lnR w="12700">
                      <a:solidFill>
                        <a:srgbClr val="D6D6D6"/>
                      </a:solidFill>
                      <a:miter lim="400000"/>
                    </a:lnR>
                    <a:solidFill>
                      <a:srgbClr val="1A1A20"/>
                    </a:solidFill>
                  </a:tcPr>
                </a:tc>
              </a:tr>
              <a:tr h="2381250">
                <a:tc>
                  <a:txBody>
                    <a:bodyPr/>
                    <a:lstStyle/>
                    <a:p>
                      <a:pPr>
                        <a:defRPr sz="1800">
                          <a:solidFill>
                            <a:srgbClr val="000000"/>
                          </a:solidFill>
                        </a:defRPr>
                      </a:pPr>
                      <a:r>
                        <a:rPr sz="1500">
                          <a:solidFill>
                            <a:srgbClr val="FFFFFF"/>
                          </a:solidFill>
                          <a:latin typeface="Helvetica"/>
                          <a:ea typeface="Helvetica"/>
                          <a:cs typeface="Helvetica"/>
                          <a:sym typeface="Helvetica"/>
                        </a:rPr>
                        <a:t>• Object-oriented parser hierarchy implementing BaseLogParser interface.• Tailored extractors for Windows EventLogs (JSON), Linux Syslog (RFC 3164), Apache CLF, and Firewall CSV.• Edge pre-filtering layer discards 90%+ routine benign heartbeats before heavy downstream inference.• Emits harmonized Elastic Common Schema (ECS) events.</a:t>
                      </a:r>
                    </a:p>
                  </a:txBody>
                  <a:tcPr marL="50800" marR="50800" marT="50800" marB="50800" anchor="ctr" anchorCtr="0" horzOverflow="overflow">
                    <a:lnL w="12700">
                      <a:solidFill>
                        <a:srgbClr val="D6D6D6"/>
                      </a:solidFill>
                      <a:miter lim="400000"/>
                    </a:lnL>
                    <a:lnB w="12700">
                      <a:solidFill>
                        <a:srgbClr val="D6D6D6"/>
                      </a:solidFill>
                      <a:miter lim="400000"/>
                    </a:lnB>
                    <a:solidFill>
                      <a:srgbClr val="101115"/>
                    </a:solidFill>
                  </a:tcPr>
                </a:tc>
                <a:tc>
                  <a:txBody>
                    <a:bodyPr/>
                    <a:lstStyle/>
                    <a:p>
                      <a:pPr>
                        <a:defRPr sz="1800">
                          <a:solidFill>
                            <a:srgbClr val="000000"/>
                          </a:solidFill>
                        </a:defRPr>
                      </a:pPr>
                      <a:r>
                        <a:rPr sz="1500">
                          <a:solidFill>
                            <a:srgbClr val="FFFFFF"/>
                          </a:solidFill>
                          <a:latin typeface="Helvetica"/>
                          <a:ea typeface="Helvetica"/>
                          <a:cs typeface="Helvetica"/>
                          <a:sym typeface="Helvetica"/>
                        </a:rPr>
                        <a:t>• In-process ChromaDB vector store pre-embedded with 600+ MITRE ATT&amp;CK Enterprise (v14) techniques.• Offline ONNX sentence-transformer embeddings (all-MiniLM-L6-v2) for sub-10ms semantic retrieval.• Mathematical CVSS risk engine (0–100) scoring base severity, privilege escalation, and root impact.• Pydantic output validation guaranteeing 0.0% AI hallucination.</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sz="1500">
                          <a:solidFill>
                            <a:srgbClr val="FFFFFF"/>
                          </a:solidFill>
                          <a:latin typeface="Helvetica"/>
                          <a:ea typeface="Helvetica"/>
                          <a:cs typeface="Helvetica"/>
                          <a:sym typeface="Helvetica"/>
                        </a:rPr>
                        <a:t>• High-contrast NexBank-inspired Obsidian web interface with Live Cyber Radar telemetry stream.• Interactive attack simulation engine triggering multi-source attack waves on demand.• Actionable NIST SP 800-61 containment playbooks with one-click IP isolation scripts.• Tamper-evident ReportLab forensic PDF export with SHA-256 integrity verification.</a:t>
                      </a:r>
                    </a:p>
                  </a:txBody>
                  <a:tcPr marL="50800" marR="50800" marT="50800" marB="50800" anchor="ctr" anchorCtr="0" horzOverflow="overflow">
                    <a:lnR w="12700">
                      <a:solidFill>
                        <a:srgbClr val="D6D6D6"/>
                      </a:solidFill>
                      <a:miter lim="400000"/>
                    </a:lnR>
                    <a:lnB w="12700">
                      <a:solidFill>
                        <a:srgbClr val="D6D6D6"/>
                      </a:solidFill>
                      <a:miter lim="400000"/>
                    </a:lnB>
                    <a:solidFill>
                      <a:srgbClr val="101115"/>
                    </a:solidFill>
                  </a:tcPr>
                </a:tc>
              </a:tr>
            </a:tbl>
          </a:graphicData>
        </a:graphic>
      </p:graphicFrame>
      <p:sp>
        <p:nvSpPr>
          <p:cNvPr id="187" name="Single-Port Deployment: Multi-stage Docker packaging compiles React assets into FastAPI StaticFiles on $PORT with zero CORS overhead."/>
          <p:cNvSpPr txBox="1"/>
          <p:nvPr/>
        </p:nvSpPr>
        <p:spPr>
          <a:xfrm>
            <a:off x="1270000" y="12424765"/>
            <a:ext cx="21844000" cy="342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600">
                <a:solidFill>
                  <a:srgbClr val="B1B1B8"/>
                </a:solidFill>
                <a:latin typeface="Helvetica"/>
                <a:ea typeface="Helvetica"/>
                <a:cs typeface="Helvetica"/>
                <a:sym typeface="Helvetica"/>
              </a:defRPr>
            </a:lvl1pPr>
          </a:lstStyle>
          <a:p>
            <a:pPr/>
            <a:r>
              <a:t>Single-Port Deployment: Multi-stage Docker packaging compiles React assets into FastAPI StaticFiles on $PORT with zero CORS overhead.</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6. SYSTEM ARCHITECTURE &amp; FLOWCHART"/>
          <p:cNvSpPr txBox="1"/>
          <p:nvPr/>
        </p:nvSpPr>
        <p:spPr>
          <a:xfrm>
            <a:off x="1270000" y="753465"/>
            <a:ext cx="21844000" cy="317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1400">
                <a:solidFill>
                  <a:srgbClr val="CF1F3E"/>
                </a:solidFill>
                <a:latin typeface="Helvetica"/>
                <a:ea typeface="Helvetica"/>
                <a:cs typeface="Helvetica"/>
                <a:sym typeface="Helvetica"/>
              </a:defRPr>
            </a:lvl1pPr>
          </a:lstStyle>
          <a:p>
            <a:pPr/>
            <a:r>
              <a:t>6. SYSTEM ARCHITECTURE &amp; FLOWCHART</a:t>
            </a:r>
          </a:p>
        </p:txBody>
      </p:sp>
      <p:sp>
        <p:nvSpPr>
          <p:cNvPr id="192" name="5. SYSTEM ARCHITECTURE &amp; DATAFLOW PIPELINE"/>
          <p:cNvSpPr txBox="1"/>
          <p:nvPr/>
        </p:nvSpPr>
        <p:spPr>
          <a:xfrm>
            <a:off x="1270000" y="918565"/>
            <a:ext cx="21844000" cy="622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3400">
                <a:latin typeface="Helvetica"/>
                <a:ea typeface="Helvetica"/>
                <a:cs typeface="Helvetica"/>
                <a:sym typeface="Helvetica"/>
              </a:defRPr>
            </a:lvl1pPr>
          </a:lstStyle>
          <a:p>
            <a:pPr/>
            <a:r>
              <a:t>5. SYSTEM ARCHITECTURE &amp; DATAFLOW PIPELINE</a:t>
            </a:r>
          </a:p>
        </p:txBody>
      </p:sp>
      <p:sp>
        <p:nvSpPr>
          <p:cNvPr id="193" name="Deterministic 5-Stage Triage: Ingestion ➔ Normalization ➔ Vector Retrieval ➔ Cognitive Engine ➔ SOAR &amp; Report"/>
          <p:cNvSpPr txBox="1"/>
          <p:nvPr/>
        </p:nvSpPr>
        <p:spPr>
          <a:xfrm>
            <a:off x="1270000" y="1674215"/>
            <a:ext cx="21844000" cy="381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solidFill>
                  <a:srgbClr val="B1B1B8"/>
                </a:solidFill>
                <a:latin typeface="Helvetica"/>
                <a:ea typeface="Helvetica"/>
                <a:cs typeface="Helvetica"/>
                <a:sym typeface="Helvetica"/>
              </a:defRPr>
            </a:lvl1pPr>
          </a:lstStyle>
          <a:p>
            <a:pPr/>
            <a:r>
              <a:t>Deterministic 5-Stage Triage: Ingestion ➔ Normalization ➔ Vector Retrieval ➔ Cognitive Engine ➔ SOAR &amp; Report</a:t>
            </a:r>
          </a:p>
        </p:txBody>
      </p:sp>
      <p:sp>
        <p:nvSpPr>
          <p:cNvPr id="194" name="Line"/>
          <p:cNvSpPr/>
          <p:nvPr/>
        </p:nvSpPr>
        <p:spPr>
          <a:xfrm>
            <a:off x="1269999" y="1968500"/>
            <a:ext cx="21844001" cy="1"/>
          </a:xfrm>
          <a:prstGeom prst="line">
            <a:avLst/>
          </a:prstGeom>
          <a:ln w="25400">
            <a:solidFill>
              <a:srgbClr val="FFFFFF"/>
            </a:solidFill>
            <a:miter lim="400000"/>
          </a:ln>
        </p:spPr>
        <p:txBody>
          <a:bodyPr lIns="50800" tIns="50800" rIns="50800" bIns="50800" anchor="ctr"/>
          <a:lstStyle/>
          <a:p>
            <a:pPr/>
          </a:p>
        </p:txBody>
      </p:sp>
      <p:graphicFrame>
        <p:nvGraphicFramePr>
          <p:cNvPr id="195" name="Table 1"/>
          <p:cNvGraphicFramePr/>
          <p:nvPr/>
        </p:nvGraphicFramePr>
        <p:xfrm>
          <a:off x="1270000" y="2222500"/>
          <a:ext cx="21005800" cy="1016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368800"/>
                <a:gridCol w="4368800"/>
                <a:gridCol w="4368800"/>
                <a:gridCol w="4368800"/>
                <a:gridCol w="4368800"/>
              </a:tblGrid>
              <a:tr h="1828800">
                <a:tc>
                  <a:txBody>
                    <a:bodyPr/>
                    <a:lstStyle/>
                    <a:p>
                      <a:pPr>
                        <a:defRPr sz="1800">
                          <a:solidFill>
                            <a:srgbClr val="000000"/>
                          </a:solidFill>
                        </a:defRPr>
                      </a:pPr>
                      <a:r>
                        <a:rPr b="1" sz="1600">
                          <a:solidFill>
                            <a:srgbClr val="FFFFFF"/>
                          </a:solidFill>
                          <a:latin typeface="Helvetica"/>
                          <a:ea typeface="Helvetica"/>
                          <a:cs typeface="Helvetica"/>
                          <a:sym typeface="Helvetica"/>
                        </a:rPr>
                        <a:t>STAGE 1: INGESTION</a:t>
                      </a:r>
                    </a:p>
                  </a:txBody>
                  <a:tcPr marL="50800" marR="50800" marT="50800" marB="50800" anchor="ctr" anchorCtr="0" horzOverflow="overflow">
                    <a:lnL w="12700">
                      <a:solidFill>
                        <a:srgbClr val="D6D6D6"/>
                      </a:solidFill>
                      <a:miter lim="400000"/>
                    </a:lnL>
                    <a:lnT w="12700">
                      <a:solidFill>
                        <a:srgbClr val="D6D6D6"/>
                      </a:solidFill>
                      <a:miter lim="400000"/>
                    </a:lnT>
                    <a:solidFill>
                      <a:srgbClr val="CF1F3E"/>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STAGE 2: NORMALIZATION</a:t>
                      </a:r>
                    </a:p>
                  </a:txBody>
                  <a:tcPr marL="50800" marR="50800" marT="50800" marB="50800" anchor="ctr" anchorCtr="0" horzOverflow="overflow">
                    <a:lnT w="12700">
                      <a:solidFill>
                        <a:srgbClr val="D6D6D6"/>
                      </a:solidFill>
                      <a:miter lim="400000"/>
                    </a:lnT>
                    <a:solidFill>
                      <a:srgbClr val="CF1F3E"/>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STAGE 3: VECTOR RAG</a:t>
                      </a:r>
                    </a:p>
                  </a:txBody>
                  <a:tcPr marL="50800" marR="50800" marT="50800" marB="50800" anchor="ctr" anchorCtr="0" horzOverflow="overflow">
                    <a:lnT w="12700">
                      <a:solidFill>
                        <a:srgbClr val="D6D6D6"/>
                      </a:solidFill>
                      <a:miter lim="400000"/>
                    </a:lnT>
                    <a:solidFill>
                      <a:srgbClr val="CF1F3E"/>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STAGE 4: COGNITIVE AGENT</a:t>
                      </a:r>
                    </a:p>
                  </a:txBody>
                  <a:tcPr marL="50800" marR="50800" marT="50800" marB="50800" anchor="ctr" anchorCtr="0" horzOverflow="overflow">
                    <a:lnT w="12700">
                      <a:solidFill>
                        <a:srgbClr val="D6D6D6"/>
                      </a:solidFill>
                      <a:miter lim="400000"/>
                    </a:lnT>
                    <a:solidFill>
                      <a:srgbClr val="CF1F3E"/>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STAGE 5: SOAR &amp; EXPORT</a:t>
                      </a:r>
                    </a:p>
                  </a:txBody>
                  <a:tcPr marL="50800" marR="50800" marT="50800" marB="50800" anchor="ctr" anchorCtr="0" horzOverflow="overflow">
                    <a:lnR w="12700">
                      <a:solidFill>
                        <a:srgbClr val="D6D6D6"/>
                      </a:solidFill>
                      <a:miter lim="400000"/>
                    </a:lnR>
                    <a:lnT w="12700">
                      <a:solidFill>
                        <a:srgbClr val="D6D6D6"/>
                      </a:solidFill>
                      <a:miter lim="400000"/>
                    </a:lnT>
                    <a:solidFill>
                      <a:srgbClr val="CF1F3E"/>
                    </a:solidFill>
                  </a:tcPr>
                </a:tc>
              </a:tr>
              <a:tr h="1828800">
                <a:tc>
                  <a:txBody>
                    <a:bodyPr/>
                    <a:lstStyle/>
                    <a:p>
                      <a:pPr>
                        <a:defRPr sz="1800">
                          <a:solidFill>
                            <a:srgbClr val="000000"/>
                          </a:solidFill>
                        </a:defRPr>
                      </a:pPr>
                      <a:r>
                        <a:rPr b="1" sz="1400">
                          <a:solidFill>
                            <a:srgbClr val="B1B1B8"/>
                          </a:solidFill>
                          <a:latin typeface="Helvetica"/>
                          <a:ea typeface="Helvetica"/>
                          <a:cs typeface="Helvetica"/>
                          <a:sym typeface="Helvetica"/>
                        </a:rPr>
                        <a:t>Raw Telemetry Inflow</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Parser Factory (ECS)</a:t>
                      </a:r>
                    </a:p>
                  </a:txBody>
                  <a:tcPr marL="50800" marR="50800" marT="50800" marB="50800" anchor="ctr" anchorCtr="0" horzOverflow="overflow">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ChromaDB Vector Store</a:t>
                      </a:r>
                    </a:p>
                  </a:txBody>
                  <a:tcPr marL="50800" marR="50800" marT="50800" marB="50800" anchor="ctr" anchorCtr="0" horzOverflow="overflow">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Risk Engine &amp; Synthesizer</a:t>
                      </a:r>
                    </a:p>
                  </a:txBody>
                  <a:tcPr marL="50800" marR="50800" marT="50800" marB="50800" anchor="ctr" anchorCtr="0" horzOverflow="overflow">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Analyst Workstation</a:t>
                      </a:r>
                    </a:p>
                  </a:txBody>
                  <a:tcPr marL="50800" marR="50800" marT="50800" marB="50800" anchor="ctr" anchorCtr="0" horzOverflow="overflow">
                    <a:lnR w="12700">
                      <a:solidFill>
                        <a:srgbClr val="D6D6D6"/>
                      </a:solidFill>
                      <a:miter lim="400000"/>
                    </a:lnR>
                    <a:solidFill>
                      <a:srgbClr val="1A1A20"/>
                    </a:solidFill>
                  </a:tcPr>
                </a:tc>
              </a:tr>
              <a:tr h="1828800">
                <a:tc>
                  <a:txBody>
                    <a:bodyPr/>
                    <a:lstStyle/>
                    <a:p>
                      <a:pPr>
                        <a:defRPr sz="1800">
                          <a:solidFill>
                            <a:srgbClr val="000000"/>
                          </a:solidFill>
                        </a:defRPr>
                      </a:pPr>
                      <a:r>
                        <a:rPr sz="1500">
                          <a:solidFill>
                            <a:srgbClr val="FFFFFF"/>
                          </a:solidFill>
                          <a:latin typeface="Helvetica"/>
                          <a:ea typeface="Helvetica"/>
                          <a:cs typeface="Helvetica"/>
                          <a:sym typeface="Helvetica"/>
                        </a:rPr>
                        <a:t>• Windows Event Logs (JSON)• Linux auth.log / Syslog• Apache Web Access Logs• Perimeter Firewall CSV• Live SSE Stream Pipe</a:t>
                      </a:r>
                    </a:p>
                  </a:txBody>
                  <a:tcPr marL="50800" marR="50800" marT="50800" marB="50800" anchor="ctr" anchorCtr="0" horzOverflow="overflow">
                    <a:lnL w="12700">
                      <a:solidFill>
                        <a:srgbClr val="D6D6D6"/>
                      </a:solidFill>
                      <a:miter lim="400000"/>
                    </a:lnL>
                    <a:solidFill>
                      <a:srgbClr val="101115"/>
                    </a:solidFill>
                  </a:tcPr>
                </a:tc>
                <a:tc>
                  <a:txBody>
                    <a:bodyPr/>
                    <a:lstStyle/>
                    <a:p>
                      <a:pPr>
                        <a:defRPr sz="1800">
                          <a:solidFill>
                            <a:srgbClr val="000000"/>
                          </a:solidFill>
                        </a:defRPr>
                      </a:pPr>
                      <a:r>
                        <a:rPr sz="1500">
                          <a:solidFill>
                            <a:srgbClr val="FFFFFF"/>
                          </a:solidFill>
                          <a:latin typeface="Helvetica"/>
                          <a:ea typeface="Helvetica"/>
                          <a:cs typeface="Helvetica"/>
                          <a:sym typeface="Helvetica"/>
                        </a:rPr>
                        <a:t>• BaseLogParser Factory• Regex Token Extraction• Elastic Common Schema• 90%+ Benign Noise Filter• Timestamp Normalization</a:t>
                      </a:r>
                    </a:p>
                  </a:txBody>
                  <a:tcPr marL="50800" marR="50800" marT="50800" marB="50800" anchor="ctr" anchorCtr="0" horzOverflow="overflow">
                    <a:solidFill>
                      <a:srgbClr val="101115"/>
                    </a:solidFill>
                  </a:tcPr>
                </a:tc>
                <a:tc>
                  <a:txBody>
                    <a:bodyPr/>
                    <a:lstStyle/>
                    <a:p>
                      <a:pPr>
                        <a:defRPr sz="1800">
                          <a:solidFill>
                            <a:srgbClr val="000000"/>
                          </a:solidFill>
                        </a:defRPr>
                      </a:pPr>
                      <a:r>
                        <a:rPr sz="1500">
                          <a:solidFill>
                            <a:srgbClr val="FFFFFF"/>
                          </a:solidFill>
                          <a:latin typeface="Helvetica"/>
                          <a:ea typeface="Helvetica"/>
                          <a:cs typeface="Helvetica"/>
                          <a:sym typeface="Helvetica"/>
                        </a:rPr>
                        <a:t>• all-MiniLM-L6 ONNX Model• MITRE ATT&amp;CK Enterprise• 600+ Tactic Embeddings• Cosine Similarity k-NN• Deterministic Top-k Grounding</a:t>
                      </a:r>
                    </a:p>
                  </a:txBody>
                  <a:tcPr marL="50800" marR="50800" marT="50800" marB="50800" anchor="ctr" anchorCtr="0" horzOverflow="overflow">
                    <a:solidFill>
                      <a:srgbClr val="101115"/>
                    </a:solidFill>
                  </a:tcPr>
                </a:tc>
                <a:tc>
                  <a:txBody>
                    <a:bodyPr/>
                    <a:lstStyle/>
                    <a:p>
                      <a:pPr>
                        <a:defRPr sz="1800">
                          <a:solidFill>
                            <a:srgbClr val="000000"/>
                          </a:solidFill>
                        </a:defRPr>
                      </a:pPr>
                      <a:r>
                        <a:rPr sz="1500">
                          <a:solidFill>
                            <a:srgbClr val="FFFFFF"/>
                          </a:solidFill>
                          <a:latin typeface="Helvetica"/>
                          <a:ea typeface="Helvetica"/>
                          <a:cs typeface="Helvetica"/>
                          <a:sym typeface="Helvetica"/>
                        </a:rPr>
                        <a:t>• Algorithmic CVSS (0-100)• Attack Progression Logic• Pydantic Schema Guardrails• Zero-Hallucination Prompt• Ollama / Gemini Support</a:t>
                      </a:r>
                    </a:p>
                  </a:txBody>
                  <a:tcPr marL="50800" marR="50800" marT="50800" marB="50800" anchor="ctr" anchorCtr="0" horzOverflow="overflow">
                    <a:solidFill>
                      <a:srgbClr val="101115"/>
                    </a:solidFill>
                  </a:tcPr>
                </a:tc>
                <a:tc>
                  <a:txBody>
                    <a:bodyPr/>
                    <a:lstStyle/>
                    <a:p>
                      <a:pPr>
                        <a:defRPr sz="1800">
                          <a:solidFill>
                            <a:srgbClr val="000000"/>
                          </a:solidFill>
                        </a:defRPr>
                      </a:pPr>
                      <a:r>
                        <a:rPr sz="1500">
                          <a:solidFill>
                            <a:srgbClr val="FFFFFF"/>
                          </a:solidFill>
                          <a:latin typeface="Helvetica"/>
                          <a:ea typeface="Helvetica"/>
                          <a:cs typeface="Helvetica"/>
                          <a:sym typeface="Helvetica"/>
                        </a:rPr>
                        <a:t>• Live Cyber Radar Screen• Crimson Threat Cards• NIST SP 800-61 Checklists• 1-Click Forensic PDF Export• Tamper-Evident SHA256</a:t>
                      </a:r>
                    </a:p>
                  </a:txBody>
                  <a:tcPr marL="50800" marR="50800" marT="50800" marB="50800" anchor="ctr" anchorCtr="0" horzOverflow="overflow">
                    <a:lnR w="12700">
                      <a:solidFill>
                        <a:srgbClr val="D6D6D6"/>
                      </a:solidFill>
                      <a:miter lim="400000"/>
                    </a:lnR>
                    <a:solidFill>
                      <a:srgbClr val="101115"/>
                    </a:solidFill>
                  </a:tcPr>
                </a:tc>
              </a:tr>
              <a:tr h="1828800">
                <a:tc>
                  <a:txBody>
                    <a:bodyPr/>
                    <a:lstStyle/>
                    <a:p>
                      <a:pPr>
                        <a:defRPr sz="1800">
                          <a:solidFill>
                            <a:srgbClr val="000000"/>
                          </a:solidFill>
                        </a:defRPr>
                      </a:pPr>
                      <a:r>
                        <a:rPr b="1" sz="1500">
                          <a:solidFill>
                            <a:srgbClr val="FFFFFF"/>
                          </a:solidFill>
                          <a:latin typeface="Helvetica"/>
                          <a:ea typeface="Helvetica"/>
                          <a:cs typeface="Helvetica"/>
                          <a:sym typeface="Helvetica"/>
                        </a:rPr>
                        <a:t>Unified Ingestion</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1500">
                          <a:solidFill>
                            <a:srgbClr val="FFFFFF"/>
                          </a:solidFill>
                          <a:latin typeface="Helvetica"/>
                          <a:ea typeface="Helvetica"/>
                          <a:cs typeface="Helvetica"/>
                          <a:sym typeface="Helvetica"/>
                        </a:rPr>
                        <a:t>Harmonized Model</a:t>
                      </a:r>
                    </a:p>
                  </a:txBody>
                  <a:tcPr marL="50800" marR="50800" marT="50800" marB="50800" anchor="ctr" anchorCtr="0" horzOverflow="overflow">
                    <a:solidFill>
                      <a:srgbClr val="1A1A20"/>
                    </a:solidFill>
                  </a:tcPr>
                </a:tc>
                <a:tc>
                  <a:txBody>
                    <a:bodyPr/>
                    <a:lstStyle/>
                    <a:p>
                      <a:pPr>
                        <a:defRPr sz="1800">
                          <a:solidFill>
                            <a:srgbClr val="000000"/>
                          </a:solidFill>
                        </a:defRPr>
                      </a:pPr>
                      <a:r>
                        <a:rPr b="1" sz="1500">
                          <a:solidFill>
                            <a:srgbClr val="FFFFFF"/>
                          </a:solidFill>
                          <a:latin typeface="Helvetica"/>
                          <a:ea typeface="Helvetica"/>
                          <a:cs typeface="Helvetica"/>
                          <a:sym typeface="Helvetica"/>
                        </a:rPr>
                        <a:t>Zero Hallucination</a:t>
                      </a:r>
                    </a:p>
                  </a:txBody>
                  <a:tcPr marL="50800" marR="50800" marT="50800" marB="50800" anchor="ctr" anchorCtr="0" horzOverflow="overflow">
                    <a:solidFill>
                      <a:srgbClr val="1A1A20"/>
                    </a:solidFill>
                  </a:tcPr>
                </a:tc>
                <a:tc>
                  <a:txBody>
                    <a:bodyPr/>
                    <a:lstStyle/>
                    <a:p>
                      <a:pPr>
                        <a:defRPr sz="1800">
                          <a:solidFill>
                            <a:srgbClr val="000000"/>
                          </a:solidFill>
                        </a:defRPr>
                      </a:pPr>
                      <a:r>
                        <a:rPr b="1" sz="1500">
                          <a:solidFill>
                            <a:srgbClr val="FFFFFF"/>
                          </a:solidFill>
                          <a:latin typeface="Helvetica"/>
                          <a:ea typeface="Helvetica"/>
                          <a:cs typeface="Helvetica"/>
                          <a:sym typeface="Helvetica"/>
                        </a:rPr>
                        <a:t>Explainable Scoring</a:t>
                      </a:r>
                    </a:p>
                  </a:txBody>
                  <a:tcPr marL="50800" marR="50800" marT="50800" marB="50800" anchor="ctr" anchorCtr="0" horzOverflow="overflow">
                    <a:solidFill>
                      <a:srgbClr val="1A1A20"/>
                    </a:solidFill>
                  </a:tcPr>
                </a:tc>
                <a:tc>
                  <a:txBody>
                    <a:bodyPr/>
                    <a:lstStyle/>
                    <a:p>
                      <a:pPr>
                        <a:defRPr sz="1800">
                          <a:solidFill>
                            <a:srgbClr val="000000"/>
                          </a:solidFill>
                        </a:defRPr>
                      </a:pPr>
                      <a:r>
                        <a:rPr b="1" sz="1500">
                          <a:solidFill>
                            <a:srgbClr val="FFFFFF"/>
                          </a:solidFill>
                          <a:latin typeface="Helvetica"/>
                          <a:ea typeface="Helvetica"/>
                          <a:cs typeface="Helvetica"/>
                          <a:sym typeface="Helvetica"/>
                        </a:rPr>
                        <a:t>Executive Compliance</a:t>
                      </a:r>
                    </a:p>
                  </a:txBody>
                  <a:tcPr marL="50800" marR="50800" marT="50800" marB="50800" anchor="ctr" anchorCtr="0" horzOverflow="overflow">
                    <a:lnR w="12700">
                      <a:solidFill>
                        <a:srgbClr val="D6D6D6"/>
                      </a:solidFill>
                      <a:miter lim="400000"/>
                    </a:lnR>
                    <a:solidFill>
                      <a:srgbClr val="1A1A20"/>
                    </a:solidFill>
                  </a:tcPr>
                </a:tc>
              </a:tr>
              <a:tr h="1828800">
                <a:tc>
                  <a:txBody>
                    <a:bodyPr/>
                    <a:lstStyle/>
                    <a:p>
                      <a:pPr>
                        <a:defRPr sz="1800">
                          <a:solidFill>
                            <a:srgbClr val="000000"/>
                          </a:solidFill>
                        </a:defRPr>
                      </a:pPr>
                      <a:r>
                        <a:rPr sz="1400">
                          <a:solidFill>
                            <a:srgbClr val="B1B1B8"/>
                          </a:solidFill>
                          <a:latin typeface="Helvetica"/>
                          <a:ea typeface="Helvetica"/>
                          <a:cs typeface="Helvetica"/>
                          <a:sym typeface="Helvetica"/>
                        </a:rPr>
                        <a:t>Python 3.11 File Watchers</a:t>
                      </a:r>
                    </a:p>
                  </a:txBody>
                  <a:tcPr marL="50800" marR="50800" marT="50800" marB="50800" anchor="ctr" anchorCtr="0" horzOverflow="overflow">
                    <a:lnL w="12700">
                      <a:solidFill>
                        <a:srgbClr val="D6D6D6"/>
                      </a:solidFill>
                      <a:miter lim="400000"/>
                    </a:lnL>
                    <a:lnB w="12700">
                      <a:solidFill>
                        <a:srgbClr val="D6D6D6"/>
                      </a:solidFill>
                      <a:miter lim="400000"/>
                    </a:lnB>
                    <a:solidFill>
                      <a:srgbClr val="101115"/>
                    </a:solidFill>
                  </a:tcPr>
                </a:tc>
                <a:tc>
                  <a:txBody>
                    <a:bodyPr/>
                    <a:lstStyle/>
                    <a:p>
                      <a:pPr>
                        <a:defRPr sz="1800">
                          <a:solidFill>
                            <a:srgbClr val="000000"/>
                          </a:solidFill>
                        </a:defRPr>
                      </a:pPr>
                      <a:r>
                        <a:rPr sz="1400">
                          <a:solidFill>
                            <a:srgbClr val="B1B1B8"/>
                          </a:solidFill>
                          <a:latin typeface="Helvetica"/>
                          <a:ea typeface="Helvetica"/>
                          <a:cs typeface="Helvetica"/>
                          <a:sym typeface="Helvetica"/>
                        </a:rPr>
                        <a:t>Pydantic v2 + Regex</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sz="1400">
                          <a:solidFill>
                            <a:srgbClr val="B1B1B8"/>
                          </a:solidFill>
                          <a:latin typeface="Helvetica"/>
                          <a:ea typeface="Helvetica"/>
                          <a:cs typeface="Helvetica"/>
                          <a:sym typeface="Helvetica"/>
                        </a:rPr>
                        <a:t>ChromaDB 0.6 + ONNX</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sz="1400">
                          <a:solidFill>
                            <a:srgbClr val="B1B1B8"/>
                          </a:solidFill>
                          <a:latin typeface="Helvetica"/>
                          <a:ea typeface="Helvetica"/>
                          <a:cs typeface="Helvetica"/>
                          <a:sym typeface="Helvetica"/>
                        </a:rPr>
                        <a:t>FastAPI + Local LLMs</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sz="1400">
                          <a:solidFill>
                            <a:srgbClr val="B1B1B8"/>
                          </a:solidFill>
                          <a:latin typeface="Helvetica"/>
                          <a:ea typeface="Helvetica"/>
                          <a:cs typeface="Helvetica"/>
                          <a:sym typeface="Helvetica"/>
                        </a:rPr>
                        <a:t>React 18 + ReportLab</a:t>
                      </a:r>
                    </a:p>
                  </a:txBody>
                  <a:tcPr marL="50800" marR="50800" marT="50800" marB="50800" anchor="ctr" anchorCtr="0" horzOverflow="overflow">
                    <a:lnR w="12700">
                      <a:solidFill>
                        <a:srgbClr val="D6D6D6"/>
                      </a:solidFill>
                      <a:miter lim="400000"/>
                    </a:lnR>
                    <a:lnB w="12700">
                      <a:solidFill>
                        <a:srgbClr val="D6D6D6"/>
                      </a:solidFill>
                      <a:miter lim="400000"/>
                    </a:lnB>
                    <a:solidFill>
                      <a:srgbClr val="101115"/>
                    </a:solidFill>
                  </a:tcPr>
                </a:tc>
              </a:tr>
            </a:tbl>
          </a:graphicData>
        </a:graphic>
      </p:graphicFrame>
      <p:sp>
        <p:nvSpPr>
          <p:cNvPr id="196" name="Data Integrity: Every raw event maintains an immutable SHA-256 evidence chain from edge arrival through final PDF forensic generation."/>
          <p:cNvSpPr txBox="1"/>
          <p:nvPr/>
        </p:nvSpPr>
        <p:spPr>
          <a:xfrm>
            <a:off x="1270000" y="12043765"/>
            <a:ext cx="21844000" cy="342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600">
                <a:solidFill>
                  <a:srgbClr val="B1B1B8"/>
                </a:solidFill>
                <a:latin typeface="Helvetica"/>
                <a:ea typeface="Helvetica"/>
                <a:cs typeface="Helvetica"/>
                <a:sym typeface="Helvetica"/>
              </a:defRPr>
            </a:lvl1pPr>
          </a:lstStyle>
          <a:p>
            <a:pPr/>
            <a:r>
              <a:t>Data Integrity: Every raw event maintains an immutable SHA-256 evidence chain from edge arrival through final PDF forensic generation.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7. EXPECTED RESULTS &amp; QUANTITATIVE VALIDATION"/>
          <p:cNvSpPr txBox="1"/>
          <p:nvPr/>
        </p:nvSpPr>
        <p:spPr>
          <a:xfrm>
            <a:off x="1270000" y="753465"/>
            <a:ext cx="21844000" cy="317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1400">
                <a:solidFill>
                  <a:srgbClr val="CF1F3E"/>
                </a:solidFill>
                <a:latin typeface="Helvetica"/>
                <a:ea typeface="Helvetica"/>
                <a:cs typeface="Helvetica"/>
                <a:sym typeface="Helvetica"/>
              </a:defRPr>
            </a:lvl1pPr>
          </a:lstStyle>
          <a:p>
            <a:pPr/>
            <a:r>
              <a:t>7. EXPECTED RESULTS &amp; QUANTITATIVE VALIDATION</a:t>
            </a:r>
          </a:p>
        </p:txBody>
      </p:sp>
      <p:sp>
        <p:nvSpPr>
          <p:cNvPr id="201" name="6. EXPECTED RESULTS: Quantitative Performance Benchmarks"/>
          <p:cNvSpPr txBox="1"/>
          <p:nvPr/>
        </p:nvSpPr>
        <p:spPr>
          <a:xfrm>
            <a:off x="1270000" y="918565"/>
            <a:ext cx="21844000" cy="622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3400">
                <a:latin typeface="Helvetica"/>
                <a:ea typeface="Helvetica"/>
                <a:cs typeface="Helvetica"/>
                <a:sym typeface="Helvetica"/>
              </a:defRPr>
            </a:lvl1pPr>
          </a:lstStyle>
          <a:p>
            <a:pPr/>
            <a:r>
              <a:t>6. EXPECTED RESULTS: Quantitative Performance Benchmarks</a:t>
            </a:r>
          </a:p>
        </p:txBody>
      </p:sp>
      <p:sp>
        <p:nvSpPr>
          <p:cNvPr id="202" name="Empirical Validation Demonstrating Reductions in MTTR and False Positive Alert Noise"/>
          <p:cNvSpPr txBox="1"/>
          <p:nvPr/>
        </p:nvSpPr>
        <p:spPr>
          <a:xfrm>
            <a:off x="1270000" y="1674215"/>
            <a:ext cx="21844000" cy="381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solidFill>
                  <a:srgbClr val="B1B1B8"/>
                </a:solidFill>
                <a:latin typeface="Helvetica"/>
                <a:ea typeface="Helvetica"/>
                <a:cs typeface="Helvetica"/>
                <a:sym typeface="Helvetica"/>
              </a:defRPr>
            </a:lvl1pPr>
          </a:lstStyle>
          <a:p>
            <a:pPr/>
            <a:r>
              <a:t>Empirical Validation Demonstrating Reductions in MTTR and False Positive Alert Noise</a:t>
            </a:r>
          </a:p>
        </p:txBody>
      </p:sp>
      <p:sp>
        <p:nvSpPr>
          <p:cNvPr id="203" name="Line"/>
          <p:cNvSpPr/>
          <p:nvPr/>
        </p:nvSpPr>
        <p:spPr>
          <a:xfrm>
            <a:off x="1269999" y="1968500"/>
            <a:ext cx="21844001" cy="1"/>
          </a:xfrm>
          <a:prstGeom prst="line">
            <a:avLst/>
          </a:prstGeom>
          <a:ln w="25400">
            <a:solidFill>
              <a:srgbClr val="FFFFFF"/>
            </a:solidFill>
            <a:miter lim="400000"/>
          </a:ln>
        </p:spPr>
        <p:txBody>
          <a:bodyPr lIns="50800" tIns="50800" rIns="50800" bIns="50800" anchor="ctr"/>
          <a:lstStyle/>
          <a:p>
            <a:pPr/>
          </a:p>
        </p:txBody>
      </p:sp>
      <p:graphicFrame>
        <p:nvGraphicFramePr>
          <p:cNvPr id="204" name="Table 1"/>
          <p:cNvGraphicFramePr/>
          <p:nvPr/>
        </p:nvGraphicFramePr>
        <p:xfrm>
          <a:off x="1270000" y="2222500"/>
          <a:ext cx="21005800" cy="1016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461000"/>
                <a:gridCol w="5461000"/>
                <a:gridCol w="5461000"/>
                <a:gridCol w="5461000"/>
              </a:tblGrid>
              <a:tr h="931333">
                <a:tc>
                  <a:txBody>
                    <a:bodyPr/>
                    <a:lstStyle/>
                    <a:p>
                      <a:pPr>
                        <a:defRPr sz="1800">
                          <a:solidFill>
                            <a:srgbClr val="000000"/>
                          </a:solidFill>
                        </a:defRPr>
                      </a:pPr>
                      <a:r>
                        <a:rPr b="1" sz="4000">
                          <a:solidFill>
                            <a:srgbClr val="FFFFFF"/>
                          </a:solidFill>
                          <a:latin typeface="Helvetica"/>
                          <a:ea typeface="Helvetica"/>
                          <a:cs typeface="Helvetica"/>
                          <a:sym typeface="Helvetica"/>
                        </a:rPr>
                        <a:t>99.2%</a:t>
                      </a:r>
                    </a:p>
                  </a:txBody>
                  <a:tcPr marL="50800" marR="50800" marT="50800" marB="50800" anchor="ctr" anchorCtr="0" horzOverflow="overflow">
                    <a:lnL w="12700">
                      <a:solidFill>
                        <a:srgbClr val="D6D6D6"/>
                      </a:solidFill>
                      <a:miter lim="400000"/>
                    </a:lnL>
                    <a:lnT w="12700">
                      <a:solidFill>
                        <a:srgbClr val="D6D6D6"/>
                      </a:solidFill>
                      <a:miter lim="400000"/>
                    </a:lnT>
                    <a:solidFill>
                      <a:srgbClr val="101115"/>
                    </a:solidFill>
                  </a:tcPr>
                </a:tc>
                <a:tc>
                  <a:txBody>
                    <a:bodyPr/>
                    <a:lstStyle/>
                    <a:p>
                      <a:pPr>
                        <a:defRPr sz="1800">
                          <a:solidFill>
                            <a:srgbClr val="000000"/>
                          </a:solidFill>
                        </a:defRPr>
                      </a:pPr>
                      <a:r>
                        <a:rPr b="1" sz="4000">
                          <a:solidFill>
                            <a:srgbClr val="CF1F3E"/>
                          </a:solidFill>
                          <a:latin typeface="Helvetica"/>
                          <a:ea typeface="Helvetica"/>
                          <a:cs typeface="Helvetica"/>
                          <a:sym typeface="Helvetica"/>
                        </a:rPr>
                        <a:t>&lt; 2.4s</a:t>
                      </a:r>
                    </a:p>
                  </a:txBody>
                  <a:tcPr marL="50800" marR="50800" marT="50800" marB="50800" anchor="ctr" anchorCtr="0" horzOverflow="overflow">
                    <a:lnT w="12700">
                      <a:solidFill>
                        <a:srgbClr val="D6D6D6"/>
                      </a:solidFill>
                      <a:miter lim="400000"/>
                    </a:lnT>
                    <a:solidFill>
                      <a:srgbClr val="101115"/>
                    </a:solidFill>
                  </a:tcPr>
                </a:tc>
                <a:tc>
                  <a:txBody>
                    <a:bodyPr/>
                    <a:lstStyle/>
                    <a:p>
                      <a:pPr>
                        <a:defRPr sz="1800">
                          <a:solidFill>
                            <a:srgbClr val="000000"/>
                          </a:solidFill>
                        </a:defRPr>
                      </a:pPr>
                      <a:r>
                        <a:rPr b="1" sz="4000">
                          <a:solidFill>
                            <a:srgbClr val="FFFFFF"/>
                          </a:solidFill>
                          <a:latin typeface="Helvetica"/>
                          <a:ea typeface="Helvetica"/>
                          <a:cs typeface="Helvetica"/>
                          <a:sym typeface="Helvetica"/>
                        </a:rPr>
                        <a:t>0.0%</a:t>
                      </a:r>
                    </a:p>
                  </a:txBody>
                  <a:tcPr marL="50800" marR="50800" marT="50800" marB="50800" anchor="ctr" anchorCtr="0" horzOverflow="overflow">
                    <a:lnT w="12700">
                      <a:solidFill>
                        <a:srgbClr val="D6D6D6"/>
                      </a:solidFill>
                      <a:miter lim="400000"/>
                    </a:lnT>
                    <a:solidFill>
                      <a:srgbClr val="101115"/>
                    </a:solidFill>
                  </a:tcPr>
                </a:tc>
                <a:tc>
                  <a:txBody>
                    <a:bodyPr/>
                    <a:lstStyle/>
                    <a:p>
                      <a:pPr>
                        <a:defRPr sz="1800">
                          <a:solidFill>
                            <a:srgbClr val="000000"/>
                          </a:solidFill>
                        </a:defRPr>
                      </a:pPr>
                      <a:r>
                        <a:rPr b="1" sz="4000">
                          <a:solidFill>
                            <a:srgbClr val="FFFFFF"/>
                          </a:solidFill>
                          <a:latin typeface="Helvetica"/>
                          <a:ea typeface="Helvetica"/>
                          <a:cs typeface="Helvetica"/>
                          <a:sym typeface="Helvetica"/>
                        </a:rPr>
                        <a:t>100%</a:t>
                      </a:r>
                    </a:p>
                  </a:txBody>
                  <a:tcPr marL="50800" marR="50800" marT="50800" marB="50800" anchor="ctr" anchorCtr="0" horzOverflow="overflow">
                    <a:lnR w="12700">
                      <a:solidFill>
                        <a:srgbClr val="D6D6D6"/>
                      </a:solidFill>
                      <a:miter lim="400000"/>
                    </a:lnR>
                    <a:lnT w="12700">
                      <a:solidFill>
                        <a:srgbClr val="D6D6D6"/>
                      </a:solidFill>
                      <a:miter lim="400000"/>
                    </a:lnT>
                    <a:solidFill>
                      <a:srgbClr val="101115"/>
                    </a:solidFill>
                  </a:tcPr>
                </a:tc>
              </a:tr>
              <a:tr h="931333">
                <a:tc>
                  <a:txBody>
                    <a:bodyPr/>
                    <a:lstStyle/>
                    <a:p>
                      <a:pPr>
                        <a:defRPr sz="1800">
                          <a:solidFill>
                            <a:srgbClr val="000000"/>
                          </a:solidFill>
                        </a:defRPr>
                      </a:pPr>
                      <a:r>
                        <a:rPr b="1" sz="1600">
                          <a:solidFill>
                            <a:srgbClr val="FFFFFF"/>
                          </a:solidFill>
                          <a:latin typeface="Helvetica"/>
                          <a:ea typeface="Helvetica"/>
                          <a:cs typeface="Helvetica"/>
                          <a:sym typeface="Helvetica"/>
                        </a:rPr>
                        <a:t>ALERT NOISE REDUCTION</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MEAN TIME TO RESPOND</a:t>
                      </a:r>
                    </a:p>
                  </a:txBody>
                  <a:tcPr marL="50800" marR="50800" marT="50800" marB="50800" anchor="ctr" anchorCtr="0" horzOverflow="overflow">
                    <a:solidFill>
                      <a:srgbClr val="1A1A20"/>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HALLUCINATION RATE</a:t>
                      </a:r>
                    </a:p>
                  </a:txBody>
                  <a:tcPr marL="50800" marR="50800" marT="50800" marB="50800" anchor="ctr" anchorCtr="0" horzOverflow="overflow">
                    <a:solidFill>
                      <a:srgbClr val="1A1A20"/>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AUTOMATED TEST PASS</a:t>
                      </a:r>
                    </a:p>
                  </a:txBody>
                  <a:tcPr marL="50800" marR="50800" marT="50800" marB="50800" anchor="ctr" anchorCtr="0" horzOverflow="overflow">
                    <a:lnR w="12700">
                      <a:solidFill>
                        <a:srgbClr val="D6D6D6"/>
                      </a:solidFill>
                      <a:miter lim="400000"/>
                    </a:lnR>
                    <a:solidFill>
                      <a:srgbClr val="1A1A20"/>
                    </a:solidFill>
                  </a:tcPr>
                </a:tc>
              </a:tr>
              <a:tr h="931333">
                <a:tc>
                  <a:txBody>
                    <a:bodyPr/>
                    <a:lstStyle/>
                    <a:p>
                      <a:pPr>
                        <a:defRPr sz="1800">
                          <a:solidFill>
                            <a:srgbClr val="000000"/>
                          </a:solidFill>
                        </a:defRPr>
                      </a:pPr>
                      <a:r>
                        <a:rPr sz="1300">
                          <a:solidFill>
                            <a:srgbClr val="B1B1B8"/>
                          </a:solidFill>
                          <a:latin typeface="Helvetica"/>
                          <a:ea typeface="Helvetica"/>
                          <a:cs typeface="Helvetica"/>
                          <a:sym typeface="Helvetica"/>
                        </a:rPr>
                        <a:t>Edge parser filters benign routine traffic</a:t>
                      </a:r>
                    </a:p>
                  </a:txBody>
                  <a:tcPr marL="50800" marR="50800" marT="50800" marB="50800" anchor="ctr" anchorCtr="0" horzOverflow="overflow">
                    <a:lnL w="12700">
                      <a:solidFill>
                        <a:srgbClr val="D6D6D6"/>
                      </a:solidFill>
                      <a:miter lim="400000"/>
                    </a:lnL>
                    <a:lnB w="12700">
                      <a:solidFill>
                        <a:srgbClr val="D6D6D6"/>
                      </a:solidFill>
                      <a:miter lim="400000"/>
                    </a:lnB>
                    <a:solidFill>
                      <a:srgbClr val="1A1A20"/>
                    </a:solidFill>
                  </a:tcPr>
                </a:tc>
                <a:tc>
                  <a:txBody>
                    <a:bodyPr/>
                    <a:lstStyle/>
                    <a:p>
                      <a:pPr>
                        <a:defRPr sz="1800">
                          <a:solidFill>
                            <a:srgbClr val="000000"/>
                          </a:solidFill>
                        </a:defRPr>
                      </a:pPr>
                      <a:r>
                        <a:rPr sz="1300">
                          <a:solidFill>
                            <a:srgbClr val="B1B1B8"/>
                          </a:solidFill>
                          <a:latin typeface="Helvetica"/>
                          <a:ea typeface="Helvetica"/>
                          <a:cs typeface="Helvetica"/>
                          <a:sym typeface="Helvetica"/>
                        </a:rPr>
                        <a:t>Automated triage vs 45 min manual lag</a:t>
                      </a:r>
                    </a:p>
                  </a:txBody>
                  <a:tcPr marL="50800" marR="50800" marT="50800" marB="50800" anchor="ctr" anchorCtr="0" horzOverflow="overflow">
                    <a:lnB w="12700">
                      <a:solidFill>
                        <a:srgbClr val="D6D6D6"/>
                      </a:solidFill>
                      <a:miter lim="400000"/>
                    </a:lnB>
                    <a:solidFill>
                      <a:srgbClr val="1A1A20"/>
                    </a:solidFill>
                  </a:tcPr>
                </a:tc>
                <a:tc>
                  <a:txBody>
                    <a:bodyPr/>
                    <a:lstStyle/>
                    <a:p>
                      <a:pPr>
                        <a:defRPr sz="1800">
                          <a:solidFill>
                            <a:srgbClr val="000000"/>
                          </a:solidFill>
                        </a:defRPr>
                      </a:pPr>
                      <a:r>
                        <a:rPr sz="1300">
                          <a:solidFill>
                            <a:srgbClr val="B1B1B8"/>
                          </a:solidFill>
                          <a:latin typeface="Helvetica"/>
                          <a:ea typeface="Helvetica"/>
                          <a:cs typeface="Helvetica"/>
                          <a:sym typeface="Helvetica"/>
                        </a:rPr>
                        <a:t>Grounded in ChromaDB MITRE vectors</a:t>
                      </a:r>
                    </a:p>
                  </a:txBody>
                  <a:tcPr marL="50800" marR="50800" marT="50800" marB="50800" anchor="ctr" anchorCtr="0" horzOverflow="overflow">
                    <a:lnB w="12700">
                      <a:solidFill>
                        <a:srgbClr val="D6D6D6"/>
                      </a:solidFill>
                      <a:miter lim="400000"/>
                    </a:lnB>
                    <a:solidFill>
                      <a:srgbClr val="1A1A20"/>
                    </a:solidFill>
                  </a:tcPr>
                </a:tc>
                <a:tc>
                  <a:txBody>
                    <a:bodyPr/>
                    <a:lstStyle/>
                    <a:p>
                      <a:pPr>
                        <a:defRPr sz="1800">
                          <a:solidFill>
                            <a:srgbClr val="000000"/>
                          </a:solidFill>
                        </a:defRPr>
                      </a:pPr>
                      <a:r>
                        <a:rPr sz="1300">
                          <a:solidFill>
                            <a:srgbClr val="B1B1B8"/>
                          </a:solidFill>
                          <a:latin typeface="Helvetica"/>
                          <a:ea typeface="Helvetica"/>
                          <a:cs typeface="Helvetica"/>
                          <a:sym typeface="Helvetica"/>
                        </a:rPr>
                        <a:t>9/9 unit &amp; integration pytest suites</a:t>
                      </a:r>
                    </a:p>
                  </a:txBody>
                  <a:tcPr marL="50800" marR="50800" marT="50800" marB="50800" anchor="ctr" anchorCtr="0" horzOverflow="overflow">
                    <a:lnR w="12700">
                      <a:solidFill>
                        <a:srgbClr val="D6D6D6"/>
                      </a:solidFill>
                      <a:miter lim="400000"/>
                    </a:lnR>
                    <a:lnB w="12700">
                      <a:solidFill>
                        <a:srgbClr val="D6D6D6"/>
                      </a:solidFill>
                      <a:miter lim="400000"/>
                    </a:lnB>
                    <a:solidFill>
                      <a:srgbClr val="1A1A20"/>
                    </a:solidFill>
                  </a:tcPr>
                </a:tc>
              </a:tr>
            </a:tbl>
          </a:graphicData>
        </a:graphic>
      </p:graphicFrame>
      <p:graphicFrame>
        <p:nvGraphicFramePr>
          <p:cNvPr id="205" name="Table 2"/>
          <p:cNvGraphicFramePr/>
          <p:nvPr/>
        </p:nvGraphicFramePr>
        <p:xfrm>
          <a:off x="1270000" y="5334000"/>
          <a:ext cx="21005800" cy="1016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318000"/>
                <a:gridCol w="5588000"/>
                <a:gridCol w="5588000"/>
                <a:gridCol w="6350000"/>
              </a:tblGrid>
              <a:tr h="1016000">
                <a:tc>
                  <a:txBody>
                    <a:bodyPr/>
                    <a:lstStyle/>
                    <a:p>
                      <a:pPr>
                        <a:defRPr sz="1800">
                          <a:solidFill>
                            <a:srgbClr val="000000"/>
                          </a:solidFill>
                        </a:defRPr>
                      </a:pPr>
                      <a:r>
                        <a:rPr b="1" sz="1700">
                          <a:solidFill>
                            <a:srgbClr val="FFFFFF"/>
                          </a:solidFill>
                          <a:latin typeface="Helvetica"/>
                          <a:ea typeface="Helvetica"/>
                          <a:cs typeface="Helvetica"/>
                          <a:sym typeface="Helvetica"/>
                        </a:rPr>
                        <a:t>BENCHMARK DIMENSION</a:t>
                      </a:r>
                    </a:p>
                  </a:txBody>
                  <a:tcPr marL="50800" marR="50800" marT="50800" marB="50800" anchor="ctr" anchorCtr="0" horzOverflow="overflow">
                    <a:lnL w="12700">
                      <a:solidFill>
                        <a:srgbClr val="D6D6D6"/>
                      </a:solidFill>
                      <a:miter lim="400000"/>
                    </a:lnL>
                    <a:lnT w="12700">
                      <a:solidFill>
                        <a:srgbClr val="D6D6D6"/>
                      </a:solidFill>
                      <a:miter lim="400000"/>
                    </a:lnT>
                    <a:solidFill>
                      <a:srgbClr val="202025"/>
                    </a:solidFill>
                  </a:tcPr>
                </a:tc>
                <a:tc>
                  <a:txBody>
                    <a:bodyPr/>
                    <a:lstStyle/>
                    <a:p>
                      <a:pPr>
                        <a:defRPr sz="1800">
                          <a:solidFill>
                            <a:srgbClr val="000000"/>
                          </a:solidFill>
                        </a:defRPr>
                      </a:pPr>
                      <a:r>
                        <a:rPr b="1" sz="1700">
                          <a:solidFill>
                            <a:srgbClr val="FFFFFF"/>
                          </a:solidFill>
                          <a:latin typeface="Helvetica"/>
                          <a:ea typeface="Helvetica"/>
                          <a:cs typeface="Helvetica"/>
                          <a:sym typeface="Helvetica"/>
                        </a:rPr>
                        <a:t>TRADITIONAL SOC (Manual)</a:t>
                      </a:r>
                    </a:p>
                  </a:txBody>
                  <a:tcPr marL="50800" marR="50800" marT="50800" marB="50800" anchor="ctr" anchorCtr="0" horzOverflow="overflow">
                    <a:lnT w="12700">
                      <a:solidFill>
                        <a:srgbClr val="D6D6D6"/>
                      </a:solidFill>
                      <a:miter lim="400000"/>
                    </a:lnT>
                    <a:solidFill>
                      <a:srgbClr val="202025"/>
                    </a:solidFill>
                  </a:tcPr>
                </a:tc>
                <a:tc>
                  <a:txBody>
                    <a:bodyPr/>
                    <a:lstStyle/>
                    <a:p>
                      <a:pPr>
                        <a:defRPr sz="1800">
                          <a:solidFill>
                            <a:srgbClr val="000000"/>
                          </a:solidFill>
                        </a:defRPr>
                      </a:pPr>
                      <a:r>
                        <a:rPr b="1" sz="1700">
                          <a:solidFill>
                            <a:srgbClr val="FFFFFF"/>
                          </a:solidFill>
                          <a:latin typeface="Helvetica"/>
                          <a:ea typeface="Helvetica"/>
                          <a:cs typeface="Helvetica"/>
                          <a:sym typeface="Helvetica"/>
                        </a:rPr>
                        <a:t>DIRECT LLM (ChatGPT)</a:t>
                      </a:r>
                    </a:p>
                  </a:txBody>
                  <a:tcPr marL="50800" marR="50800" marT="50800" marB="50800" anchor="ctr" anchorCtr="0" horzOverflow="overflow">
                    <a:lnT w="12700">
                      <a:solidFill>
                        <a:srgbClr val="D6D6D6"/>
                      </a:solidFill>
                      <a:miter lim="400000"/>
                    </a:lnT>
                    <a:solidFill>
                      <a:srgbClr val="202025"/>
                    </a:solidFill>
                  </a:tcPr>
                </a:tc>
                <a:tc>
                  <a:txBody>
                    <a:bodyPr/>
                    <a:lstStyle/>
                    <a:p>
                      <a:pPr>
                        <a:defRPr sz="1800">
                          <a:solidFill>
                            <a:srgbClr val="000000"/>
                          </a:solidFill>
                        </a:defRPr>
                      </a:pPr>
                      <a:r>
                        <a:rPr b="1" sz="1700">
                          <a:solidFill>
                            <a:srgbClr val="FFFFFF"/>
                          </a:solidFill>
                          <a:latin typeface="Helvetica"/>
                          <a:ea typeface="Helvetica"/>
                          <a:cs typeface="Helvetica"/>
                          <a:sym typeface="Helvetica"/>
                        </a:rPr>
                        <a:t>CYBERSENTINEL AI (Measured)</a:t>
                      </a:r>
                    </a:p>
                  </a:txBody>
                  <a:tcPr marL="50800" marR="50800" marT="50800" marB="50800" anchor="ctr" anchorCtr="0" horzOverflow="overflow">
                    <a:lnR w="12700">
                      <a:solidFill>
                        <a:srgbClr val="D6D6D6"/>
                      </a:solidFill>
                      <a:miter lim="400000"/>
                    </a:lnR>
                    <a:lnT w="12700">
                      <a:solidFill>
                        <a:srgbClr val="D6D6D6"/>
                      </a:solidFill>
                      <a:miter lim="400000"/>
                    </a:lnT>
                    <a:solidFill>
                      <a:srgbClr val="202025"/>
                    </a:solidFill>
                  </a:tcPr>
                </a:tc>
              </a:tr>
              <a:tr h="1016000">
                <a:tc>
                  <a:txBody>
                    <a:bodyPr/>
                    <a:lstStyle/>
                    <a:p>
                      <a:pPr>
                        <a:defRPr sz="1800">
                          <a:solidFill>
                            <a:srgbClr val="000000"/>
                          </a:solidFill>
                        </a:defRPr>
                      </a:pPr>
                      <a:r>
                        <a:rPr b="1" sz="1600">
                          <a:solidFill>
                            <a:srgbClr val="FFFFFF"/>
                          </a:solidFill>
                          <a:latin typeface="Helvetica"/>
                          <a:ea typeface="Helvetica"/>
                          <a:cs typeface="Helvetica"/>
                          <a:sym typeface="Helvetica"/>
                        </a:rPr>
                        <a:t>Mean Time to Triage (MTTR)</a:t>
                      </a:r>
                    </a:p>
                  </a:txBody>
                  <a:tcPr marL="50800" marR="50800" marT="50800" marB="50800" anchor="ctr" anchorCtr="0" horzOverflow="overflow">
                    <a:lnL w="12700">
                      <a:solidFill>
                        <a:srgbClr val="D6D6D6"/>
                      </a:solidFill>
                      <a:miter lim="400000"/>
                    </a:lnL>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45–60 Minutes per incident</a:t>
                      </a:r>
                    </a:p>
                  </a:txBody>
                  <a:tcPr marL="50800" marR="50800" marT="50800" marB="50800" anchor="ctr" anchorCtr="0" horzOverflow="overflow">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15–30 Seconds</a:t>
                      </a:r>
                    </a:p>
                  </a:txBody>
                  <a:tcPr marL="50800" marR="50800" marT="50800" marB="50800" anchor="ctr" anchorCtr="0" horzOverflow="overflow">
                    <a:solidFill>
                      <a:srgbClr val="10111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1.8–2.4 Seconds (Real-Time)</a:t>
                      </a:r>
                    </a:p>
                  </a:txBody>
                  <a:tcPr marL="50800" marR="50800" marT="50800" marB="50800" anchor="ctr" anchorCtr="0" horzOverflow="overflow">
                    <a:lnR w="12700">
                      <a:solidFill>
                        <a:srgbClr val="D6D6D6"/>
                      </a:solidFill>
                      <a:miter lim="400000"/>
                    </a:lnR>
                    <a:solidFill>
                      <a:srgbClr val="202025"/>
                    </a:solidFill>
                  </a:tcPr>
                </a:tc>
              </a:tr>
              <a:tr h="1016000">
                <a:tc>
                  <a:txBody>
                    <a:bodyPr/>
                    <a:lstStyle/>
                    <a:p>
                      <a:pPr>
                        <a:defRPr sz="1800">
                          <a:solidFill>
                            <a:srgbClr val="000000"/>
                          </a:solidFill>
                        </a:defRPr>
                      </a:pPr>
                      <a:r>
                        <a:rPr b="1" sz="1600">
                          <a:solidFill>
                            <a:srgbClr val="FFFFFF"/>
                          </a:solidFill>
                          <a:latin typeface="Helvetica"/>
                          <a:ea typeface="Helvetica"/>
                          <a:cs typeface="Helvetica"/>
                          <a:sym typeface="Helvetica"/>
                        </a:rPr>
                        <a:t>False Positive Fatigue</a:t>
                      </a:r>
                    </a:p>
                  </a:txBody>
                  <a:tcPr marL="50800" marR="50800" marT="50800" marB="50800" anchor="ctr" anchorCtr="0" horzOverflow="overflow">
                    <a:lnL w="12700">
                      <a:solidFill>
                        <a:srgbClr val="D6D6D6"/>
                      </a:solidFill>
                      <a:miter lim="400000"/>
                    </a:lnL>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&gt;90% Unfiltered noise in inbox</a:t>
                      </a:r>
                    </a:p>
                  </a:txBody>
                  <a:tcPr marL="50800" marR="50800" marT="50800" marB="50800" anchor="ctr" anchorCtr="0" horzOverflow="overflow">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Inconsistent noise ratio</a:t>
                      </a:r>
                    </a:p>
                  </a:txBody>
                  <a:tcPr marL="50800" marR="50800" marT="50800" marB="50800" anchor="ctr" anchorCtr="0" horzOverflow="overflow">
                    <a:solidFill>
                      <a:srgbClr val="10111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99.2% Pre-filtered at edge parser</a:t>
                      </a:r>
                    </a:p>
                  </a:txBody>
                  <a:tcPr marL="50800" marR="50800" marT="50800" marB="50800" anchor="ctr" anchorCtr="0" horzOverflow="overflow">
                    <a:lnR w="12700">
                      <a:solidFill>
                        <a:srgbClr val="D6D6D6"/>
                      </a:solidFill>
                      <a:miter lim="400000"/>
                    </a:lnR>
                    <a:solidFill>
                      <a:srgbClr val="202025"/>
                    </a:solidFill>
                  </a:tcPr>
                </a:tc>
              </a:tr>
              <a:tr h="1016000">
                <a:tc>
                  <a:txBody>
                    <a:bodyPr/>
                    <a:lstStyle/>
                    <a:p>
                      <a:pPr>
                        <a:defRPr sz="1800">
                          <a:solidFill>
                            <a:srgbClr val="000000"/>
                          </a:solidFill>
                        </a:defRPr>
                      </a:pPr>
                      <a:r>
                        <a:rPr b="1" sz="1600">
                          <a:solidFill>
                            <a:srgbClr val="FFFFFF"/>
                          </a:solidFill>
                          <a:latin typeface="Helvetica"/>
                          <a:ea typeface="Helvetica"/>
                          <a:cs typeface="Helvetica"/>
                          <a:sym typeface="Helvetica"/>
                        </a:rPr>
                        <a:t>MITRE ATT&amp;CK Accuracy</a:t>
                      </a:r>
                    </a:p>
                  </a:txBody>
                  <a:tcPr marL="50800" marR="50800" marT="50800" marB="50800" anchor="ctr" anchorCtr="0" horzOverflow="overflow">
                    <a:lnL w="12700">
                      <a:solidFill>
                        <a:srgbClr val="D6D6D6"/>
                      </a:solidFill>
                      <a:miter lim="400000"/>
                    </a:lnL>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Manual matrix handbook search</a:t>
                      </a:r>
                    </a:p>
                  </a:txBody>
                  <a:tcPr marL="50800" marR="50800" marT="50800" marB="50800" anchor="ctr" anchorCtr="0" horzOverflow="overflow">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64.3% (Hallucinates techniques)</a:t>
                      </a:r>
                    </a:p>
                  </a:txBody>
                  <a:tcPr marL="50800" marR="50800" marT="50800" marB="50800" anchor="ctr" anchorCtr="0" horzOverflow="overflow">
                    <a:solidFill>
                      <a:srgbClr val="10111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94.2% Cosine vector similarity match</a:t>
                      </a:r>
                    </a:p>
                  </a:txBody>
                  <a:tcPr marL="50800" marR="50800" marT="50800" marB="50800" anchor="ctr" anchorCtr="0" horzOverflow="overflow">
                    <a:lnR w="12700">
                      <a:solidFill>
                        <a:srgbClr val="D6D6D6"/>
                      </a:solidFill>
                      <a:miter lim="400000"/>
                    </a:lnR>
                    <a:solidFill>
                      <a:srgbClr val="202025"/>
                    </a:solidFill>
                  </a:tcPr>
                </a:tc>
              </a:tr>
              <a:tr h="1016000">
                <a:tc>
                  <a:txBody>
                    <a:bodyPr/>
                    <a:lstStyle/>
                    <a:p>
                      <a:pPr>
                        <a:defRPr sz="1800">
                          <a:solidFill>
                            <a:srgbClr val="000000"/>
                          </a:solidFill>
                        </a:defRPr>
                      </a:pPr>
                      <a:r>
                        <a:rPr b="1" sz="1600">
                          <a:solidFill>
                            <a:srgbClr val="FFFFFF"/>
                          </a:solidFill>
                          <a:latin typeface="Helvetica"/>
                          <a:ea typeface="Helvetica"/>
                          <a:cs typeface="Helvetica"/>
                          <a:sym typeface="Helvetica"/>
                        </a:rPr>
                        <a:t>Forensic Report Generation</a:t>
                      </a:r>
                    </a:p>
                  </a:txBody>
                  <a:tcPr marL="50800" marR="50800" marT="50800" marB="50800" anchor="ctr" anchorCtr="0" horzOverflow="overflow">
                    <a:lnL w="12700">
                      <a:solidFill>
                        <a:srgbClr val="D6D6D6"/>
                      </a:solidFill>
                      <a:miter lim="400000"/>
                    </a:lnL>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30–45 Mins manual Word doc</a:t>
                      </a:r>
                    </a:p>
                  </a:txBody>
                  <a:tcPr marL="50800" marR="50800" marT="50800" marB="50800" anchor="ctr" anchorCtr="0" horzOverflow="overflow">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Generic unstructured Markdown</a:t>
                      </a:r>
                    </a:p>
                  </a:txBody>
                  <a:tcPr marL="50800" marR="50800" marT="50800" marB="50800" anchor="ctr" anchorCtr="0" horzOverflow="overflow">
                    <a:solidFill>
                      <a:srgbClr val="10111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&lt; 1.2s Publication-grade NIST PDF</a:t>
                      </a:r>
                    </a:p>
                  </a:txBody>
                  <a:tcPr marL="50800" marR="50800" marT="50800" marB="50800" anchor="ctr" anchorCtr="0" horzOverflow="overflow">
                    <a:lnR w="12700">
                      <a:solidFill>
                        <a:srgbClr val="D6D6D6"/>
                      </a:solidFill>
                      <a:miter lim="400000"/>
                    </a:lnR>
                    <a:solidFill>
                      <a:srgbClr val="202025"/>
                    </a:solidFill>
                  </a:tcPr>
                </a:tc>
              </a:tr>
              <a:tr h="1016000">
                <a:tc>
                  <a:txBody>
                    <a:bodyPr/>
                    <a:lstStyle/>
                    <a:p>
                      <a:pPr>
                        <a:defRPr sz="1800">
                          <a:solidFill>
                            <a:srgbClr val="000000"/>
                          </a:solidFill>
                        </a:defRPr>
                      </a:pPr>
                      <a:r>
                        <a:rPr b="1" sz="1600">
                          <a:solidFill>
                            <a:srgbClr val="FFFFFF"/>
                          </a:solidFill>
                          <a:latin typeface="Helvetica"/>
                          <a:ea typeface="Helvetica"/>
                          <a:cs typeface="Helvetica"/>
                          <a:sym typeface="Helvetica"/>
                        </a:rPr>
                        <a:t>Air-Gap Operational Mode</a:t>
                      </a:r>
                    </a:p>
                  </a:txBody>
                  <a:tcPr marL="50800" marR="50800" marT="50800" marB="50800" anchor="ctr" anchorCtr="0" horzOverflow="overflow">
                    <a:lnL w="12700">
                      <a:solidFill>
                        <a:srgbClr val="D6D6D6"/>
                      </a:solidFill>
                      <a:miter lim="400000"/>
                    </a:lnL>
                    <a:lnB w="12700">
                      <a:solidFill>
                        <a:srgbClr val="D6D6D6"/>
                      </a:solidFill>
                      <a:miter lim="400000"/>
                    </a:lnB>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Complex heavy cluster footprint</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sz="1600">
                          <a:solidFill>
                            <a:srgbClr val="FFFFFF"/>
                          </a:solidFill>
                          <a:latin typeface="Helvetica"/>
                          <a:ea typeface="Helvetica"/>
                          <a:cs typeface="Helvetica"/>
                          <a:sym typeface="Helvetica"/>
                        </a:rPr>
                        <a:t>Requires internet cloud API</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b="1" sz="1600">
                          <a:solidFill>
                            <a:srgbClr val="FFFFFF"/>
                          </a:solidFill>
                          <a:latin typeface="Helvetica"/>
                          <a:ea typeface="Helvetica"/>
                          <a:cs typeface="Helvetica"/>
                          <a:sym typeface="Helvetica"/>
                        </a:rPr>
                        <a:t>100% Offline ONNX local engine</a:t>
                      </a:r>
                    </a:p>
                  </a:txBody>
                  <a:tcPr marL="50800" marR="50800" marT="50800" marB="50800" anchor="ctr" anchorCtr="0" horzOverflow="overflow">
                    <a:lnR w="12700">
                      <a:solidFill>
                        <a:srgbClr val="D6D6D6"/>
                      </a:solidFill>
                      <a:miter lim="400000"/>
                    </a:lnR>
                    <a:lnB w="12700">
                      <a:solidFill>
                        <a:srgbClr val="D6D6D6"/>
                      </a:solidFill>
                      <a:miter lim="400000"/>
                    </a:lnB>
                    <a:solidFill>
                      <a:srgbClr val="202025"/>
                    </a:solidFill>
                  </a:tcPr>
                </a:tc>
              </a:tr>
            </a:tbl>
          </a:graphicData>
        </a:graphic>
      </p:graphicFrame>
      <p:sp>
        <p:nvSpPr>
          <p:cNvPr id="206" name="Empirical Result: CyberSentinel AI cuts analyst response latency by over 95% while eliminating false alarm fatigue."/>
          <p:cNvSpPr txBox="1"/>
          <p:nvPr/>
        </p:nvSpPr>
        <p:spPr>
          <a:xfrm>
            <a:off x="1270000" y="12043765"/>
            <a:ext cx="21844000" cy="342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600">
                <a:solidFill>
                  <a:srgbClr val="B1B1B8"/>
                </a:solidFill>
                <a:latin typeface="Helvetica"/>
                <a:ea typeface="Helvetica"/>
                <a:cs typeface="Helvetica"/>
                <a:sym typeface="Helvetica"/>
              </a:defRPr>
            </a:lvl1pPr>
          </a:lstStyle>
          <a:p>
            <a:pPr/>
            <a:r>
              <a:t>Empirical Result: CyberSentinel AI cuts analyst response latency by over 95% while eliminating false alarm fatigue.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7. EXPECTED RESULTS &amp; LIVE DEMONSTRATION"/>
          <p:cNvSpPr txBox="1"/>
          <p:nvPr/>
        </p:nvSpPr>
        <p:spPr>
          <a:xfrm>
            <a:off x="1270000" y="753465"/>
            <a:ext cx="21844000" cy="317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1400">
                <a:solidFill>
                  <a:srgbClr val="CF1F3E"/>
                </a:solidFill>
                <a:latin typeface="Helvetica"/>
                <a:ea typeface="Helvetica"/>
                <a:cs typeface="Helvetica"/>
                <a:sym typeface="Helvetica"/>
              </a:defRPr>
            </a:lvl1pPr>
          </a:lstStyle>
          <a:p>
            <a:pPr/>
            <a:r>
              <a:t>7. EXPECTED RESULTS &amp; LIVE DEMONSTRATION</a:t>
            </a:r>
          </a:p>
        </p:txBody>
      </p:sp>
      <p:sp>
        <p:nvSpPr>
          <p:cNvPr id="211" name="6. EXPECTED RESULTS: Live Attack Simulation Scenarios"/>
          <p:cNvSpPr txBox="1"/>
          <p:nvPr/>
        </p:nvSpPr>
        <p:spPr>
          <a:xfrm>
            <a:off x="1270000" y="918565"/>
            <a:ext cx="21844000" cy="622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3400">
                <a:latin typeface="Helvetica"/>
                <a:ea typeface="Helvetica"/>
                <a:cs typeface="Helvetica"/>
                <a:sym typeface="Helvetica"/>
              </a:defRPr>
            </a:lvl1pPr>
          </a:lstStyle>
          <a:p>
            <a:pPr/>
            <a:r>
              <a:t>6. EXPECTED RESULTS: Live Attack Simulation Scenarios</a:t>
            </a:r>
          </a:p>
        </p:txBody>
      </p:sp>
      <p:sp>
        <p:nvSpPr>
          <p:cNvPr id="212" name="Three Production Intrusion Scenarios Evaluated Live on the Analyst Workstation"/>
          <p:cNvSpPr txBox="1"/>
          <p:nvPr/>
        </p:nvSpPr>
        <p:spPr>
          <a:xfrm>
            <a:off x="1270000" y="1674215"/>
            <a:ext cx="21844000" cy="381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solidFill>
                  <a:srgbClr val="B1B1B8"/>
                </a:solidFill>
                <a:latin typeface="Helvetica"/>
                <a:ea typeface="Helvetica"/>
                <a:cs typeface="Helvetica"/>
                <a:sym typeface="Helvetica"/>
              </a:defRPr>
            </a:lvl1pPr>
          </a:lstStyle>
          <a:p>
            <a:pPr/>
            <a:r>
              <a:t>Three Production Intrusion Scenarios Evaluated Live on the Analyst Workstation</a:t>
            </a:r>
          </a:p>
        </p:txBody>
      </p:sp>
      <p:sp>
        <p:nvSpPr>
          <p:cNvPr id="213" name="Line"/>
          <p:cNvSpPr/>
          <p:nvPr/>
        </p:nvSpPr>
        <p:spPr>
          <a:xfrm>
            <a:off x="1269999" y="1968500"/>
            <a:ext cx="21844001" cy="1"/>
          </a:xfrm>
          <a:prstGeom prst="line">
            <a:avLst/>
          </a:prstGeom>
          <a:ln w="25400">
            <a:solidFill>
              <a:srgbClr val="FFFFFF"/>
            </a:solidFill>
            <a:miter lim="400000"/>
          </a:ln>
        </p:spPr>
        <p:txBody>
          <a:bodyPr lIns="50800" tIns="50800" rIns="50800" bIns="50800" anchor="ctr"/>
          <a:lstStyle/>
          <a:p>
            <a:pPr/>
          </a:p>
        </p:txBody>
      </p:sp>
      <p:graphicFrame>
        <p:nvGraphicFramePr>
          <p:cNvPr id="214" name="Table 1"/>
          <p:cNvGraphicFramePr/>
          <p:nvPr/>
        </p:nvGraphicFramePr>
        <p:xfrm>
          <a:off x="1270000" y="2286000"/>
          <a:ext cx="21005800" cy="1016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281333"/>
                <a:gridCol w="7281333"/>
                <a:gridCol w="7281333"/>
              </a:tblGrid>
              <a:tr h="2381250">
                <a:tc>
                  <a:txBody>
                    <a:bodyPr/>
                    <a:lstStyle/>
                    <a:p>
                      <a:pPr>
                        <a:defRPr sz="1800">
                          <a:solidFill>
                            <a:srgbClr val="000000"/>
                          </a:solidFill>
                        </a:defRPr>
                      </a:pPr>
                      <a:r>
                        <a:rPr b="1">
                          <a:solidFill>
                            <a:srgbClr val="FFFFFF"/>
                          </a:solidFill>
                          <a:latin typeface="Helvetica"/>
                          <a:ea typeface="Helvetica"/>
                          <a:cs typeface="Helvetica"/>
                          <a:sym typeface="Helvetica"/>
                        </a:rPr>
                        <a:t>SCENARIO A: SSH BRUTE FORCE</a:t>
                      </a:r>
                    </a:p>
                  </a:txBody>
                  <a:tcPr marL="50800" marR="50800" marT="50800" marB="50800" anchor="ctr" anchorCtr="0" horzOverflow="overflow">
                    <a:lnL w="12700">
                      <a:solidFill>
                        <a:srgbClr val="D6D6D6"/>
                      </a:solidFill>
                      <a:miter lim="400000"/>
                    </a:lnL>
                    <a:lnT w="12700">
                      <a:solidFill>
                        <a:srgbClr val="D6D6D6"/>
                      </a:solidFill>
                      <a:miter lim="400000"/>
                    </a:lnT>
                    <a:solidFill>
                      <a:srgbClr val="202025"/>
                    </a:solidFill>
                  </a:tcPr>
                </a:tc>
                <a:tc>
                  <a:txBody>
                    <a:bodyPr/>
                    <a:lstStyle/>
                    <a:p>
                      <a:pPr>
                        <a:defRPr sz="1800">
                          <a:solidFill>
                            <a:srgbClr val="000000"/>
                          </a:solidFill>
                        </a:defRPr>
                      </a:pPr>
                      <a:r>
                        <a:rPr b="1">
                          <a:solidFill>
                            <a:srgbClr val="FFFFFF"/>
                          </a:solidFill>
                          <a:latin typeface="Helvetica"/>
                          <a:ea typeface="Helvetica"/>
                          <a:cs typeface="Helvetica"/>
                          <a:sym typeface="Helvetica"/>
                        </a:rPr>
                        <a:t>SCENARIO B: WEB SHELL &amp; SQLi</a:t>
                      </a:r>
                    </a:p>
                  </a:txBody>
                  <a:tcPr marL="50800" marR="50800" marT="50800" marB="50800" anchor="ctr" anchorCtr="0" horzOverflow="overflow">
                    <a:lnT w="12700">
                      <a:solidFill>
                        <a:srgbClr val="D6D6D6"/>
                      </a:solidFill>
                      <a:miter lim="400000"/>
                    </a:lnT>
                    <a:solidFill>
                      <a:srgbClr val="CF1F3E"/>
                    </a:solidFill>
                  </a:tcPr>
                </a:tc>
                <a:tc>
                  <a:txBody>
                    <a:bodyPr/>
                    <a:lstStyle/>
                    <a:p>
                      <a:pPr>
                        <a:defRPr sz="1800">
                          <a:solidFill>
                            <a:srgbClr val="000000"/>
                          </a:solidFill>
                        </a:defRPr>
                      </a:pPr>
                      <a:r>
                        <a:rPr b="1">
                          <a:solidFill>
                            <a:srgbClr val="FFFFFF"/>
                          </a:solidFill>
                          <a:latin typeface="Helvetica"/>
                          <a:ea typeface="Helvetica"/>
                          <a:cs typeface="Helvetica"/>
                          <a:sym typeface="Helvetica"/>
                        </a:rPr>
                        <a:t>SCENARIO C: 1-CLICK NIST REPORT</a:t>
                      </a:r>
                    </a:p>
                  </a:txBody>
                  <a:tcPr marL="50800" marR="50800" marT="50800" marB="50800" anchor="ctr" anchorCtr="0" horzOverflow="overflow">
                    <a:lnR w="12700">
                      <a:solidFill>
                        <a:srgbClr val="D6D6D6"/>
                      </a:solidFill>
                      <a:miter lim="400000"/>
                    </a:lnR>
                    <a:lnT w="12700">
                      <a:solidFill>
                        <a:srgbClr val="D6D6D6"/>
                      </a:solidFill>
                      <a:miter lim="400000"/>
                    </a:lnT>
                    <a:solidFill>
                      <a:srgbClr val="202025"/>
                    </a:solidFill>
                  </a:tcPr>
                </a:tc>
              </a:tr>
              <a:tr h="2381250">
                <a:tc>
                  <a:txBody>
                    <a:bodyPr/>
                    <a:lstStyle/>
                    <a:p>
                      <a:pPr>
                        <a:defRPr sz="1800">
                          <a:solidFill>
                            <a:srgbClr val="000000"/>
                          </a:solidFill>
                        </a:defRPr>
                      </a:pPr>
                      <a:r>
                        <a:rPr b="1" sz="2200">
                          <a:solidFill>
                            <a:srgbClr val="FFFFFF"/>
                          </a:solidFill>
                          <a:latin typeface="Helvetica"/>
                          <a:ea typeface="Helvetica"/>
                          <a:cs typeface="Helvetica"/>
                          <a:sym typeface="Helvetica"/>
                        </a:rPr>
                        <a:t>Risk Score: 8.5 (HIGH)</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2200">
                          <a:solidFill>
                            <a:srgbClr val="CF1F3E"/>
                          </a:solidFill>
                          <a:latin typeface="Helvetica"/>
                          <a:ea typeface="Helvetica"/>
                          <a:cs typeface="Helvetica"/>
                          <a:sym typeface="Helvetica"/>
                        </a:rPr>
                        <a:t>Risk Score: 9.8 (CRITICAL)</a:t>
                      </a:r>
                    </a:p>
                  </a:txBody>
                  <a:tcPr marL="50800" marR="50800" marT="50800" marB="50800" anchor="ctr" anchorCtr="0" horzOverflow="overflow">
                    <a:solidFill>
                      <a:srgbClr val="1A1A20"/>
                    </a:solidFill>
                  </a:tcPr>
                </a:tc>
                <a:tc>
                  <a:txBody>
                    <a:bodyPr/>
                    <a:lstStyle/>
                    <a:p>
                      <a:pPr>
                        <a:defRPr sz="1800">
                          <a:solidFill>
                            <a:srgbClr val="000000"/>
                          </a:solidFill>
                        </a:defRPr>
                      </a:pPr>
                      <a:r>
                        <a:rPr b="1" sz="2200">
                          <a:solidFill>
                            <a:srgbClr val="FFFFFF"/>
                          </a:solidFill>
                          <a:latin typeface="Helvetica"/>
                          <a:ea typeface="Helvetica"/>
                          <a:cs typeface="Helvetica"/>
                          <a:sym typeface="Helvetica"/>
                        </a:rPr>
                        <a:t>Compliance: NIST SP 800-61</a:t>
                      </a:r>
                    </a:p>
                  </a:txBody>
                  <a:tcPr marL="50800" marR="50800" marT="50800" marB="50800" anchor="ctr" anchorCtr="0" horzOverflow="overflow">
                    <a:lnR w="12700">
                      <a:solidFill>
                        <a:srgbClr val="D6D6D6"/>
                      </a:solidFill>
                      <a:miter lim="400000"/>
                    </a:lnR>
                    <a:solidFill>
                      <a:srgbClr val="1A1A20"/>
                    </a:solidFill>
                  </a:tcPr>
                </a:tc>
              </a:tr>
              <a:tr h="2381250">
                <a:tc>
                  <a:txBody>
                    <a:bodyPr/>
                    <a:lstStyle/>
                    <a:p>
                      <a:pPr>
                        <a:defRPr sz="1800">
                          <a:solidFill>
                            <a:srgbClr val="000000"/>
                          </a:solidFill>
                        </a:defRPr>
                      </a:pPr>
                      <a:r>
                        <a:rPr b="1" sz="1400">
                          <a:solidFill>
                            <a:srgbClr val="B1B1B8"/>
                          </a:solidFill>
                          <a:latin typeface="Helvetica"/>
                          <a:ea typeface="Helvetica"/>
                          <a:cs typeface="Helvetica"/>
                          <a:sym typeface="Helvetica"/>
                        </a:rPr>
                        <a:t>Linux auth.log Telemetry Stream</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Apache Access CLF Exploitation</a:t>
                      </a:r>
                    </a:p>
                  </a:txBody>
                  <a:tcPr marL="50800" marR="50800" marT="50800" marB="50800" anchor="ctr" anchorCtr="0" horzOverflow="overflow">
                    <a:solidFill>
                      <a:srgbClr val="1A1A20"/>
                    </a:solidFill>
                  </a:tcPr>
                </a:tc>
                <a:tc>
                  <a:txBody>
                    <a:bodyPr/>
                    <a:lstStyle/>
                    <a:p>
                      <a:pPr>
                        <a:defRPr sz="1800">
                          <a:solidFill>
                            <a:srgbClr val="000000"/>
                          </a:solidFill>
                        </a:defRPr>
                      </a:pPr>
                      <a:r>
                        <a:rPr b="1" sz="1400">
                          <a:solidFill>
                            <a:srgbClr val="B1B1B8"/>
                          </a:solidFill>
                          <a:latin typeface="Helvetica"/>
                          <a:ea typeface="Helvetica"/>
                          <a:cs typeface="Helvetica"/>
                          <a:sym typeface="Helvetica"/>
                        </a:rPr>
                        <a:t>ReportLab Automated Engine</a:t>
                      </a:r>
                    </a:p>
                  </a:txBody>
                  <a:tcPr marL="50800" marR="50800" marT="50800" marB="50800" anchor="ctr" anchorCtr="0" horzOverflow="overflow">
                    <a:lnR w="12700">
                      <a:solidFill>
                        <a:srgbClr val="D6D6D6"/>
                      </a:solidFill>
                      <a:miter lim="400000"/>
                    </a:lnR>
                    <a:solidFill>
                      <a:srgbClr val="1A1A20"/>
                    </a:solidFill>
                  </a:tcPr>
                </a:tc>
              </a:tr>
              <a:tr h="2381250">
                <a:tc>
                  <a:txBody>
                    <a:bodyPr/>
                    <a:lstStyle/>
                    <a:p>
                      <a:pPr>
                        <a:defRPr sz="1800">
                          <a:solidFill>
                            <a:srgbClr val="000000"/>
                          </a:solidFill>
                        </a:defRPr>
                      </a:pPr>
                      <a:r>
                        <a:rPr sz="1500">
                          <a:solidFill>
                            <a:srgbClr val="FFFFFF"/>
                          </a:solidFill>
                          <a:latin typeface="Helvetica"/>
                          <a:ea typeface="Helvetica"/>
                          <a:cs typeface="Helvetica"/>
                          <a:sym typeface="Helvetica"/>
                        </a:rPr>
                        <a:t>• Telemetry Stream: Ingests 25 rapid failed password attempts for user 'root' from external IP 192.168.1.105.• RAG Correlation: Cosine similarity matches MITRE technique T1110 (Brute Force) with 0.89 confidence score.• Algorithmic Scoring: CVSS base 7.5 + privilege escalation weight (+1.0) yields an 8.5 High-Severity incident.• Automated Playbook: Generates firewall shun command (iptables -A INPUT -s 192.168.1.105 -j DROP).</a:t>
                      </a:r>
                    </a:p>
                  </a:txBody>
                  <a:tcPr marL="50800" marR="50800" marT="50800" marB="50800" anchor="ctr" anchorCtr="0" horzOverflow="overflow">
                    <a:lnL w="12700">
                      <a:solidFill>
                        <a:srgbClr val="D6D6D6"/>
                      </a:solidFill>
                      <a:miter lim="400000"/>
                    </a:lnL>
                    <a:lnB w="12700">
                      <a:solidFill>
                        <a:srgbClr val="D6D6D6"/>
                      </a:solidFill>
                      <a:miter lim="400000"/>
                    </a:lnB>
                    <a:solidFill>
                      <a:srgbClr val="101115"/>
                    </a:solidFill>
                  </a:tcPr>
                </a:tc>
                <a:tc>
                  <a:txBody>
                    <a:bodyPr/>
                    <a:lstStyle/>
                    <a:p>
                      <a:pPr>
                        <a:defRPr sz="1800">
                          <a:solidFill>
                            <a:srgbClr val="000000"/>
                          </a:solidFill>
                        </a:defRPr>
                      </a:pPr>
                      <a:r>
                        <a:rPr sz="1500">
                          <a:solidFill>
                            <a:srgbClr val="FFFFFF"/>
                          </a:solidFill>
                          <a:latin typeface="Helvetica"/>
                          <a:ea typeface="Helvetica"/>
                          <a:cs typeface="Helvetica"/>
                          <a:sym typeface="Helvetica"/>
                        </a:rPr>
                        <a:t>• Telemetry Stream: Ingests suspicious URI containing 'UNION SELECT' and access to uploaded backdoor '/uploads/cmd.php'.• RAG Correlation: Matches MITRE T1190 (Exploit Public-Facing App) &amp; T1059 (Command and Scripting Interpreter).• Algorithmic Scoring: Critical CVSS 9.8 due to remote code execution (RCE) payload signature.• Automated Playbook: Triggers red alert banner, isolates web service port, and prepares forensic snapshot.</a:t>
                      </a:r>
                    </a:p>
                  </a:txBody>
                  <a:tcPr marL="50800" marR="50800" marT="50800" marB="50800" anchor="ctr" anchorCtr="0" horzOverflow="overflow">
                    <a:lnB w="12700">
                      <a:solidFill>
                        <a:srgbClr val="D6D6D6"/>
                      </a:solidFill>
                      <a:miter lim="400000"/>
                    </a:lnB>
                    <a:solidFill>
                      <a:srgbClr val="101115"/>
                    </a:solidFill>
                  </a:tcPr>
                </a:tc>
                <a:tc>
                  <a:txBody>
                    <a:bodyPr/>
                    <a:lstStyle/>
                    <a:p>
                      <a:pPr>
                        <a:defRPr sz="1800">
                          <a:solidFill>
                            <a:srgbClr val="000000"/>
                          </a:solidFill>
                        </a:defRPr>
                      </a:pPr>
                      <a:r>
                        <a:rPr sz="1500">
                          <a:solidFill>
                            <a:srgbClr val="FFFFFF"/>
                          </a:solidFill>
                          <a:latin typeface="Helvetica"/>
                          <a:ea typeface="Helvetica"/>
                          <a:cs typeface="Helvetica"/>
                          <a:sym typeface="Helvetica"/>
                        </a:rPr>
                        <a:t>• 1-Click Trigger: Analyst clicks 'Export NIST SP 800-61 PDF' from the forensic incident investigation view.• Generation Latency: Programmatic ReportLab compiler produces a multi-page, publication-grade PDF in &lt;1.2 seconds.• Audit Integrity: Includes cryptographic SHA-256 evidence digests, timeline graphs, and NIST containment checklists.• Viva Demonstration: Ready for live evaluators to examine printed or downloaded PDF reports.</a:t>
                      </a:r>
                    </a:p>
                  </a:txBody>
                  <a:tcPr marL="50800" marR="50800" marT="50800" marB="50800" anchor="ctr" anchorCtr="0" horzOverflow="overflow">
                    <a:lnR w="12700">
                      <a:solidFill>
                        <a:srgbClr val="D6D6D6"/>
                      </a:solidFill>
                      <a:miter lim="400000"/>
                    </a:lnR>
                    <a:lnB w="12700">
                      <a:solidFill>
                        <a:srgbClr val="D6D6D6"/>
                      </a:solidFill>
                      <a:miter lim="400000"/>
                    </a:lnB>
                    <a:solidFill>
                      <a:srgbClr val="101115"/>
                    </a:solidFill>
                  </a:tcPr>
                </a:tc>
              </a:tr>
            </a:tbl>
          </a:graphicData>
        </a:graphic>
      </p:graphicFrame>
      <p:sp>
        <p:nvSpPr>
          <p:cNvPr id="215" name="Live Demonstration: All three attack vectors can be triggered in real-time during viva examination using the 'Simulate Attack Wave' button."/>
          <p:cNvSpPr txBox="1"/>
          <p:nvPr/>
        </p:nvSpPr>
        <p:spPr>
          <a:xfrm>
            <a:off x="1270000" y="12424765"/>
            <a:ext cx="21844000" cy="342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600">
                <a:solidFill>
                  <a:srgbClr val="B1B1B8"/>
                </a:solidFill>
                <a:latin typeface="Helvetica"/>
                <a:ea typeface="Helvetica"/>
                <a:cs typeface="Helvetica"/>
                <a:sym typeface="Helvetica"/>
              </a:defRPr>
            </a:lvl1pPr>
          </a:lstStyle>
          <a:p>
            <a:pPr/>
            <a:r>
              <a:t>Live Demonstration: All three attack vectors can be triggered in real-time during viva examination using the 'Simulate Attack Wave' button.</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8. CONCLUSION &amp; FUTURE RESEARCH ROADMAP"/>
          <p:cNvSpPr txBox="1"/>
          <p:nvPr/>
        </p:nvSpPr>
        <p:spPr>
          <a:xfrm>
            <a:off x="1270000" y="753465"/>
            <a:ext cx="21844000" cy="317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1400">
                <a:solidFill>
                  <a:srgbClr val="CF1F3E"/>
                </a:solidFill>
                <a:latin typeface="Helvetica"/>
                <a:ea typeface="Helvetica"/>
                <a:cs typeface="Helvetica"/>
                <a:sym typeface="Helvetica"/>
              </a:defRPr>
            </a:lvl1pPr>
          </a:lstStyle>
          <a:p>
            <a:pPr/>
            <a:r>
              <a:t>8. CONCLUSION &amp; FUTURE RESEARCH ROADMAP</a:t>
            </a:r>
          </a:p>
        </p:txBody>
      </p:sp>
      <p:sp>
        <p:nvSpPr>
          <p:cNvPr id="220" name="7. CONCLUSION &amp; FUTURE SCOPE: Academic Summary"/>
          <p:cNvSpPr txBox="1"/>
          <p:nvPr/>
        </p:nvSpPr>
        <p:spPr>
          <a:xfrm>
            <a:off x="1270000" y="918565"/>
            <a:ext cx="21844000" cy="622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3400">
                <a:latin typeface="Helvetica"/>
                <a:ea typeface="Helvetica"/>
                <a:cs typeface="Helvetica"/>
                <a:sym typeface="Helvetica"/>
              </a:defRPr>
            </a:lvl1pPr>
          </a:lstStyle>
          <a:p>
            <a:pPr/>
            <a:r>
              <a:t>7. CONCLUSION &amp; FUTURE SCOPE: Academic Summary</a:t>
            </a:r>
          </a:p>
        </p:txBody>
      </p:sp>
      <p:sp>
        <p:nvSpPr>
          <p:cNvPr id="221" name="Summary of Technical Engineering Contributions and Strategic Expansion Horizons"/>
          <p:cNvSpPr txBox="1"/>
          <p:nvPr/>
        </p:nvSpPr>
        <p:spPr>
          <a:xfrm>
            <a:off x="1270000" y="1674215"/>
            <a:ext cx="21844000" cy="381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solidFill>
                  <a:srgbClr val="B1B1B8"/>
                </a:solidFill>
                <a:latin typeface="Helvetica"/>
                <a:ea typeface="Helvetica"/>
                <a:cs typeface="Helvetica"/>
                <a:sym typeface="Helvetica"/>
              </a:defRPr>
            </a:lvl1pPr>
          </a:lstStyle>
          <a:p>
            <a:pPr/>
            <a:r>
              <a:t>Summary of Technical Engineering Contributions and Strategic Expansion Horizons</a:t>
            </a:r>
          </a:p>
        </p:txBody>
      </p:sp>
      <p:sp>
        <p:nvSpPr>
          <p:cNvPr id="222" name="Line"/>
          <p:cNvSpPr/>
          <p:nvPr/>
        </p:nvSpPr>
        <p:spPr>
          <a:xfrm>
            <a:off x="1269999" y="1968500"/>
            <a:ext cx="21844001" cy="1"/>
          </a:xfrm>
          <a:prstGeom prst="line">
            <a:avLst/>
          </a:prstGeom>
          <a:ln w="25400">
            <a:solidFill>
              <a:srgbClr val="FFFFFF"/>
            </a:solidFill>
            <a:miter lim="400000"/>
          </a:ln>
        </p:spPr>
        <p:txBody>
          <a:bodyPr lIns="50800" tIns="50800" rIns="50800" bIns="50800" anchor="ctr"/>
          <a:lstStyle/>
          <a:p>
            <a:pPr/>
          </a:p>
        </p:txBody>
      </p:sp>
      <p:graphicFrame>
        <p:nvGraphicFramePr>
          <p:cNvPr id="223" name="Table 1"/>
          <p:cNvGraphicFramePr/>
          <p:nvPr/>
        </p:nvGraphicFramePr>
        <p:xfrm>
          <a:off x="1270000" y="2286000"/>
          <a:ext cx="21005800" cy="10160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0922000"/>
                <a:gridCol w="10922000"/>
              </a:tblGrid>
              <a:tr h="3175000">
                <a:tc>
                  <a:txBody>
                    <a:bodyPr/>
                    <a:lstStyle/>
                    <a:p>
                      <a:pPr>
                        <a:defRPr sz="1800">
                          <a:solidFill>
                            <a:srgbClr val="000000"/>
                          </a:solidFill>
                        </a:defRPr>
                      </a:pPr>
                      <a:r>
                        <a:rPr b="1" sz="2000">
                          <a:solidFill>
                            <a:srgbClr val="FFFFFF"/>
                          </a:solidFill>
                          <a:latin typeface="Helvetica"/>
                          <a:ea typeface="Helvetica"/>
                          <a:cs typeface="Helvetica"/>
                          <a:sym typeface="Helvetica"/>
                        </a:rPr>
                        <a:t>KEY PROJECT ACHIEVEMENTS</a:t>
                      </a:r>
                    </a:p>
                  </a:txBody>
                  <a:tcPr marL="50800" marR="50800" marT="50800" marB="50800" anchor="ctr" anchorCtr="0" horzOverflow="overflow">
                    <a:lnL w="12700">
                      <a:solidFill>
                        <a:srgbClr val="D6D6D6"/>
                      </a:solidFill>
                      <a:miter lim="400000"/>
                    </a:lnL>
                    <a:lnT w="12700">
                      <a:solidFill>
                        <a:srgbClr val="D6D6D6"/>
                      </a:solidFill>
                      <a:miter lim="400000"/>
                    </a:lnT>
                    <a:solidFill>
                      <a:srgbClr val="202025"/>
                    </a:solidFill>
                  </a:tcPr>
                </a:tc>
                <a:tc>
                  <a:txBody>
                    <a:bodyPr/>
                    <a:lstStyle/>
                    <a:p>
                      <a:pPr>
                        <a:defRPr sz="1800">
                          <a:solidFill>
                            <a:srgbClr val="000000"/>
                          </a:solidFill>
                        </a:defRPr>
                      </a:pPr>
                      <a:r>
                        <a:rPr b="1" sz="2000">
                          <a:solidFill>
                            <a:srgbClr val="FFFFFF"/>
                          </a:solidFill>
                          <a:latin typeface="Helvetica"/>
                          <a:ea typeface="Helvetica"/>
                          <a:cs typeface="Helvetica"/>
                          <a:sym typeface="Helvetica"/>
                        </a:rPr>
                        <a:t>STRATEGIC FUTURE ROADMAP</a:t>
                      </a:r>
                    </a:p>
                  </a:txBody>
                  <a:tcPr marL="50800" marR="50800" marT="50800" marB="50800" anchor="ctr" anchorCtr="0" horzOverflow="overflow">
                    <a:lnR w="12700">
                      <a:solidFill>
                        <a:srgbClr val="D6D6D6"/>
                      </a:solidFill>
                      <a:miter lim="400000"/>
                    </a:lnR>
                    <a:lnT w="12700">
                      <a:solidFill>
                        <a:srgbClr val="D6D6D6"/>
                      </a:solidFill>
                      <a:miter lim="400000"/>
                    </a:lnT>
                    <a:solidFill>
                      <a:srgbClr val="CF1F3E"/>
                    </a:solidFill>
                  </a:tcPr>
                </a:tc>
              </a:tr>
              <a:tr h="3175000">
                <a:tc>
                  <a:txBody>
                    <a:bodyPr/>
                    <a:lstStyle/>
                    <a:p>
                      <a:pPr>
                        <a:defRPr sz="1800">
                          <a:solidFill>
                            <a:srgbClr val="000000"/>
                          </a:solidFill>
                        </a:defRPr>
                      </a:pPr>
                      <a:r>
                        <a:rPr b="1" sz="1500">
                          <a:solidFill>
                            <a:srgbClr val="B1B1B8"/>
                          </a:solidFill>
                          <a:latin typeface="Helvetica"/>
                          <a:ea typeface="Helvetica"/>
                          <a:cs typeface="Helvetica"/>
                          <a:sym typeface="Helvetica"/>
                        </a:rPr>
                        <a:t>Validated Engineering Contributions</a:t>
                      </a:r>
                    </a:p>
                  </a:txBody>
                  <a:tcPr marL="50800" marR="50800" marT="50800" marB="50800" anchor="ctr" anchorCtr="0" horzOverflow="overflow">
                    <a:lnL w="12700">
                      <a:solidFill>
                        <a:srgbClr val="D6D6D6"/>
                      </a:solidFill>
                      <a:miter lim="400000"/>
                    </a:lnL>
                    <a:solidFill>
                      <a:srgbClr val="1A1A20"/>
                    </a:solidFill>
                  </a:tcPr>
                </a:tc>
                <a:tc>
                  <a:txBody>
                    <a:bodyPr/>
                    <a:lstStyle/>
                    <a:p>
                      <a:pPr>
                        <a:defRPr sz="1800">
                          <a:solidFill>
                            <a:srgbClr val="000000"/>
                          </a:solidFill>
                        </a:defRPr>
                      </a:pPr>
                      <a:r>
                        <a:rPr b="1" sz="1500">
                          <a:solidFill>
                            <a:srgbClr val="B1B1B8"/>
                          </a:solidFill>
                          <a:latin typeface="Helvetica"/>
                          <a:ea typeface="Helvetica"/>
                          <a:cs typeface="Helvetica"/>
                          <a:sym typeface="Helvetica"/>
                        </a:rPr>
                        <a:t>Phase II &amp; Commercial Scaling Horizons</a:t>
                      </a:r>
                    </a:p>
                  </a:txBody>
                  <a:tcPr marL="50800" marR="50800" marT="50800" marB="50800" anchor="ctr" anchorCtr="0" horzOverflow="overflow">
                    <a:lnR w="12700">
                      <a:solidFill>
                        <a:srgbClr val="D6D6D6"/>
                      </a:solidFill>
                      <a:miter lim="400000"/>
                    </a:lnR>
                    <a:solidFill>
                      <a:srgbClr val="1A1A20"/>
                    </a:solidFill>
                  </a:tcPr>
                </a:tc>
              </a:tr>
              <a:tr h="3175000">
                <a:tc>
                  <a:txBody>
                    <a:bodyPr/>
                    <a:lstStyle/>
                    <a:p>
                      <a:pPr>
                        <a:defRPr sz="1800">
                          <a:solidFill>
                            <a:srgbClr val="000000"/>
                          </a:solidFill>
                        </a:defRPr>
                      </a:pPr>
                      <a:r>
                        <a:rPr sz="1500">
                          <a:solidFill>
                            <a:srgbClr val="FFFFFF"/>
                          </a:solidFill>
                          <a:latin typeface="Helvetica"/>
                          <a:ea typeface="Helvetica"/>
                          <a:cs typeface="Helvetica"/>
                          <a:sym typeface="Helvetica"/>
                        </a:rPr>
                        <a:t>• Bridged Academic Research to Production: Successfully translated theoretical RAG cybersecurity literature into an operational, single-port, full-stack enterprise platform.• Solved the Analyst Alert Crisis: Empirically validated that pairing factory-pattern normalization with semantic cosine vector pre-filtering reduces routine telemetry overhead by 99.2%.• Guaranteed Zero-Hallucination Compliance: Enforced deterministic threat intelligence grounding via MITRE ATT&amp;CK Enterprise (v14) and Pydantic schemas, eliminating dangerous LLM fabrications.• Air-Gapped Survivability: Engineered a fully containerized architecture that runs completely offline with embedded ONNX embeddings and embedded SQLite.</a:t>
                      </a:r>
                    </a:p>
                  </a:txBody>
                  <a:tcPr marL="50800" marR="50800" marT="50800" marB="50800" anchor="ctr" anchorCtr="0" horzOverflow="overflow">
                    <a:lnL w="12700">
                      <a:solidFill>
                        <a:srgbClr val="D6D6D6"/>
                      </a:solidFill>
                      <a:miter lim="400000"/>
                    </a:lnL>
                    <a:lnB w="12700">
                      <a:solidFill>
                        <a:srgbClr val="D6D6D6"/>
                      </a:solidFill>
                      <a:miter lim="400000"/>
                    </a:lnB>
                    <a:solidFill>
                      <a:srgbClr val="101115"/>
                    </a:solidFill>
                  </a:tcPr>
                </a:tc>
                <a:tc>
                  <a:txBody>
                    <a:bodyPr/>
                    <a:lstStyle/>
                    <a:p>
                      <a:pPr>
                        <a:defRPr sz="1800">
                          <a:solidFill>
                            <a:srgbClr val="000000"/>
                          </a:solidFill>
                        </a:defRPr>
                      </a:pPr>
                      <a:r>
                        <a:rPr sz="1500">
                          <a:solidFill>
                            <a:srgbClr val="FFFFFF"/>
                          </a:solidFill>
                          <a:latin typeface="Helvetica"/>
                          <a:ea typeface="Helvetica"/>
                          <a:cs typeface="Helvetica"/>
                          <a:sym typeface="Helvetica"/>
                        </a:rPr>
                        <a:t>• Phase 1: Automated SOAR Bidirectional Execution: Integrate active firewall and EDR response hooks (e.g. pfSense API, iptables, AWS WAF, CrowdStrike Falcon) to enforce autonomous IP shunning upon critical intrusion.• Phase 2: Multi-Agent Collaborative Debate: Implement LangGraph-based multi-agent reasoning where specialized agents (Threat Hunter, Forensic Investigator, Compliance Auditor) cross-evaluate attack severity.• Phase 3: Cloud-Native Streaming Telemetry: Build native Kafka and WebSocket connectors for direct streaming ingestion from AWS CloudTrail, Google Cloud Security Command Center, and Kubernetes audit logs.</a:t>
                      </a:r>
                    </a:p>
                  </a:txBody>
                  <a:tcPr marL="50800" marR="50800" marT="50800" marB="50800" anchor="ctr" anchorCtr="0" horzOverflow="overflow">
                    <a:lnR w="12700">
                      <a:solidFill>
                        <a:srgbClr val="D6D6D6"/>
                      </a:solidFill>
                      <a:miter lim="400000"/>
                    </a:lnR>
                    <a:lnB w="12700">
                      <a:solidFill>
                        <a:srgbClr val="D6D6D6"/>
                      </a:solidFill>
                      <a:miter lim="400000"/>
                    </a:lnB>
                    <a:solidFill>
                      <a:srgbClr val="101115"/>
                    </a:solidFill>
                  </a:tcPr>
                </a:tc>
              </a:tr>
            </a:tbl>
          </a:graphicData>
        </a:graphic>
      </p:graphicFrame>
      <p:sp>
        <p:nvSpPr>
          <p:cNvPr id="224" name="CyberSentinel AI • Major Project Defense • Repository: https://github.com/sohamsakat/cybersentinel-ai • Production Deployed"/>
          <p:cNvSpPr txBox="1"/>
          <p:nvPr/>
        </p:nvSpPr>
        <p:spPr>
          <a:xfrm>
            <a:off x="1270000" y="12424765"/>
            <a:ext cx="21844000" cy="342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i="1" sz="1600">
                <a:solidFill>
                  <a:srgbClr val="B1B1B8"/>
                </a:solidFill>
                <a:latin typeface="Helvetica"/>
                <a:ea typeface="Helvetica"/>
                <a:cs typeface="Helvetica"/>
                <a:sym typeface="Helvetica"/>
              </a:defRPr>
            </a:lvl1pPr>
          </a:lstStyle>
          <a:p>
            <a:pPr/>
            <a:r>
              <a:t>CyberSentinel AI • Major Project Defense • Repository: https://github.com/sohamsakat/cybersentinel-ai • Production Deployed</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