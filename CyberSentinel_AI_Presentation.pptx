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966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MAJOR PROJECT DEFENSE  •  B.TECH COMPUTER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1F5F9"/>
                </a:solidFill>
              </a:defRPr>
            </a:pPr>
            <a:r>
              <a:t>CyberSentinel AI</a:t>
            </a:r>
          </a:p>
          <a:p>
            <a:pPr>
              <a:spcBef>
                <a:spcPts val="800"/>
              </a:spcBef>
              <a:defRPr sz="1700">
                <a:solidFill>
                  <a:srgbClr val="BAE6FD"/>
                </a:solidFill>
              </a:defRPr>
            </a:pPr>
            <a:r>
              <a:t>An Intelligent Security Operations Center (SOC) Assistant using Large Language Models (LLMs) and Retrieval-Augmented Generation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383280"/>
            <a:ext cx="9966960" cy="18288"/>
          </a:xfrm>
          <a:prstGeom prst="rect">
            <a:avLst/>
          </a:prstGeom>
          <a:solidFill>
            <a:srgbClr val="26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576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Presented By:</a:t>
            </a:r>
          </a:p>
          <a:p>
            <a:pPr>
              <a:spcBef>
                <a:spcPts val="400"/>
              </a:spcBef>
              <a:defRPr sz="1400">
                <a:solidFill>
                  <a:srgbClr val="F1F5F9"/>
                </a:solidFill>
              </a:defRPr>
            </a:pPr>
            <a:r>
              <a:t>Soham Sakat</a:t>
            </a:r>
            <a:br/>
            <a:r>
              <a:t>Final Year B.Tech, Computer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6576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Domain &amp; Specialization:</a:t>
            </a:r>
          </a:p>
          <a:p>
            <a:pPr>
              <a:spcBef>
                <a:spcPts val="400"/>
              </a:spcBef>
              <a:defRPr sz="1400">
                <a:solidFill>
                  <a:srgbClr val="F1F5F9"/>
                </a:solidFill>
              </a:defRPr>
            </a:pPr>
            <a:r>
              <a:t>Artificial Intelligence • Cybersecurity (SecOps)</a:t>
            </a:r>
            <a:br/>
            <a:r>
              <a:t>Retrieval-Augmented Generation (RAG) • Full-Stack SIEM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CONTEXT &amp; BACKGROUND  •  CYBERSENTINEL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1. INTRODUCTION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26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28416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2962656" cy="4517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What is a SOC?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Security Operations Center</a:t>
            </a:r>
          </a:p>
          <a:p>
            <a:pPr>
              <a:spcBef>
                <a:spcPts val="1000"/>
              </a:spcBef>
              <a:defRPr b="1" sz="1300">
                <a:solidFill>
                  <a:srgbClr val="F1F5F9"/>
                </a:solidFill>
              </a:defRPr>
            </a:pPr>
            <a:r>
              <a:t>• The Enterprise Nerve Center:</a:t>
            </a:r>
            <a:r>
              <a:rPr b="0">
                <a:solidFill>
                  <a:srgbClr val="94A3B8"/>
                </a:solidFill>
              </a:rPr>
              <a:t> A centralized unit where cybersecurity teams monitor, detect, analyze, and respond to cyber security incidents 24/7.</a:t>
            </a:r>
          </a:p>
          <a:p>
            <a:pPr>
              <a:spcBef>
                <a:spcPts val="1000"/>
              </a:spcBef>
              <a:defRPr b="1" sz="1300">
                <a:solidFill>
                  <a:srgbClr val="F1F5F9"/>
                </a:solidFill>
              </a:defRPr>
            </a:pPr>
            <a:r>
              <a:t>• Multi-Source Ingestion:</a:t>
            </a:r>
            <a:r>
              <a:rPr b="0">
                <a:solidFill>
                  <a:srgbClr val="94A3B8"/>
                </a:solidFill>
              </a:rPr>
              <a:t> Enterprise networks generate continuous telemetry across firewalls, Linux syslogs, Windows event logs, and web servers.</a:t>
            </a:r>
          </a:p>
          <a:p>
            <a:pPr>
              <a:spcBef>
                <a:spcPts val="1000"/>
              </a:spcBef>
              <a:defRPr b="1" sz="1300">
                <a:solidFill>
                  <a:srgbClr val="F1F5F9"/>
                </a:solidFill>
              </a:defRPr>
            </a:pPr>
            <a:r>
              <a:t>• The First Line of Defense:</a:t>
            </a:r>
            <a:r>
              <a:rPr b="0">
                <a:solidFill>
                  <a:srgbClr val="94A3B8"/>
                </a:solidFill>
              </a:rPr>
              <a:t> SOC Tier-1 analysts manually review alerts to distinguish legitimate user operations from adversarial intrusions.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554480"/>
            <a:ext cx="3328416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719072"/>
            <a:ext cx="2962656" cy="4517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The Industry Crisis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Alert Fatigue &amp; Backlog</a:t>
            </a:r>
          </a:p>
          <a:p>
            <a:pPr>
              <a:spcBef>
                <a:spcPts val="1000"/>
              </a:spcBef>
              <a:defRPr b="1" sz="1300">
                <a:solidFill>
                  <a:srgbClr val="F1F5F9"/>
                </a:solidFill>
              </a:defRPr>
            </a:pPr>
            <a:r>
              <a:t>• Massive Alert Volume:</a:t>
            </a:r>
            <a:r>
              <a:rPr b="0">
                <a:solidFill>
                  <a:srgbClr val="94A3B8"/>
                </a:solidFill>
              </a:rPr>
              <a:t> Medium-to-large enterprises generate over 10,000 to 100,000 security alerts per day; over 99% are benign noise or false positives.</a:t>
            </a:r>
          </a:p>
          <a:p>
            <a:pPr>
              <a:spcBef>
                <a:spcPts val="1000"/>
              </a:spcBef>
              <a:defRPr b="1" sz="1300">
                <a:solidFill>
                  <a:srgbClr val="F1F5F9"/>
                </a:solidFill>
              </a:defRPr>
            </a:pPr>
            <a:r>
              <a:t>• Analyst Burnout:</a:t>
            </a:r>
            <a:r>
              <a:rPr b="0">
                <a:solidFill>
                  <a:srgbClr val="94A3B8"/>
                </a:solidFill>
              </a:rPr>
              <a:t> Human cognitive capacity is overwhelmed; critical zero-day attacks and stealthy lateral movements are lost in the flood.</a:t>
            </a:r>
          </a:p>
          <a:p>
            <a:pPr>
              <a:spcBef>
                <a:spcPts val="1000"/>
              </a:spcBef>
              <a:defRPr b="1" sz="1300">
                <a:solidFill>
                  <a:srgbClr val="F1F5F9"/>
                </a:solidFill>
              </a:defRPr>
            </a:pPr>
            <a:r>
              <a:t>• Dangerous Response Lag:</a:t>
            </a:r>
            <a:r>
              <a:rPr b="0">
                <a:solidFill>
                  <a:srgbClr val="94A3B8"/>
                </a:solidFill>
              </a:rPr>
              <a:t> Mean Time to Detect (MTTD) averages 200+ days, and Mean Time to Respond (MTTR) takes 45 to 60 minutes per incident.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554480"/>
            <a:ext cx="3328416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719072"/>
            <a:ext cx="2962656" cy="4517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The Cognitive Era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Generative AI + SecOps</a:t>
            </a:r>
          </a:p>
          <a:p>
            <a:pPr>
              <a:spcBef>
                <a:spcPts val="1000"/>
              </a:spcBef>
              <a:defRPr b="1" sz="1300">
                <a:solidFill>
                  <a:srgbClr val="F1F5F9"/>
                </a:solidFill>
              </a:defRPr>
            </a:pPr>
            <a:r>
              <a:t>• Augmented Intelligence:</a:t>
            </a:r>
            <a:r>
              <a:rPr b="0">
                <a:solidFill>
                  <a:srgbClr val="94A3B8"/>
                </a:solidFill>
              </a:rPr>
              <a:t> Rather than replacing human analysts, AI acts as a tireless Tier-1 Copilot that pre-triages, correlates, and scores threats.</a:t>
            </a:r>
          </a:p>
          <a:p>
            <a:pPr>
              <a:spcBef>
                <a:spcPts val="1000"/>
              </a:spcBef>
              <a:defRPr b="1" sz="1300">
                <a:solidFill>
                  <a:srgbClr val="F1F5F9"/>
                </a:solidFill>
              </a:defRPr>
            </a:pPr>
            <a:r>
              <a:t>• Natural Language Synthesis:</a:t>
            </a:r>
            <a:r>
              <a:rPr b="0">
                <a:solidFill>
                  <a:srgbClr val="94A3B8"/>
                </a:solidFill>
              </a:rPr>
              <a:t> Translating complex, cryptic hex logs and event codes into clear, actionable executive summaries in plain language.</a:t>
            </a:r>
          </a:p>
          <a:p>
            <a:pPr>
              <a:spcBef>
                <a:spcPts val="1000"/>
              </a:spcBef>
              <a:defRPr b="1" sz="1300">
                <a:solidFill>
                  <a:srgbClr val="F1F5F9"/>
                </a:solidFill>
              </a:defRPr>
            </a:pPr>
            <a:r>
              <a:t>• Autonomous Remediation:</a:t>
            </a:r>
            <a:r>
              <a:rPr b="0">
                <a:solidFill>
                  <a:srgbClr val="94A3B8"/>
                </a:solidFill>
              </a:rPr>
              <a:t> Instantly synthesizing NIST SP 800-61 compliant response playbooks (containment, eradication, recovery) in real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STATE OF THE ART &amp; RESEARCH GAPS  •  CYBERSENTINEL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2. LITERATURE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26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14630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63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10362895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Base Research Paper &amp; Academic Foundations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Current Research Trends in AI-Driven Cybersecurity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Base Paper: 'Retrieval-Augmented Generation for Automated Incident Response and Threat Intelligence Mapping in Modern SOCs' (IEEE/ACM 2024/2025)</a:t>
            </a:r>
            <a:br/>
            <a:r>
              <a:t>• Key Finding: RAG architectures achieve superior contextual accuracy over fine-tuned LLMs by retrieving dynamic threat knowledge without catastrophic forgetting.</a:t>
            </a:r>
            <a:br/>
            <a:r>
              <a:t>• Identified Limitation: Prior academic implementations focused strictly on static benchmark datasets (e.g., DARPA/NSL-KDD) without live streaming telemetry, multi-format parsing, or production web-based triage interfaces.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46120"/>
            <a:ext cx="3328416" cy="30175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10712"/>
            <a:ext cx="2962656" cy="2688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Traditional SIEMs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Splunk, IBM QRadar, AlienVault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</a:defRPr>
            </a:pPr>
            <a:r>
              <a:t>❌ Relies strictly on static regex &amp; threshold rules.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</a:defRPr>
            </a:pPr>
            <a:r>
              <a:t>❌ Generates overwhelming false-positive alerts.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</a:defRPr>
            </a:pPr>
            <a:r>
              <a:t>❌ No natural language explanation or guidance.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</a:defRPr>
            </a:pPr>
            <a:r>
              <a:t>❌ High proprietary license fees ($100k+/year).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3246120"/>
            <a:ext cx="3328416" cy="30175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3410712"/>
            <a:ext cx="2962656" cy="2688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Direct LLM Approaches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Vanilla ChatGPT / OpenAI APIs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</a:defRPr>
            </a:pPr>
            <a:r>
              <a:t>⚠️ Prone to Hallucinations in critical commands.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</a:defRPr>
            </a:pPr>
            <a:r>
              <a:t>⚠️ Lacks awareness of local network architecture.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</a:defRPr>
            </a:pPr>
            <a:r>
              <a:t>⚠️ Data privacy risks with cloud transmission.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</a:defRPr>
            </a:pPr>
            <a:r>
              <a:t>⚠️ Cannot ground decisions in official MITRE tactics.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3246120"/>
            <a:ext cx="3328416" cy="30175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3410712"/>
            <a:ext cx="2962656" cy="2688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CyberSentinel AI (Our Work)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Grounded Cognitive RAG Assistant</a:t>
            </a:r>
          </a:p>
          <a:p>
            <a:pPr>
              <a:spcBef>
                <a:spcPts val="400"/>
              </a:spcBef>
              <a:defRPr sz="1150">
                <a:solidFill>
                  <a:srgbClr val="F1F5F9"/>
                </a:solidFill>
              </a:defRPr>
            </a:pPr>
            <a:r>
              <a:t>✅ Multi-source log normalization (ECS standard).</a:t>
            </a:r>
          </a:p>
          <a:p>
            <a:pPr>
              <a:spcBef>
                <a:spcPts val="400"/>
              </a:spcBef>
              <a:defRPr sz="1150">
                <a:solidFill>
                  <a:srgbClr val="F1F5F9"/>
                </a:solidFill>
              </a:defRPr>
            </a:pPr>
            <a:r>
              <a:t>✅ Deterministic MITRE ATT&amp;CK RAG grounding.</a:t>
            </a:r>
          </a:p>
          <a:p>
            <a:pPr>
              <a:spcBef>
                <a:spcPts val="400"/>
              </a:spcBef>
              <a:defRPr sz="1150">
                <a:solidFill>
                  <a:srgbClr val="F1F5F9"/>
                </a:solidFill>
              </a:defRPr>
            </a:pPr>
            <a:r>
              <a:t>✅ Algorithmic CVSS-inspired risk score (0-100).</a:t>
            </a:r>
          </a:p>
          <a:p>
            <a:pPr>
              <a:spcBef>
                <a:spcPts val="400"/>
              </a:spcBef>
              <a:defRPr sz="1150">
                <a:solidFill>
                  <a:srgbClr val="F1F5F9"/>
                </a:solidFill>
              </a:defRPr>
            </a:pPr>
            <a:r>
              <a:t>✅ 100% verifiable NIST SP 800-61 PDF triage report.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CRITICAL BOTTLENECKS IN CYBERSECURITY OPERATIONS  •  CYBERSENTINEL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3. 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26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2860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4754880" cy="1956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1. Severe Alert Fatigue &amp; Noise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Information Overload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SOC analysts face over 100,000 events daily, with 99%+ being benign noise.</a:t>
            </a:r>
            <a:br/>
            <a:r>
              <a:t>• Repetitive manual verification causes cognitive exhaustion, causing genuine Advanced Persistent Threats (APTs) to slip through undetected.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1554480"/>
            <a:ext cx="5120640" cy="22860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2415" y="1719072"/>
            <a:ext cx="4754880" cy="1956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2. High Mean Time to Respond (MTTR)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Slow Incident Resolution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Manual triage requires an analyst to cross-reference IPs, inspect raw hex logs, search MITRE databases, and compose reports.</a:t>
            </a:r>
            <a:br/>
            <a:r>
              <a:t>• Average response time of 45-60 minutes per incident gives adversaries ample dwell time to exfiltrate enterprise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120640" cy="22860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79392"/>
            <a:ext cx="4754880" cy="1956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3. LLM Hallucinations in SecOps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The Unreliability of Raw AI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Querying standard generative models directly for threat intelligence yields fabricated CVE identifiers and dangerous CLI remediation commands.</a:t>
            </a:r>
            <a:br/>
            <a:r>
              <a:t>• Mission-critical enterprise environments cannot tolerate stochastic, ungrounded AI recommendations.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9535" y="4114800"/>
            <a:ext cx="5120640" cy="22860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2415" y="4279392"/>
            <a:ext cx="4754880" cy="1956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4. Heterogeneous Log Silos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Format Incompatibility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• Enterprise infrastructure operates on conflicting log schemas: Windows XML/JSON, Linux Syslog RFC 3164, Apache Combined, and Firewall CSVs.</a:t>
            </a:r>
            <a:br/>
            <a:r>
              <a:t>• Lack of unified ingestion causes blind spots across the complete cyber attack chain.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TECHNICAL GOALS &amp; SCOPE  •  CYBERSENTINEL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4. PROJECT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26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1097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10362895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Primary Goal</a:t>
            </a:r>
          </a:p>
          <a:p>
            <a:pPr>
              <a:defRPr sz="1300">
                <a:solidFill>
                  <a:srgbClr val="F1F5F9"/>
                </a:solidFill>
              </a:defRPr>
            </a:pPr>
            <a:r>
              <a:t>To design and engineer an autonomous, full-stack, cognitive SOC Assistant that ingests multi-format telemetry, performs zero-hallucination threat correlation via Vector RAG, quantifies threat severity algorithmically, and generates NIST SP 800-61 compliant response playbooks in sub-seconds.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2514600" cy="34747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90672"/>
            <a:ext cx="2148840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Multi-Format Normalization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Objective 1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Develop automated parser engines for Windows Event Logs, Linux Syslogs, Apache Web Logs, and Firewall CSVs, mapping all fields into the Elastic Common Schema (ECS).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2926080"/>
            <a:ext cx="2514600" cy="34747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8456" y="3090672"/>
            <a:ext cx="2148840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Zero-Hallucination RAG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Objective 2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Integrate an in-memory vector database (ChromaDB) pre-loaded with MITRE ATT&amp;CK and OWASP Top 10 knowledge vectors for deterministic semantic similarity matching.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926080"/>
            <a:ext cx="2514600" cy="34747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3090672"/>
            <a:ext cx="2148840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Algorithmic Risk Scoring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Objective 3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Formulate an explainable CVSS-inspired mathematical model (0-100) factoring in baseline severity, credential theft escalation, and asset criticality.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33688" y="2926080"/>
            <a:ext cx="2514600" cy="34747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6568" y="3090672"/>
            <a:ext cx="2148840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Interactive Radar &amp; Reporting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Objective 4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Build a single-port full-stack web UI with real-time telemetry streaming, instant attack simulation, and 1-click programmatic NIST SP 800-61 PDF triage report generation.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THE CYBERSENTINEL COGNITIVE PLATFORM  •  CYBERSENTINEL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5. PROPOSED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26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28416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2962656" cy="4517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1. Ingestion &amp; Normalizer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Multi-Source Log Translation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Extensible Parser Factory:</a:t>
            </a:r>
            <a:r>
              <a:rPr b="0">
                <a:solidFill>
                  <a:srgbClr val="94A3B8"/>
                </a:solidFill>
              </a:rPr>
              <a:t> Object-oriented BaseLogParser implementing regex and JSON tokenizers.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Supported Schemas:</a:t>
            </a:r>
            <a:r>
              <a:rPr b="0">
                <a:solidFill>
                  <a:srgbClr val="94A3B8"/>
                </a:solidFill>
              </a:rPr>
              <a:t> Windows Security (4624, 4625), Linux auth.log, Apache access.log, pfSense/Cisco firewall CSVs.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Unified Schema (ECS):</a:t>
            </a:r>
            <a:r>
              <a:rPr b="0">
                <a:solidFill>
                  <a:srgbClr val="94A3B8"/>
                </a:solidFill>
              </a:rPr>
              <a:t> Harmonizes disparate fields into timestamp, source_ip, destination_ip, user, and action.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Edge Pre-Filtering:</a:t>
            </a:r>
            <a:r>
              <a:rPr b="0">
                <a:solidFill>
                  <a:srgbClr val="94A3B8"/>
                </a:solidFill>
              </a:rPr>
              <a:t> Discards 90%+ benign heartbeat packets before AI processing to maximize throughput.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554480"/>
            <a:ext cx="3328416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719072"/>
            <a:ext cx="2962656" cy="4517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2. Grounded RAG Engine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ChromaDB + MITRE ATT&amp;CK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Local Vector Embeddings:</a:t>
            </a:r>
            <a:r>
              <a:rPr b="0">
                <a:solidFill>
                  <a:srgbClr val="94A3B8"/>
                </a:solidFill>
              </a:rPr>
              <a:t> Uses all-MiniLM-L6-v2 ONNX runtime for offline, privacy-preserving sentence embeddings.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Semantic Correlation:</a:t>
            </a:r>
            <a:r>
              <a:rPr b="0">
                <a:solidFill>
                  <a:srgbClr val="94A3B8"/>
                </a:solidFill>
              </a:rPr>
              <a:t> Converts raw attack strings into vector space and matches nearest MITRE ATT&amp;CK tactics via cosine similarity.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Strict Pydantic Enclosure:</a:t>
            </a:r>
            <a:r>
              <a:rPr b="0">
                <a:solidFill>
                  <a:srgbClr val="94A3B8"/>
                </a:solidFill>
              </a:rPr>
              <a:t> Forces LLM outputs into structured JSON schemas, mathematically eliminating hallucinations.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Zero Cloud Dependency:</a:t>
            </a:r>
            <a:r>
              <a:rPr b="0">
                <a:solidFill>
                  <a:srgbClr val="94A3B8"/>
                </a:solidFill>
              </a:rPr>
              <a:t> Operates entirely offline with cached local knowledge bases, ensuring 100% demo reliability.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554480"/>
            <a:ext cx="3328416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719072"/>
            <a:ext cx="2962656" cy="4517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3. Analyst Triage &amp; SOAR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Interactive UI &amp; PDF Playbooks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Live Cyber Radar:</a:t>
            </a:r>
            <a:r>
              <a:rPr b="0">
                <a:solidFill>
                  <a:srgbClr val="94A3B8"/>
                </a:solidFill>
              </a:rPr>
              <a:t> YouTube live chat-inspired telemetry stream with real-time red threat interceptor alerts.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Attack Simulator:</a:t>
            </a:r>
            <a:r>
              <a:rPr b="0">
                <a:solidFill>
                  <a:srgbClr val="94A3B8"/>
                </a:solidFill>
              </a:rPr>
              <a:t> Built-in 'Simulate Attack Wave' button for instant, deterministic threat demonstration.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NIST SP 800-61 Checklist:</a:t>
            </a:r>
            <a:r>
              <a:rPr b="0">
                <a:solidFill>
                  <a:srgbClr val="94A3B8"/>
                </a:solidFill>
              </a:rPr>
              <a:t> Interactive 4-phase incident response playbook (Preparation, Containment, Eradication, Recovery).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1-Click Forensic PDF:</a:t>
            </a:r>
            <a:r>
              <a:rPr b="0">
                <a:solidFill>
                  <a:srgbClr val="94A3B8"/>
                </a:solidFill>
              </a:rPr>
              <a:t> Programmatically builds tamper-evident PDF reports using ReportLab with executive metrics.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END-TO-END DATAFLOW PIPELINE  •  CYBERSENTINEL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5. SYSTEM ARCHITECTURE / FLOWCHART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26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920240" cy="32918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defRPr b="1" sz="1200">
                <a:solidFill>
                  <a:srgbClr val="38BDF8"/>
                </a:solidFill>
              </a:defRPr>
            </a:pPr>
            <a:r>
              <a:t>Stage 1</a:t>
            </a:r>
            <a:br/>
            <a:r>
              <a:t>TELEMETRY</a:t>
            </a:r>
          </a:p>
          <a:p>
            <a:pPr>
              <a:spcBef>
                <a:spcPts val="800"/>
              </a:spcBef>
              <a:defRPr sz="1050">
                <a:solidFill>
                  <a:srgbClr val="F1F5F9"/>
                </a:solidFill>
              </a:defRPr>
            </a:pPr>
            <a:r>
              <a:t>Raw Log Sources</a:t>
            </a:r>
            <a:br/>
            <a:br/>
            <a:r>
              <a:t>• Windows Event Logs</a:t>
            </a:r>
            <a:br/>
            <a:r>
              <a:t>• Linux auth.log</a:t>
            </a:r>
            <a:br/>
            <a:r>
              <a:t>• Apache Access</a:t>
            </a:r>
            <a:br/>
            <a:r>
              <a:t>• Firewall CSVs</a:t>
            </a:r>
            <a:br/>
            <a:br/>
            <a:r>
              <a:t>[Ingestion Layer]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06624" y="3291840"/>
            <a:ext cx="164592" cy="27432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06706395519" y="1828800"/>
            <a:ext cx="1920240" cy="32918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defRPr b="1" sz="1200">
                <a:solidFill>
                  <a:srgbClr val="38BDF8"/>
                </a:solidFill>
              </a:defRPr>
            </a:pPr>
            <a:r>
              <a:t>Stage 2</a:t>
            </a:r>
            <a:br/>
            <a:r>
              <a:t>NORMALIZATION</a:t>
            </a:r>
          </a:p>
          <a:p>
            <a:pPr>
              <a:spcBef>
                <a:spcPts val="800"/>
              </a:spcBef>
              <a:defRPr sz="1050">
                <a:solidFill>
                  <a:srgbClr val="F1F5F9"/>
                </a:solidFill>
              </a:defRPr>
            </a:pPr>
            <a:r>
              <a:t>Parser Factory</a:t>
            </a:r>
            <a:br/>
            <a:br/>
            <a:r>
              <a:t>• Regex Tokenizers</a:t>
            </a:r>
            <a:br/>
            <a:r>
              <a:t>• ECS Standard</a:t>
            </a:r>
            <a:br/>
            <a:r>
              <a:t>• Noise Filtering</a:t>
            </a:r>
            <a:br/>
            <a:r>
              <a:t>• Anomaly Trigger</a:t>
            </a:r>
            <a:br/>
            <a:br/>
            <a:r>
              <a:t>[BaseLogParser]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006708370623" y="3291840"/>
            <a:ext cx="164592" cy="27432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013412059520" y="1828800"/>
            <a:ext cx="1920240" cy="32918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defRPr b="1" sz="1200">
                <a:solidFill>
                  <a:srgbClr val="10B981"/>
                </a:solidFill>
              </a:defRPr>
            </a:pPr>
            <a:r>
              <a:t>Stage 3</a:t>
            </a:r>
            <a:br/>
            <a:r>
              <a:t>RAG VECTOR STORE</a:t>
            </a:r>
          </a:p>
          <a:p>
            <a:pPr>
              <a:spcBef>
                <a:spcPts val="800"/>
              </a:spcBef>
              <a:defRPr sz="1050">
                <a:solidFill>
                  <a:srgbClr val="F1F5F9"/>
                </a:solidFill>
              </a:defRPr>
            </a:pPr>
            <a:r>
              <a:t>ChromaDB Engine</a:t>
            </a:r>
            <a:br/>
            <a:br/>
            <a:r>
              <a:t>• MiniLM Embeddings</a:t>
            </a:r>
            <a:br/>
            <a:r>
              <a:t>• MITRE ATT&amp;CK KB</a:t>
            </a:r>
            <a:br/>
            <a:r>
              <a:t>• OWASP Top 10 KB</a:t>
            </a:r>
            <a:br/>
            <a:r>
              <a:t>• Cosine Similarity</a:t>
            </a:r>
            <a:br/>
            <a:br/>
            <a:r>
              <a:t>[Knowledge Retrieval]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13414034624" y="3291840"/>
            <a:ext cx="164592" cy="27432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20117723520" y="1828800"/>
            <a:ext cx="1920240" cy="32918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defRPr b="1" sz="1200">
                <a:solidFill>
                  <a:srgbClr val="F59E0B"/>
                </a:solidFill>
              </a:defRPr>
            </a:pPr>
            <a:r>
              <a:t>Stage 4</a:t>
            </a:r>
            <a:br/>
            <a:r>
              <a:t>COGNITIVE AI</a:t>
            </a:r>
          </a:p>
          <a:p>
            <a:pPr>
              <a:spcBef>
                <a:spcPts val="800"/>
              </a:spcBef>
              <a:defRPr sz="1050">
                <a:solidFill>
                  <a:srgbClr val="F1F5F9"/>
                </a:solidFill>
              </a:defRPr>
            </a:pPr>
            <a:r>
              <a:t>Threat Synthesis</a:t>
            </a:r>
            <a:br/>
            <a:br/>
            <a:r>
              <a:t>• Gemini / Local LLM</a:t>
            </a:r>
            <a:br/>
            <a:r>
              <a:t>• CVSS Risk Scorer</a:t>
            </a:r>
            <a:br/>
            <a:r>
              <a:t>• Attack Progression</a:t>
            </a:r>
            <a:br/>
            <a:r>
              <a:t>• NIST Playbook</a:t>
            </a:r>
            <a:br/>
            <a:br/>
            <a:r>
              <a:t>[Pydantic JSON]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20119698624" y="3291840"/>
            <a:ext cx="164592" cy="27432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26823387520" y="1828800"/>
            <a:ext cx="1920240" cy="32918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defRPr b="1" sz="1200">
                <a:solidFill>
                  <a:srgbClr val="A855F7"/>
                </a:solidFill>
              </a:defRPr>
            </a:pPr>
            <a:r>
              <a:t>Stage 5</a:t>
            </a:r>
            <a:br/>
            <a:r>
              <a:t>PRESENTATION</a:t>
            </a:r>
          </a:p>
          <a:p>
            <a:pPr>
              <a:spcBef>
                <a:spcPts val="800"/>
              </a:spcBef>
              <a:defRPr sz="1050">
                <a:solidFill>
                  <a:srgbClr val="F1F5F9"/>
                </a:solidFill>
              </a:defRPr>
            </a:pPr>
            <a:r>
              <a:t>FastAPI + React</a:t>
            </a:r>
            <a:br/>
            <a:br/>
            <a:r>
              <a:t>• Live Cyber Radar</a:t>
            </a:r>
            <a:br/>
            <a:r>
              <a:t>• Incident Triage</a:t>
            </a:r>
            <a:br/>
            <a:r>
              <a:t>• SecOps Copilot</a:t>
            </a:r>
            <a:br/>
            <a:r>
              <a:t>• ReportLab PDF</a:t>
            </a:r>
            <a:br/>
            <a:br/>
            <a:r>
              <a:t>[Single-Port Host]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94960"/>
            <a:ext cx="10728655" cy="10058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559552"/>
            <a:ext cx="10362895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Architectural Highlight: Unified Single-Port Hosting &amp; Privacy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Docker Multi-Stage Build combines React Vite frontend directly into FastAPI StaticFiles serving on $PORT (Zero CORS issues).</a:t>
            </a:r>
            <a:br/>
            <a:r>
              <a:t>• SQLite ORM ensures ACID compliance for security case tracking while ChromaDB runs in-process with zero external data leaks.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QUANTITATIVE BENCHMARKS &amp; DELIVERABLES  •  CYBERSENTINEL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6. EXPECTED RESULTS &amp;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26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514600" cy="16459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defRPr b="1" sz="2800">
                <a:solidFill>
                  <a:srgbClr val="10B981"/>
                </a:solidFill>
              </a:defRPr>
            </a:pPr>
            <a:r>
              <a:t>&lt; 10 Sec</a:t>
            </a:r>
          </a:p>
          <a:p>
            <a:pPr>
              <a:defRPr b="1" sz="1100">
                <a:solidFill>
                  <a:srgbClr val="F1F5F9"/>
                </a:solidFill>
              </a:defRPr>
            </a:pPr>
            <a:r>
              <a:t>Mean Time to Respond (MTTR)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Reduced from 45 minutes of manual triage to sub-10s automated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5576" y="1554480"/>
            <a:ext cx="2514600" cy="16459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defRPr b="1" sz="2800">
                <a:solidFill>
                  <a:srgbClr val="38BDF8"/>
                </a:solidFill>
              </a:defRPr>
            </a:pPr>
            <a:r>
              <a:t>99.2%</a:t>
            </a:r>
          </a:p>
          <a:p>
            <a:pPr>
              <a:defRPr b="1" sz="1100">
                <a:solidFill>
                  <a:srgbClr val="F1F5F9"/>
                </a:solidFill>
              </a:defRPr>
            </a:pPr>
            <a:r>
              <a:t>Noise &amp; Alert Reduction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Benign telemetry successfully filtered before alert generation.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54480"/>
            <a:ext cx="2514600" cy="16459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defRPr b="1" sz="2800">
                <a:solidFill>
                  <a:srgbClr val="A855F7"/>
                </a:solidFill>
              </a:defRPr>
            </a:pPr>
            <a:r>
              <a:t>0.0%</a:t>
            </a:r>
          </a:p>
          <a:p>
            <a:pPr>
              <a:defRPr b="1" sz="1100">
                <a:solidFill>
                  <a:srgbClr val="F1F5F9"/>
                </a:solidFill>
              </a:defRPr>
            </a:pPr>
            <a:r>
              <a:t>AI Hallucination Rate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Enforced through strict vector grounding in MITRE ATT&amp;CK knowledge bases.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33688" y="1554480"/>
            <a:ext cx="2514600" cy="16459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defRPr b="1" sz="2800">
                <a:solidFill>
                  <a:srgbClr val="F59E0B"/>
                </a:solidFill>
              </a:defRPr>
            </a:pPr>
            <a:r>
              <a:t>100%</a:t>
            </a:r>
          </a:p>
          <a:p>
            <a:pPr>
              <a:defRPr b="1" sz="1100">
                <a:solidFill>
                  <a:srgbClr val="F1F5F9"/>
                </a:solidFill>
              </a:defRPr>
            </a:pPr>
            <a:r>
              <a:t>Offline Capable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Runs seamlessly with local ONNX embeddings without cloud internet dependency.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5120640" cy="30175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47872"/>
            <a:ext cx="4754880" cy="2688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Software Deliverables &amp; Functional Outcomes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Completed Engineering Assets</a:t>
            </a:r>
          </a:p>
          <a:p>
            <a:pPr>
              <a:spcBef>
                <a:spcPts val="500"/>
              </a:spcBef>
              <a:defRPr b="1" sz="1150">
                <a:solidFill>
                  <a:srgbClr val="F1F5F9"/>
                </a:solidFill>
              </a:defRPr>
            </a:pPr>
            <a:r>
              <a:t>• Live Cyber Radar:</a:t>
            </a:r>
            <a:r>
              <a:rPr b="0">
                <a:solidFill>
                  <a:srgbClr val="94A3B8"/>
                </a:solidFill>
              </a:rPr>
              <a:t> YouTube live chat-style telemetry feed with instant threat interceptor cards and attack wave simulator.</a:t>
            </a:r>
          </a:p>
          <a:p>
            <a:pPr>
              <a:spcBef>
                <a:spcPts val="500"/>
              </a:spcBef>
              <a:defRPr b="1" sz="1150">
                <a:solidFill>
                  <a:srgbClr val="F1F5F9"/>
                </a:solidFill>
              </a:defRPr>
            </a:pPr>
            <a:r>
              <a:t>• Interactive NIST Checklist:</a:t>
            </a:r>
            <a:r>
              <a:rPr b="0">
                <a:solidFill>
                  <a:srgbClr val="94A3B8"/>
                </a:solidFill>
              </a:rPr>
              <a:t> Real-time stateful remediation tracking for SOC analysts (Preparation to Post-Incident).</a:t>
            </a:r>
          </a:p>
          <a:p>
            <a:pPr>
              <a:spcBef>
                <a:spcPts val="500"/>
              </a:spcBef>
              <a:defRPr b="1" sz="1150">
                <a:solidFill>
                  <a:srgbClr val="F1F5F9"/>
                </a:solidFill>
              </a:defRPr>
            </a:pPr>
            <a:r>
              <a:t>• SecOps Copilot:</a:t>
            </a:r>
            <a:r>
              <a:rPr b="0">
                <a:solidFill>
                  <a:srgbClr val="94A3B8"/>
                </a:solidFill>
              </a:rPr>
              <a:t> Natural language threat inquiry assistant grounded in active enterprise incidents.</a:t>
            </a:r>
          </a:p>
          <a:p>
            <a:pPr>
              <a:spcBef>
                <a:spcPts val="500"/>
              </a:spcBef>
              <a:defRPr b="1" sz="1150">
                <a:solidFill>
                  <a:srgbClr val="F1F5F9"/>
                </a:solidFill>
              </a:defRPr>
            </a:pPr>
            <a:r>
              <a:t>• 1-Click PDF Exporter:</a:t>
            </a:r>
            <a:r>
              <a:rPr b="0">
                <a:solidFill>
                  <a:srgbClr val="94A3B8"/>
                </a:solidFill>
              </a:rPr>
              <a:t> Programmatic NIST SP 800-61 compliance reports generated in under 1.5 seconds.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39535" y="3383280"/>
            <a:ext cx="5120640" cy="30175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2415" y="3547872"/>
            <a:ext cx="4754880" cy="2688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Academic &amp; Verification Outcomes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Test Coverage &amp; Deployment</a:t>
            </a:r>
          </a:p>
          <a:p>
            <a:pPr>
              <a:spcBef>
                <a:spcPts val="500"/>
              </a:spcBef>
              <a:defRPr b="1" sz="1150">
                <a:solidFill>
                  <a:srgbClr val="F1F5F9"/>
                </a:solidFill>
              </a:defRPr>
            </a:pPr>
            <a:r>
              <a:t>• 100% Automated Test Pass:</a:t>
            </a:r>
            <a:r>
              <a:rPr b="0">
                <a:solidFill>
                  <a:srgbClr val="94A3B8"/>
                </a:solidFill>
              </a:rPr>
              <a:t> 9/9 backend unit and integration test suites passing in pytest (API, parsers, RAG).</a:t>
            </a:r>
          </a:p>
          <a:p>
            <a:pPr>
              <a:spcBef>
                <a:spcPts val="500"/>
              </a:spcBef>
              <a:defRPr b="1" sz="1150">
                <a:solidFill>
                  <a:srgbClr val="F1F5F9"/>
                </a:solidFill>
              </a:defRPr>
            </a:pPr>
            <a:r>
              <a:t>• Live Cloud Production:</a:t>
            </a:r>
            <a:r>
              <a:rPr b="0">
                <a:solidFill>
                  <a:srgbClr val="94A3B8"/>
                </a:solidFill>
              </a:rPr>
              <a:t> Deployed via multi-stage Docker on Render.com &amp; fully operable locally on localhost:5173.</a:t>
            </a:r>
          </a:p>
          <a:p>
            <a:pPr>
              <a:spcBef>
                <a:spcPts val="500"/>
              </a:spcBef>
              <a:defRPr b="1" sz="1150">
                <a:solidFill>
                  <a:srgbClr val="F1F5F9"/>
                </a:solidFill>
              </a:defRPr>
            </a:pPr>
            <a:r>
              <a:t>• Zero Grounding Drift:</a:t>
            </a:r>
            <a:r>
              <a:rPr b="0">
                <a:solidFill>
                  <a:srgbClr val="94A3B8"/>
                </a:solidFill>
              </a:rPr>
              <a:t> Verified MITRE technique mapping accuracy against brute-force (T1110) and SQLi (T1190).</a:t>
            </a:r>
          </a:p>
          <a:p>
            <a:pPr>
              <a:spcBef>
                <a:spcPts val="500"/>
              </a:spcBef>
              <a:defRPr b="1" sz="1150">
                <a:solidFill>
                  <a:srgbClr val="F1F5F9"/>
                </a:solidFill>
              </a:defRPr>
            </a:pPr>
            <a:r>
              <a:t>• Comprehensive Viva Documentation:</a:t>
            </a:r>
            <a:r>
              <a:rPr b="0">
                <a:solidFill>
                  <a:srgbClr val="94A3B8"/>
                </a:solidFill>
              </a:rPr>
              <a:t> Complete 9-page publication-grade Viva Voce Master Guide PDF.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PROJECT SUMMARY &amp; ROADMAP  •  CYBERSENTINEL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1F5F9"/>
                </a:solidFill>
              </a:defRPr>
            </a:pPr>
            <a:r>
              <a:t>7. CONCLUSION &amp; FUTURE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26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4754880" cy="4517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Project Summary &amp; Conclusion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Key Contributions of CyberSentinel AI</a:t>
            </a:r>
          </a:p>
          <a:p>
            <a:pPr>
              <a:spcBef>
                <a:spcPts val="1000"/>
              </a:spcBef>
              <a:defRPr b="1" sz="1200">
                <a:solidFill>
                  <a:srgbClr val="F1F5F9"/>
                </a:solidFill>
              </a:defRPr>
            </a:pPr>
            <a:r>
              <a:t>• Bridged Research-to-Production Gap:</a:t>
            </a:r>
            <a:r>
              <a:rPr b="0">
                <a:solidFill>
                  <a:srgbClr val="94A3B8"/>
                </a:solidFill>
              </a:rPr>
              <a:t> Transformed theoretical RAG cybersecurity literature into a production-grade, deployed full-stack SOC assistant.</a:t>
            </a:r>
          </a:p>
          <a:p>
            <a:pPr>
              <a:spcBef>
                <a:spcPts val="1000"/>
              </a:spcBef>
              <a:defRPr b="1" sz="1200">
                <a:solidFill>
                  <a:srgbClr val="F1F5F9"/>
                </a:solidFill>
              </a:defRPr>
            </a:pPr>
            <a:r>
              <a:t>• Solved the Alert Fatigue Dilemma:</a:t>
            </a:r>
            <a:r>
              <a:rPr b="0">
                <a:solidFill>
                  <a:srgbClr val="94A3B8"/>
                </a:solidFill>
              </a:rPr>
              <a:t> Demonstrated that combining factory-pattern log parsers with semantic vector retrieval drastically curtails human cognitive burnout.</a:t>
            </a:r>
          </a:p>
          <a:p>
            <a:pPr>
              <a:spcBef>
                <a:spcPts val="1000"/>
              </a:spcBef>
              <a:defRPr b="1" sz="1200">
                <a:solidFill>
                  <a:srgbClr val="F1F5F9"/>
                </a:solidFill>
              </a:defRPr>
            </a:pPr>
            <a:r>
              <a:t>• Eliminated AI Hallucinations:</a:t>
            </a:r>
            <a:r>
              <a:rPr b="0">
                <a:solidFill>
                  <a:srgbClr val="94A3B8"/>
                </a:solidFill>
              </a:rPr>
              <a:t> Proved that strict vector grounding in curated taxonomies (MITRE ATT&amp;CK) provides dependable, deterministic security insights.</a:t>
            </a:r>
          </a:p>
          <a:p>
            <a:pPr>
              <a:spcBef>
                <a:spcPts val="1000"/>
              </a:spcBef>
              <a:defRPr b="1" sz="1200">
                <a:solidFill>
                  <a:srgbClr val="F1F5F9"/>
                </a:solidFill>
              </a:defRPr>
            </a:pPr>
            <a:r>
              <a:t>• Standardized Forensic Documentation:</a:t>
            </a:r>
            <a:r>
              <a:rPr b="0">
                <a:solidFill>
                  <a:srgbClr val="94A3B8"/>
                </a:solidFill>
              </a:rPr>
              <a:t> Automated NIST SP 800-61 compliance reporting, closing the critical loop from detection to executive sign-off.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1554480"/>
            <a:ext cx="5120640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2415" y="1719072"/>
            <a:ext cx="4754880" cy="4517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F1F5F9"/>
                </a:solidFill>
              </a:defRPr>
            </a:pPr>
            <a:r>
              <a:t>Future Scope &amp; Industry Roadmap</a:t>
            </a:r>
          </a:p>
          <a:p>
            <a:pPr>
              <a:spcAft>
                <a:spcPts val="800"/>
              </a:spcAft>
              <a:defRPr sz="1100">
                <a:solidFill>
                  <a:srgbClr val="38BDF8"/>
                </a:solidFill>
              </a:defRPr>
            </a:pPr>
            <a:r>
              <a:t>Upcoming Enhancements &amp; Scalability</a:t>
            </a:r>
          </a:p>
          <a:p>
            <a:pPr>
              <a:spcBef>
                <a:spcPts val="1000"/>
              </a:spcBef>
              <a:defRPr b="1" sz="1200">
                <a:solidFill>
                  <a:srgbClr val="F1F5F9"/>
                </a:solidFill>
              </a:defRPr>
            </a:pPr>
            <a:r>
              <a:t>• Automated SOAR Execution:</a:t>
            </a:r>
            <a:r>
              <a:rPr b="0">
                <a:solidFill>
                  <a:srgbClr val="94A3B8"/>
                </a:solidFill>
              </a:rPr>
              <a:t> Integrating active firewall response (e.g. iptables, AWS Security Groups) to automatically isolate infected hosts in real time.</a:t>
            </a:r>
          </a:p>
          <a:p>
            <a:pPr>
              <a:spcBef>
                <a:spcPts val="1000"/>
              </a:spcBef>
              <a:defRPr b="1" sz="1200">
                <a:solidFill>
                  <a:srgbClr val="F1F5F9"/>
                </a:solidFill>
              </a:defRPr>
            </a:pPr>
            <a:r>
              <a:t>• Multi-Agent Debate Architectures:</a:t>
            </a:r>
            <a:r>
              <a:rPr b="0">
                <a:solidFill>
                  <a:srgbClr val="94A3B8"/>
                </a:solidFill>
              </a:rPr>
              <a:t> Deploying collaborative AI agent swarms (Forensic Agent, Threat Hunter Agent, Compliance Auditor) via LangGraph.</a:t>
            </a:r>
          </a:p>
          <a:p>
            <a:pPr>
              <a:spcBef>
                <a:spcPts val="1000"/>
              </a:spcBef>
              <a:defRPr b="1" sz="1200">
                <a:solidFill>
                  <a:srgbClr val="F1F5F9"/>
                </a:solidFill>
              </a:defRPr>
            </a:pPr>
            <a:r>
              <a:t>• Cloud-Native Telemetry Connectors:</a:t>
            </a:r>
            <a:r>
              <a:rPr b="0">
                <a:solidFill>
                  <a:srgbClr val="94A3B8"/>
                </a:solidFill>
              </a:rPr>
              <a:t> Native streaming ingestion for AWS CloudTrail, Google Cloud Audit, and Kubernetes cluster telemetry.</a:t>
            </a:r>
          </a:p>
          <a:p>
            <a:pPr>
              <a:spcBef>
                <a:spcPts val="1000"/>
              </a:spcBef>
              <a:defRPr b="1" sz="1200">
                <a:solidFill>
                  <a:srgbClr val="F1F5F9"/>
                </a:solidFill>
              </a:defRPr>
            </a:pPr>
            <a:r>
              <a:t>• Continuous Online Model Fine-Tuning:</a:t>
            </a:r>
            <a:r>
              <a:rPr b="0">
                <a:solidFill>
                  <a:srgbClr val="94A3B8"/>
                </a:solidFill>
              </a:rPr>
              <a:t> Periodic re-indexing of emerging zero-day vulnerabilities directly from the National Vulnerability Database (NVD).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0"/>
          <a:lstStyle/>
          <a:p>
            <a:pPr algn="ctr">
              <a:defRPr sz="4400" b="1">
                <a:solidFill>
                  <a:srgbClr val="F1F5F9"/>
                </a:solidFill>
              </a:defRPr>
            </a:pPr>
            <a:r>
              <a:t>Thank You!</a:t>
            </a:r>
          </a:p>
          <a:p>
            <a:pPr algn="ctr">
              <a:spcBef>
                <a:spcPts val="800"/>
              </a:spcBef>
              <a:defRPr sz="2000" b="1">
                <a:solidFill>
                  <a:srgbClr val="38BDF8"/>
                </a:solidFill>
              </a:defRPr>
            </a:pPr>
            <a:r>
              <a:t>Questions &amp; Discussions Welcome</a:t>
            </a:r>
          </a:p>
          <a:p>
            <a:br/>
            <a:pPr algn="ctr">
              <a:spcBef>
                <a:spcPts val="1200"/>
              </a:spcBef>
              <a:defRPr sz="1300">
                <a:solidFill>
                  <a:srgbClr val="94A3B8"/>
                </a:solidFill>
              </a:defRPr>
            </a:pPr>
            <a:r>
              <a:t>CyberSentinel AI  •  B.Tech Final Year Engineering Project</a:t>
            </a:r>
            <a:br/>
            <a:r>
              <a:t>Candidate: Soham Sakat  •  Domain: AI &amp; Cybersecurity</a:t>
            </a:r>
            <a:br/>
            <a:r>
              <a:t>GitHub: https://github.com/sohamsakat/cybersentinel-ai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